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21"/>
  </p:notesMasterIdLst>
  <p:handoutMasterIdLst>
    <p:handoutMasterId r:id="rId22"/>
  </p:handoutMasterIdLst>
  <p:sldIdLst>
    <p:sldId id="1044" r:id="rId2"/>
    <p:sldId id="1027" r:id="rId3"/>
    <p:sldId id="1012" r:id="rId4"/>
    <p:sldId id="1013" r:id="rId5"/>
    <p:sldId id="1042" r:id="rId6"/>
    <p:sldId id="1014" r:id="rId7"/>
    <p:sldId id="1015" r:id="rId8"/>
    <p:sldId id="1034" r:id="rId9"/>
    <p:sldId id="1036" r:id="rId10"/>
    <p:sldId id="1037" r:id="rId11"/>
    <p:sldId id="1043" r:id="rId12"/>
    <p:sldId id="1011" r:id="rId13"/>
    <p:sldId id="1026" r:id="rId14"/>
    <p:sldId id="1033" r:id="rId15"/>
    <p:sldId id="1038" r:id="rId16"/>
    <p:sldId id="1039" r:id="rId17"/>
    <p:sldId id="1040" r:id="rId18"/>
    <p:sldId id="1041" r:id="rId19"/>
    <p:sldId id="1025" r:id="rId2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CA663-1309-4ECF-9CD4-C8F48ECFF935}" v="48" dt="2026-09-09T09:42:55.997"/>
    <p1510:client id="{575C8504-258C-4612-97B9-120B5DE7B0D2}" v="3" dt="2026-09-09T10:42:31.757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mAP@0.5" TargetMode="Externa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/>
        </p:nvSpPr>
        <p:spPr>
          <a:xfrm>
            <a:off x="1100327" y="2030841"/>
            <a:ext cx="9262872" cy="3976767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sz="2500">
                <a:latin typeface="Times New Roman"/>
              </a:rPr>
              <a:t>Team Members:</a:t>
            </a:r>
          </a:p>
          <a:p>
            <a:pPr marL="457200" algn="just">
              <a:defRPr/>
            </a:pPr>
          </a:p>
          <a:p>
            <a:pPr marL="457200" algn="l">
              <a:defRPr/>
            </a:pPr>
          </a:p>
          <a:p>
            <a:pPr lvl="1" algn="just">
              <a:defRPr/>
            </a:pPr>
          </a:p>
          <a:p>
            <a:pPr lvl="1" algn="just">
              <a:defRPr/>
            </a:pPr>
          </a:p>
          <a:p>
            <a:pPr lvl="1" algn="just">
              <a:defRPr/>
            </a:pPr>
            <a:endParaRPr lang="en-IN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</a:p>
          <a:p>
            <a:pPr algn="just">
              <a:defRPr/>
            </a:pP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sz="2500">
                <a:latin typeface="Times New Roman"/>
              </a:rPr>
              <a:t>1. LIKITH S - 2411021061437</a:t>
            </a:r>
          </a:p>
          <a:p>
            <a:r>
              <a:rPr sz="2500">
                <a:latin typeface="Times New Roman"/>
              </a:rPr>
              <a:t>2. VINODKUMAR - 2411021061425</a:t>
            </a:r>
          </a:p>
          <a:p>
            <a:r>
              <a:rPr sz="2500">
                <a:latin typeface="Times New Roman"/>
              </a:rPr>
              <a:t>3. NIKHIL KUMAR V - 2411021061427</a:t>
            </a:r>
          </a:p>
          <a:p>
            <a:r>
              <a:rPr sz="2500">
                <a:latin typeface="Times New Roman"/>
              </a:rPr>
              <a:t>4. KALYAN KUMAR T - 2411021061421</a:t>
            </a:r>
          </a:p>
          <a:p/>
          <a:p>
            <a:r>
              <a:rPr sz="2500">
                <a:latin typeface="Times New Roman"/>
              </a:rPr>
              <a:t>Name of the Mentor:</a:t>
            </a:r>
          </a:p>
          <a:p>
            <a:r>
              <a:rPr sz="2500">
                <a:latin typeface="Times New Roman"/>
              </a:rPr>
              <a:t>Dr. Rashmi Mothkur (Associate Professor, ASAC CSE)</a:t>
            </a:r>
          </a:p>
          <a:p>
            <a:r>
              <a:rPr sz="2500">
                <a:latin typeface="Times New Roman"/>
              </a:rPr>
              <a:t>E1CSA313/5CS1990 Design Project - 1</a:t>
            </a:r>
          </a:p>
        </p:txBody>
      </p:sp>
      <p:sp>
        <p:nvSpPr>
          <p:cNvPr id="5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2051969" y="996696"/>
            <a:ext cx="7768687" cy="84124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rmAutofit fontScale="70000" lnSpcReduction="20000"/>
          </a:bodyPr>
          <a:lstStyle>
            <a:defPPr>
              <a:defRPr lang="en-US"/>
            </a:defPPr>
            <a:lvl1pPr mar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600" b="1">
                <a:latin typeface="Times New Roman"/>
              </a:rPr>
              <a:t>AI-Powered Smart Campus Resource Management System</a:t>
            </a:r>
          </a:p>
          <a:p>
            <a:pPr fontAlgn="auto">
              <a:spcAft>
                <a:spcPts val="0"/>
              </a:spcAft>
            </a:pPr>
            <a:endParaRPr lang="en-IN" dirty="0">
              <a:solidFill>
                <a:schemeClr val="tx1"/>
              </a:solidFill>
            </a:endParaRPr>
          </a:p>
          <a:p>
            <a:r>
              <a:rPr sz="3600" b="1">
                <a:latin typeface="Times New Roman"/>
              </a:rPr>
              <a:t>(Multi-Modal Telemetry, Predictive AI &amp; Automated Co-Optimization)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471D20-F6B2-348C-6B60-AFE0319ECD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0449" y="271163"/>
            <a:ext cx="3125501" cy="63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39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56789"/>
            <a:ext cx="6180944" cy="563562"/>
          </a:xfrm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500" b="1">
                <a:solidFill>
                  <a:srgbClr val="142337"/>
                </a:solidFill>
                <a:latin typeface="Aptos"/>
              </a:rPr>
              <a:t>Agenda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BD98C-77FA-F4F3-D8D1-E351DADE67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75" y="297702"/>
            <a:ext cx="3210257" cy="56356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1143000"/>
            <a:ext cx="5074920" cy="749808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01  Introduction &amp; motivation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94560"/>
            <a:ext cx="5074920" cy="749808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02  Literature review, observations &amp; limitations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46120"/>
            <a:ext cx="5074920" cy="749808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03  Problem statement, scope &amp; proposed 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297679"/>
            <a:ext cx="5074920" cy="749808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04  Objectives, methodology &amp; system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143000"/>
            <a:ext cx="5074920" cy="749808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05  Hardware, software &amp; proposed modules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2194560"/>
            <a:ext cx="5074920" cy="749808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06  Novelty, experimentation &amp; evaluation 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3246120"/>
            <a:ext cx="5074920" cy="749808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07  Conclusion, future directions &amp; 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528816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500" b="1">
                <a:solidFill>
                  <a:srgbClr val="142337"/>
                </a:solidFill>
                <a:latin typeface="Aptos"/>
              </a:rPr>
              <a:t>Introduction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46E4DE-BCE0-C9B2-CDC2-1E28119D86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6" y="134859"/>
            <a:ext cx="3184992" cy="56356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051560"/>
            <a:ext cx="3383280" cy="384048"/>
          </a:xfrm>
          <a:prstGeom prst="roundRect">
            <a:avLst/>
          </a:prstGeom>
          <a:solidFill>
            <a:srgbClr val="BE4343"/>
          </a:solidFill>
          <a:ln w="1524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74920" cy="34747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rPr>
                <a:latin typeface="Aptos"/>
              </a:rPr>
              <a:t>• Campus energy wastage reaches 28.4%–35.2% due to continuous HVAC operations in vacant lecture halls (Chintan Block: 14,200 kWh/day peak).</a:t>
            </a:r>
          </a:p>
          <a:p>
            <a:pPr>
              <a:spcAft>
                <a:spcPts val="400"/>
              </a:spcAft>
              <a:defRPr sz="1700">
                <a:solidFill>
                  <a:srgbClr val="26303A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26303A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26303A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26303A"/>
                </a:solidFill>
                <a:latin typeface="Aptos"/>
              </a:defRPr>
            </a:pPr>
          </a:p>
          <a:p>
            <a:r>
              <a:rPr>
                <a:latin typeface="Aptos"/>
              </a:rPr>
              <a:t>• Manual water pump activation causes frequent overhead tank overflows, pump dry-runs, and 18.2% distribution losses (380,000 L/day campus load).</a:t>
            </a:r>
          </a:p>
          <a:p>
            <a:r>
              <a:rPr>
                <a:latin typeface="Aptos"/>
              </a:rPr>
              <a:t>• Static master timetables fail to track live student attendance fluctuations, resulting in a 38.6% spatial utilization variance across classrooms.</a:t>
            </a:r>
          </a:p>
          <a:p>
            <a:r>
              <a:rPr>
                <a:latin typeface="Aptos"/>
              </a:rPr>
              <a:t>• Campus utilities operate in disconnected, isolated administrative silos, preventing dynamic resource co-allocation.</a:t>
            </a:r>
          </a:p>
          <a:p>
            <a:r>
              <a:rPr>
                <a:latin typeface="Aptos"/>
              </a:rPr>
              <a:t>• Predictive AI and multi-modal edge telemetry convert raw campus resource usage into automated, closed-loop conservation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4663440" cy="384048"/>
          </a:xfrm>
          <a:prstGeom prst="roundRect">
            <a:avLst/>
          </a:prstGeom>
          <a:solidFill>
            <a:srgbClr val="20877D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PROJECT CONCEPT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17373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Campus Telemetry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55279" y="2286000"/>
            <a:ext cx="173736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3879" y="1828800"/>
            <a:ext cx="17373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Ingest &amp; Clean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921240" y="2286000"/>
            <a:ext cx="173736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149840" y="1828800"/>
            <a:ext cx="17373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Time-Series ML</a:t>
            </a:r>
          </a:p>
        </p:txBody>
      </p:sp>
      <p:cxnSp>
        <p:nvCxnSpPr>
          <p:cNvPr id="14" name="Connector 13"/>
          <p:cNvCxnSpPr>
            <a:cxnSpLocks/>
          </p:cNvCxnSpPr>
          <p:nvPr/>
        </p:nvCxnSpPr>
        <p:spPr>
          <a:xfrm flipV="1">
            <a:off x="11164824" y="2750820"/>
            <a:ext cx="0" cy="637032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40697" y="2930652"/>
            <a:ext cx="17373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Co-Optimization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934956" y="3358896"/>
            <a:ext cx="173736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83879" y="2902458"/>
            <a:ext cx="17373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Actuation /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974592"/>
            <a:ext cx="4389120" cy="141732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800" b="1">
                <a:solidFill>
                  <a:srgbClr val="142337"/>
                </a:solidFill>
                <a:latin typeface="Aptos"/>
              </a:rPr>
              <a:t>Target output</a:t>
            </a:r>
          </a:p>
          <a:p>
            <a:r>
              <a:rPr sz="1800" b="1">
                <a:solidFill>
                  <a:srgbClr val="142337"/>
                </a:solidFill>
                <a:latin typeface="Aptos"/>
              </a:rPr>
              <a:t>Load forecasts (R² &gt; 0.92) + Zero-clash room schedule + 18.4% energy curtailment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5650992"/>
            <a:ext cx="43891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0">
                <a:solidFill>
                  <a:srgbClr val="646E78"/>
                </a:solidFill>
                <a:latin typeface="Aptos"/>
              </a:rPr>
              <a:t>Designed for an extensible, campus-scale production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528816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03B4-DE94-29CC-B902-989E2083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E99C9E-6A0E-333F-5A49-29CB3CF6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500" b="1">
                <a:solidFill>
                  <a:srgbClr val="142337"/>
                </a:solidFill>
                <a:latin typeface="Times New Roman"/>
              </a:rPr>
              <a:t>Review of Literature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0844F9-8385-782E-0B9C-345478913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26166"/>
              </p:ext>
            </p:extLst>
          </p:nvPr>
        </p:nvGraphicFramePr>
        <p:xfrm>
          <a:off x="427703" y="1135626"/>
          <a:ext cx="11356929" cy="5036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latin typeface="Times New Roman"/>
                        </a:rPr>
                        <a:t>S.No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latin typeface="Times New Roman"/>
                        </a:rPr>
                        <a:t>Author Name, Journal, Publication Year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latin typeface="Times New Roman"/>
                        </a:rPr>
                        <a:t>Research/ Methodology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latin typeface="Times New Roman"/>
                        </a:rPr>
                        <a:t>Performance Metrics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latin typeface="Times New Roman"/>
                        </a:rPr>
                        <a:t>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latin typeface="Times New Roman"/>
                        </a:rPr>
                        <a:t>Disadvantages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1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Roda-Sanchez et al., IEEE/ACM, 2024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Smart Campus Digital Twin using FIWARE &amp; IoT Sensors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Latency: -34%, Delivery: 98.6%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Standardized open API; multi-protocol sensor clusters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Static 2D visual layer; lacks predictive load forecasting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2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latin typeface="Times New Roman"/>
                        </a:rPr>
                        <a:t>Pexyean et al., IEEE, 2024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AI-Driven IoT Simulation &amp; LSTM Campus Load Shifting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Accuracy: 91.2%, MAPE: 5.4%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Validates LSTM short-term institutional load forecasting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High compute overhead; lacks interactive user actuation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659148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3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SIT Research Team, IEEE Trans, 2024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Cognitive Digital Twin for Campus Microgrid &amp; BESS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latin typeface="Times New Roman"/>
                        </a:rPr>
                        <a:t>Peak demand: -16.2%, Cost: -12%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Formalized MPC dispatch algorithm for campus microgrid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Pure electrical focus; zero spatial occupancy context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51593235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4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Chen et al., Elsevier, 2024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latin typeface="Times New Roman"/>
                        </a:rPr>
                        <a:t>Dynamic Digital Twin for Campus Space Utilization &amp; BIM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Utilization: +28.4%, Conflicts: -96%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Precision- 92.44%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Integrates Revit models with campus timetable scheduling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latin typeface="Times New Roman"/>
                        </a:rPr>
                        <a:t>Static BIM modeling; lacks automated HVAC setback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7264466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71B53F3-540A-8282-CDE9-91C7F1D75B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018520" y="6528816"/>
            <a:ext cx="4572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7FE90-F997-EC31-86D9-3F121F3AC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923396"/>
              </p:ext>
            </p:extLst>
          </p:nvPr>
        </p:nvGraphicFramePr>
        <p:xfrm>
          <a:off x="406888" y="146377"/>
          <a:ext cx="11378224" cy="6565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156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9110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57038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43546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30672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4770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10788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latin typeface="Times New Roman"/>
                        </a:rPr>
                        <a:t>S.No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latin typeface="Times New Roman"/>
                        </a:rPr>
                        <a:t>Author Name, Journal, Publication Year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latin typeface="Times New Roman"/>
                        </a:rPr>
                        <a:t>Research/ Methodology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latin typeface="Times New Roman"/>
                        </a:rPr>
                        <a:t>Performance Metrics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latin typeface="Times New Roman"/>
                        </a:rPr>
                        <a:t>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latin typeface="Times New Roman"/>
                        </a:rPr>
                        <a:t>Disadvantages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108898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5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 b="0">
                          <a:latin typeface="Times New Roman"/>
                        </a:rPr>
                        <a:t>Testasecca et al., Elsevier,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latin typeface="Times New Roman"/>
                        </a:rPr>
                        <a:t>Building Energy Modeling (BEM) Digital Twin &amp; PMV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Savings: 19.1%, PMV: [-0.5, +0.5]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Precision-93%, Recall, F1-score-91%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Validates multi-zone thermal dynamics and schedule setbacks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Extensive sensor calibration; neglects water distribution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11797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6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 b="0">
                          <a:latin typeface="Times New Roman"/>
                        </a:rPr>
                        <a:t>Saraubon et al., IEEE,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AIoT Campus Network Architecture for Telemetry Streaming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Throughput: 1.2k msg/s, Latency: 95ms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latin typeface="Times New Roman"/>
                        </a:rPr>
                        <a:t>Lightweight MQTT broker; edge filtering cuts bandwidth 42%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latin typeface="Times New Roman"/>
                        </a:rPr>
                        <a:t>Lacks real-time vision-based spatial occupancy estimation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6591487"/>
                  </a:ext>
                </a:extLst>
              </a:tr>
              <a:tr h="172423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7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latin typeface="Times New Roman"/>
                        </a:rPr>
                        <a:t>Zhang et al., IEEE Trans Smart Grid, 2021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latin typeface="Times New Roman"/>
                        </a:rPr>
                        <a:t>Deep Reinforcement Learning for Multi-Zone HVAC Control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latin typeface="Times New Roman"/>
                        </a:rPr>
                        <a:t>Energy reduction: 16.8%, Violation &lt; 4.2%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latin typeface="Times New Roman"/>
                        </a:rPr>
                        <a:t>Dynamic setpoint adaptation; multi-zone thermal modeling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High training overhead; operates solely on energy silo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51593235"/>
                  </a:ext>
                </a:extLst>
              </a:tr>
              <a:tr h="13838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8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latin typeface="Times New Roman"/>
                        </a:rPr>
                        <a:t>Wang &amp; Tan, Elsevier Applied Energy, 2022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latin typeface="Times New Roman"/>
                        </a:rPr>
                        <a:t>Automated Room Scheduling &amp; Timetable Optimization via GA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latin typeface="Times New Roman"/>
                        </a:rPr>
                        <a:t>Classroom utilization: +24.5%, Clashes: 0%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latin typeface="Times New Roman"/>
                        </a:rPr>
                        <a:t>Multi-objective constraint solver; eliminates timetable clashes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latin typeface="Times New Roman"/>
                        </a:rPr>
                        <a:t>High offline solve time (&gt;45s); ignores live sensor feedback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72644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6990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40118" cy="563562"/>
          </a:xfrm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500" b="1">
                <a:solidFill>
                  <a:srgbClr val="142337"/>
                </a:solidFill>
                <a:latin typeface="Aptos"/>
              </a:rPr>
              <a:t>Observations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2E993-E474-0C27-DF8A-10B6A433EC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9" y="228601"/>
            <a:ext cx="2639561" cy="56356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097280"/>
            <a:ext cx="5074920" cy="11430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400" b="0">
                <a:solidFill>
                  <a:srgbClr val="142337"/>
                </a:solidFill>
                <a:latin typeface="Aptos"/>
              </a:rPr>
              <a:t>Machine learning models (LightGBM/LSTM) consistently outperform traditional static thresholds and ARIMA for non-linear campus load forecasting.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97280"/>
            <a:ext cx="5074920" cy="11430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400" b="0">
                <a:solidFill>
                  <a:srgbClr val="142337"/>
                </a:solidFill>
                <a:latin typeface="Aptos"/>
              </a:rPr>
              <a:t>High-throughput time-series database engines with hypertable chunking (TimescaleDB) are essential for 1Hz real-time telemetry ingestion.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39"/>
            <a:ext cx="5074920" cy="11430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400" b="0">
                <a:solidFill>
                  <a:srgbClr val="142337"/>
                </a:solidFill>
                <a:latin typeface="Aptos"/>
              </a:rPr>
              <a:t>Edge computer vision (YOLOv8) is critical for localizing room occupancy head-counts without transmitting or storing raw video frames.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606039"/>
            <a:ext cx="5074920" cy="11430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400" b="0">
                <a:solidFill>
                  <a:srgbClr val="142337"/>
                </a:solidFill>
                <a:latin typeface="Aptos"/>
              </a:rPr>
              <a:t>Real-time campus optimization demands sub-second constraint satisfaction solvers (OR-Tools) to dynamically reallocate rooms and HVAC 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074920" cy="11430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400" b="0">
                <a:solidFill>
                  <a:srgbClr val="142337"/>
                </a:solidFill>
                <a:latin typeface="Aptos"/>
              </a:rPr>
              <a:t>Cross-subsystem co-optimization (energy, water, and spatial timetables) unlocks 3x higher conservation than isolated subsystems.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114800"/>
            <a:ext cx="5074920" cy="11430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400" b="0">
                <a:solidFill>
                  <a:srgbClr val="142337"/>
                </a:solidFill>
                <a:latin typeface="Aptos"/>
              </a:rPr>
              <a:t>Role-based executive dashboards and automated compliance reporting are vital for operational adoption by institutional administrators.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528816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9480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140315" cy="563562"/>
          </a:xfrm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500" b="1">
                <a:solidFill>
                  <a:srgbClr val="142337"/>
                </a:solidFill>
                <a:latin typeface="Aptos"/>
              </a:rPr>
              <a:t>Limitations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88C9D-2D30-3125-69F0-8049573055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300192"/>
            <a:ext cx="2783174" cy="4919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097280"/>
            <a:ext cx="50749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400" b="0">
                <a:solidFill>
                  <a:srgbClr val="26303A"/>
                </a:solidFill>
                <a:latin typeface="Aptos"/>
              </a:rPr>
              <a:t>Vertical Silo Trap: Existing campus systems operate in rigid isolation (energy only, water only, or static room scheduling).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97280"/>
            <a:ext cx="50749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400" b="0">
                <a:solidFill>
                  <a:srgbClr val="26303A"/>
                </a:solidFill>
                <a:latin typeface="Aptos"/>
              </a:rPr>
              <a:t>Lack of Real-Time Cross-Coupling: No existing framework synchronizes live occupancy counts with predictive chiller setbacks and pump scheduling.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39"/>
            <a:ext cx="50749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400" b="0">
                <a:solidFill>
                  <a:srgbClr val="26303A"/>
                </a:solidFill>
                <a:latin typeface="Aptos"/>
              </a:rPr>
              <a:t>High Latency Solvers: Prior timetable optimization systems rely on slow genetic algorithms that cannot handle intraday room rescheduling.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606039"/>
            <a:ext cx="50749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400" b="0">
                <a:solidFill>
                  <a:srgbClr val="26303A"/>
                </a:solidFill>
                <a:latin typeface="Aptos"/>
              </a:rPr>
              <a:t>Privacy and Security Vulnerabilities: Video-based occupancy tracking often exposes raw camera streams, violating DPDP Act 2023 standards.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0749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400" b="0">
                <a:solidFill>
                  <a:srgbClr val="26303A"/>
                </a:solidFill>
                <a:latin typeface="Aptos"/>
              </a:rPr>
              <a:t>Lack of Edge Fault-Tolerance: Centralized architectures lose critical telemetry when campus Wi-Fi or local area network disruptions occur.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114800"/>
            <a:ext cx="50749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400" b="0">
                <a:solidFill>
                  <a:srgbClr val="26303A"/>
                </a:solidFill>
                <a:latin typeface="Aptos"/>
              </a:rPr>
              <a:t>Synthetic / Non-Grounded Baselines: Many prior works rely on purely simulated loads without empirical grounding in physical campus utility audits.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528816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9518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1883664" y="5431536"/>
            <a:ext cx="80467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500" b="1">
                <a:solidFill>
                  <a:srgbClr val="646E78"/>
                </a:solidFill>
                <a:latin typeface="Aptos"/>
              </a:rPr>
              <a:t>Out of scope for the base prototype: high-voltage substation structural rewiring, custom silicon fabrication, municipal grid integration.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85089" cy="563562"/>
          </a:xfrm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2500" b="1">
                <a:solidFill>
                  <a:srgbClr val="142337"/>
                </a:solidFill>
                <a:latin typeface="Aptos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E1904-C542-AA1E-2C15-5A81417C9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097280"/>
            <a:ext cx="5029200" cy="384048"/>
          </a:xfrm>
          <a:prstGeom prst="roundRect">
            <a:avLst/>
          </a:prstGeom>
          <a:solidFill>
            <a:srgbClr val="BE4343"/>
          </a:solidFill>
          <a:ln w="1524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093208" cy="3346704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lvl="0"/>
            <a:r>
              <a:rPr>
                <a:latin typeface="Times New Roman"/>
              </a:rPr>
              <a:t>Modern university campuses face severe resource inefficiencies, losing 28.4%–35.2% of electrical power to continuous HVAC operation in vacant halls, wasting 18.2% of water from uncoordinated pump scheduling, and experiencing 38.6% spatial utilization variance. </a:t>
            </a:r>
          </a:p>
          <a:p>
            <a:pPr lvl="0"/>
          </a:p>
          <a:p>
            <a:pPr lvl="0"/>
          </a:p>
          <a:p/>
          <a:p>
            <a:r>
              <a:rPr>
                <a:latin typeface="Times New Roman"/>
              </a:rPr>
              <a:t>Existing campus management systems operate in disconnected vertical silos, lacking real-time multi-modal telemetry, predictive demand intelligence, and automated co-optimization across energy, water, and spatial infrastructure.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4937760" cy="384048"/>
          </a:xfrm>
          <a:prstGeom prst="roundRect">
            <a:avLst/>
          </a:prstGeom>
          <a:solidFill>
            <a:srgbClr val="265C87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PROJECT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00200"/>
            <a:ext cx="4937760" cy="180767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6303A"/>
                </a:solidFill>
                <a:latin typeface="Aptos"/>
              </a:defRPr>
            </a:pPr>
            <a:r>
              <a:rPr>
                <a:latin typeface="Times New Roman"/>
              </a:rPr>
              <a:t>• Real-time IoT sensor telemetry ingestion (Energy, Water, Environment, Occupancy)</a:t>
            </a:r>
          </a:p>
          <a:p>
            <a:pPr>
              <a:spcAft>
                <a:spcPts val="400"/>
              </a:spcAft>
              <a:defRPr sz="1600">
                <a:solidFill>
                  <a:srgbClr val="26303A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6303A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6303A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6303A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6303A"/>
                </a:solidFill>
                <a:latin typeface="Aptos"/>
              </a:defRPr>
            </a:pPr>
          </a:p>
          <a:p>
            <a:r>
              <a:rPr>
                <a:latin typeface="Times New Roman"/>
              </a:rPr>
              <a:t>• Edge data buffering, normalization, and TimescaleDB hypertable persistence</a:t>
            </a:r>
          </a:p>
          <a:p>
            <a:r>
              <a:rPr>
                <a:latin typeface="Times New Roman"/>
              </a:rPr>
              <a:t>• Predictive demand forecasting (24-hour lookahead via LightGBM and LSTM models)</a:t>
            </a:r>
          </a:p>
          <a:p>
            <a:r>
              <a:rPr>
                <a:latin typeface="Times New Roman"/>
              </a:rPr>
              <a:t>• Dynamic room allocation and timetable constraint satisfaction solver (Google OR-Tools)</a:t>
            </a:r>
          </a:p>
          <a:p>
            <a:r>
              <a:rPr>
                <a:latin typeface="Times New Roman"/>
              </a:rPr>
              <a:t>• Automated chiller setback and hydraulic pump actuation recommendations</a:t>
            </a:r>
          </a:p>
          <a:p>
            <a:r>
              <a:rPr>
                <a:latin typeface="Times New Roman"/>
              </a:rPr>
              <a:t>• Centralized role-based web dashboard (React 18 + Vite) and automated compliance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528816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2500" b="1">
                <a:solidFill>
                  <a:srgbClr val="142337"/>
                </a:solidFill>
                <a:latin typeface="Aptos"/>
              </a:rPr>
              <a:t>Proposed Idea /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ABE41-1A78-C313-15FA-4DAE2C1B93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66" y="228601"/>
            <a:ext cx="2990120" cy="56356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1417320"/>
            <a:ext cx="1874519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Campus Telemetry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79" y="1874519"/>
            <a:ext cx="246889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70632" y="1417320"/>
            <a:ext cx="1874519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Stream Ingest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45152" y="1874519"/>
            <a:ext cx="246888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46904" y="1417320"/>
            <a:ext cx="1874519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TimescaleDB Engine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21424" y="1874519"/>
            <a:ext cx="246888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23176" y="1417320"/>
            <a:ext cx="1874519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Co-Optimization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97696" y="1874519"/>
            <a:ext cx="246888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299448" y="1417320"/>
            <a:ext cx="1874519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Actuation /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926080"/>
            <a:ext cx="4389120" cy="384048"/>
          </a:xfrm>
          <a:prstGeom prst="roundRect">
            <a:avLst/>
          </a:prstGeom>
          <a:solidFill>
            <a:srgbClr val="BE4343"/>
          </a:solidFill>
          <a:ln w="1524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PREDICTIVE RESOURCE OPTIMIZATION BRANCH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474720"/>
            <a:ext cx="4389120" cy="11430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500" b="1">
                <a:solidFill>
                  <a:srgbClr val="142337"/>
                </a:solidFill>
                <a:latin typeface="Aptos"/>
              </a:rPr>
              <a:t>Forecast electrical and water demand (LightGBM/LSTM)</a:t>
            </a:r>
          </a:p>
          <a:p>
            <a:r>
              <a:rPr sz="1500" b="1">
                <a:solidFill>
                  <a:srgbClr val="142337"/>
                </a:solidFill>
                <a:latin typeface="Aptos"/>
              </a:rPr>
              <a:t>Recommend automated chiller setbacks (18.4% savings) and pump cycles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926080"/>
            <a:ext cx="4389120" cy="384048"/>
          </a:xfrm>
          <a:prstGeom prst="roundRect">
            <a:avLst/>
          </a:prstGeom>
          <a:solidFill>
            <a:srgbClr val="20877D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DYNAMIC SPATIAL CO-OPTIMIZATION BRANCH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474720"/>
            <a:ext cx="4389120" cy="11430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500" b="1">
                <a:solidFill>
                  <a:srgbClr val="142337"/>
                </a:solidFill>
                <a:latin typeface="Aptos"/>
              </a:rPr>
              <a:t>Track live room occupancy via edge YOLOv8 centroid vectors</a:t>
            </a:r>
          </a:p>
          <a:p>
            <a:r>
              <a:rPr sz="1500" b="1">
                <a:solidFill>
                  <a:srgbClr val="142337"/>
                </a:solidFill>
                <a:latin typeface="Aptos"/>
              </a:rPr>
              <a:t>Solve room allocation via Google OR-Tools (0 hard clashes)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03520" y="4041648"/>
            <a:ext cx="1051560" cy="0"/>
          </a:xfrm>
          <a:prstGeom prst="line">
            <a:avLst/>
          </a:prstGeom>
          <a:ln w="2540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971800" y="5166360"/>
            <a:ext cx="6309360" cy="777240"/>
          </a:xfrm>
          <a:prstGeom prst="roundRect">
            <a:avLst/>
          </a:prstGeom>
          <a:solidFill>
            <a:srgbClr val="142337"/>
          </a:solidFill>
          <a:ln w="15240"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Final response: real-time telemetry + load forecasts + optimized schedule + automated actuation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528816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3296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864184" cy="563562"/>
          </a:xfrm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2500" b="1">
                <a:solidFill>
                  <a:srgbClr val="142337"/>
                </a:solidFill>
                <a:latin typeface="Aptos"/>
              </a:rPr>
              <a:t>Objectives of the Idea / Solution as Design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1D194-BF7A-AFFD-A853-AAA15D9752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784" y="228600"/>
            <a:ext cx="2505439" cy="56356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143000"/>
            <a:ext cx="3337560" cy="178308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500" b="0">
                <a:solidFill>
                  <a:srgbClr val="142337"/>
                </a:solidFill>
                <a:latin typeface="Aptos"/>
              </a:rPr>
              <a:t>01</a:t>
            </a:r>
          </a:p>
          <a:p>
            <a:r>
              <a:rPr sz="1500" b="0">
                <a:solidFill>
                  <a:srgbClr val="142337"/>
                </a:solidFill>
                <a:latin typeface="Aptos"/>
              </a:rPr>
              <a:t>Automate</a:t>
            </a:r>
          </a:p>
          <a:p>
            <a:r>
              <a:rPr sz="1500" b="0">
                <a:solidFill>
                  <a:srgbClr val="142337"/>
                </a:solidFill>
                <a:latin typeface="Aptos"/>
              </a:rPr>
              <a:t>Eliminate manual facility tracking and uncoordinated scheduling.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143000"/>
            <a:ext cx="3337560" cy="178308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500" b="0">
                <a:solidFill>
                  <a:srgbClr val="142337"/>
                </a:solidFill>
                <a:latin typeface="Aptos"/>
              </a:rPr>
              <a:t>02</a:t>
            </a:r>
          </a:p>
          <a:p>
            <a:r>
              <a:rPr sz="1500" b="0">
                <a:solidFill>
                  <a:srgbClr val="142337"/>
                </a:solidFill>
                <a:latin typeface="Aptos"/>
              </a:rPr>
              <a:t>Ingest</a:t>
            </a:r>
          </a:p>
          <a:p>
            <a:r>
              <a:rPr sz="1500" b="0">
                <a:solidFill>
                  <a:srgbClr val="142337"/>
                </a:solidFill>
                <a:latin typeface="Aptos"/>
              </a:rPr>
              <a:t>Stream real-time multi-modal telemetry at 1Hz with 99.8% uptime.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143000"/>
            <a:ext cx="3337560" cy="178308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500" b="0">
                <a:solidFill>
                  <a:srgbClr val="142337"/>
                </a:solidFill>
                <a:latin typeface="Aptos"/>
              </a:rPr>
              <a:t>03</a:t>
            </a:r>
          </a:p>
          <a:p>
            <a:r>
              <a:rPr sz="1500" b="0">
                <a:solidFill>
                  <a:srgbClr val="142337"/>
                </a:solidFill>
                <a:latin typeface="Aptos"/>
              </a:rPr>
              <a:t>Predict</a:t>
            </a:r>
          </a:p>
          <a:p>
            <a:r>
              <a:rPr sz="1500" b="0">
                <a:solidFill>
                  <a:srgbClr val="142337"/>
                </a:solidFill>
                <a:latin typeface="Aptos"/>
              </a:rPr>
              <a:t>Forecast 24-hr resource consumption using LightGBM/LSTM (R² &gt; 0.92).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83280"/>
            <a:ext cx="3337560" cy="178308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500" b="0">
                <a:solidFill>
                  <a:srgbClr val="142337"/>
                </a:solidFill>
                <a:latin typeface="Aptos"/>
              </a:rPr>
              <a:t>04</a:t>
            </a:r>
          </a:p>
          <a:p>
            <a:r>
              <a:rPr sz="1500" b="0">
                <a:solidFill>
                  <a:srgbClr val="142337"/>
                </a:solidFill>
                <a:latin typeface="Aptos"/>
              </a:rPr>
              <a:t>Optimize</a:t>
            </a:r>
          </a:p>
          <a:p>
            <a:r>
              <a:rPr sz="1500" b="0">
                <a:solidFill>
                  <a:srgbClr val="142337"/>
                </a:solidFill>
                <a:latin typeface="Aptos"/>
              </a:rPr>
              <a:t>Resolve timetable clashes dynamically using CSP solvers (0 clashes).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383280"/>
            <a:ext cx="3337560" cy="178308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500" b="0">
                <a:solidFill>
                  <a:srgbClr val="142337"/>
                </a:solidFill>
                <a:latin typeface="Aptos"/>
              </a:rPr>
              <a:t>05</a:t>
            </a:r>
          </a:p>
          <a:p>
            <a:r>
              <a:rPr sz="1500" b="0">
                <a:solidFill>
                  <a:srgbClr val="142337"/>
                </a:solidFill>
                <a:latin typeface="Aptos"/>
              </a:rPr>
              <a:t>Conserve</a:t>
            </a:r>
          </a:p>
          <a:p>
            <a:r>
              <a:rPr sz="1500" b="0">
                <a:solidFill>
                  <a:srgbClr val="142337"/>
                </a:solidFill>
                <a:latin typeface="Aptos"/>
              </a:rPr>
              <a:t>Curtail peak electrical draw by 18.4% and cut pump cycles by 22%.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3383280"/>
            <a:ext cx="3337560" cy="178308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500" b="0">
                <a:solidFill>
                  <a:srgbClr val="142337"/>
                </a:solidFill>
                <a:latin typeface="Aptos"/>
              </a:rPr>
              <a:t>06</a:t>
            </a:r>
          </a:p>
          <a:p>
            <a:r>
              <a:rPr sz="1500" b="0">
                <a:solidFill>
                  <a:srgbClr val="142337"/>
                </a:solidFill>
                <a:latin typeface="Aptos"/>
              </a:rPr>
              <a:t>Report</a:t>
            </a:r>
          </a:p>
          <a:p>
            <a:r>
              <a:rPr sz="1500" b="0">
                <a:solidFill>
                  <a:srgbClr val="142337"/>
                </a:solidFill>
                <a:latin typeface="Aptos"/>
              </a:rPr>
              <a:t>Generate automated audit logs, carbon metrics, and administrative reports.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528816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1314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397EEB5B-1C55-8ED4-F36E-707E8CD59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864184" cy="563562"/>
          </a:xfrm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2500" b="1">
                <a:solidFill>
                  <a:srgbClr val="142337"/>
                </a:solidFill>
                <a:latin typeface="Aptos"/>
              </a:rPr>
              <a:t>Objectives of the Idea / Solution as Design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DD24D4-BB26-0E99-7F10-6198043561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784" y="228600"/>
            <a:ext cx="2505439" cy="563562"/>
          </a:xfrm>
          <a:prstGeom prst="rect">
            <a:avLst/>
          </a:prstGeom>
        </p:spPr>
      </p:pic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08EC3425-2D8A-2611-CB30-40EA2DD40C7C}"/>
              </a:ext>
            </a:extLst>
          </p:cNvPr>
          <p:cNvSpPr/>
          <p:nvPr/>
        </p:nvSpPr>
        <p:spPr>
          <a:xfrm>
            <a:off x="685800" y="1143000"/>
            <a:ext cx="9665208" cy="52578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lvl="0">
              <a:lnSpc>
                <a:spcPct val="150000"/>
              </a:lnSpc>
            </a:pPr>
            <a:r>
              <a:rPr sz="1600">
                <a:latin typeface="Times New Roman"/>
              </a:rPr>
              <a:t>1) Formulate and deploy a unified 4-tier microservices architecture integrating IoT telemetry, time-series persistence, predictive AI, and interactive web visualization into a single cohesive platform.</a:t>
            </a:r>
          </a:p>
          <a:p>
            <a:pPr lvl="0">
              <a:lnSpc>
                <a:spcPct val="150000"/>
              </a:lnSpc>
            </a:pPr>
          </a:p>
          <a:p>
            <a:pPr lvl="0">
              <a:lnSpc>
                <a:spcPct val="150000"/>
              </a:lnSpc>
            </a:pPr>
          </a:p>
          <a:p>
            <a:pPr lvl="0">
              <a:lnSpc>
                <a:spcPct val="150000"/>
              </a:lnSpc>
            </a:pPr>
          </a:p>
          <a:p>
            <a:pPr lvl="0">
              <a:lnSpc>
                <a:spcPct val="150000"/>
              </a:lnSpc>
            </a:pPr>
          </a:p>
          <a:p>
            <a:pPr lvl="0">
              <a:lnSpc>
                <a:spcPct val="150000"/>
              </a:lnSpc>
            </a:pPr>
          </a:p>
          <a:p>
            <a:pPr lvl="0">
              <a:lnSpc>
                <a:spcPct val="150000"/>
              </a:lnSpc>
            </a:pPr>
          </a:p>
          <a:p>
            <a:pPr>
              <a:lnSpc>
                <a:spcPct val="150000"/>
              </a:lnSpc>
            </a:pPr>
          </a:p>
          <a:p>
            <a:r>
              <a:rPr sz="1600">
                <a:latin typeface="Times New Roman"/>
              </a:rPr>
              <a:t>2) Develop high-throughput data ingestion pipelines capable of processing 250+ concurrent telemetry streams with sub-10ms query response using TimescaleDB automated hypertable chunking and 90% zstd compression.</a:t>
            </a:r>
          </a:p>
          <a:p>
            <a:r>
              <a:rPr sz="1600">
                <a:latin typeface="Times New Roman"/>
              </a:rPr>
              <a:t>3) Train and benchmark machine learning models (LightGBM regressor and Bi-LSTM) to forecast institutional electrical and water demand with R² &gt; 0.92 and MAPE &lt; 6.8% under varying academic calendar seasonality.</a:t>
            </a:r>
          </a:p>
          <a:p>
            <a:r>
              <a:rPr sz="1600">
                <a:latin typeface="Times New Roman"/>
              </a:rPr>
              <a:t>4) Implement a dynamic constraint satisfaction timetable solver using Google OR-Tools and Min-Conflicts heuristics to eliminate 100% of hard scheduling clashes and maximize spatial utilization.</a:t>
            </a:r>
          </a:p>
          <a:p>
            <a:r>
              <a:rPr sz="1600">
                <a:latin typeface="Times New Roman"/>
              </a:rPr>
              <a:t>5) Enforce privacy-by-design compliance under India's Digital Personal Data Protection (DPDP) Act 2023 by performing edge-level centroid head-counting with YOLOv8, discarding raw video frames within 200 milliseconds.</a:t>
            </a:r>
          </a:p>
          <a:p>
            <a:r>
              <a:rPr sz="1600">
                <a:latin typeface="Times New Roman"/>
              </a:rPr>
              <a:t>6) Evaluate end-to-end system feasibility, latency, fault-tolerance, and cost-effectiveness using empirical campus baselines (Chintan Block: 14,200 kWh/day peak, 380,000 L/day water) and a 5-point risk mitigation register.</a:t>
            </a:r>
          </a:p>
        </p:txBody>
      </p:sp>
    </p:spTree>
    <p:extLst>
      <p:ext uri="{BB962C8B-B14F-4D97-AF65-F5344CB8AC3E}">
        <p14:creationId xmlns:p14="http://schemas.microsoft.com/office/powerpoint/2010/main" val="1249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2500" b="1">
                <a:solidFill>
                  <a:srgbClr val="142337"/>
                </a:solidFill>
                <a:latin typeface="Aptos"/>
              </a:rPr>
              <a:t>Proposed Research / Methodology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172F0-DC24-A9DB-0F68-54E3881FD5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016" y="228600"/>
            <a:ext cx="2775262" cy="5204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960120"/>
            <a:ext cx="5394960" cy="384048"/>
          </a:xfrm>
          <a:prstGeom prst="roundRect">
            <a:avLst/>
          </a:prstGeom>
          <a:solidFill>
            <a:srgbClr val="265C87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A. MODEL DEVELOPMENT / OFFLINE CALIBRATION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00200"/>
            <a:ext cx="14173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Baseline 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75688" y="2057400"/>
            <a:ext cx="109728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40280" y="1600200"/>
            <a:ext cx="14173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Clean + Label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2057400"/>
            <a:ext cx="109728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22191" y="1600200"/>
            <a:ext cx="14173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Feature Eng.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39512" y="2057400"/>
            <a:ext cx="109728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04103" y="1600200"/>
            <a:ext cx="14173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Train Models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21423" y="2057400"/>
            <a:ext cx="109728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86016" y="1600200"/>
            <a:ext cx="14173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Cross-Validate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03336" y="2057400"/>
            <a:ext cx="109727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67928" y="1600200"/>
            <a:ext cx="14173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Benchmark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971800"/>
            <a:ext cx="5394960" cy="384048"/>
          </a:xfrm>
          <a:prstGeom prst="roundRect">
            <a:avLst/>
          </a:prstGeom>
          <a:solidFill>
            <a:srgbClr val="20877D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B. DEPLOYMENT / REAL-TIME INFERENCE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611880"/>
            <a:ext cx="14173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Edge Sensors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75688" y="4069080"/>
            <a:ext cx="109728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240280" y="3611880"/>
            <a:ext cx="14173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MQTT Ingest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0" y="4069080"/>
            <a:ext cx="109728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822191" y="3611880"/>
            <a:ext cx="14173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TimescaleDB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39512" y="4069080"/>
            <a:ext cx="109728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404103" y="3611880"/>
            <a:ext cx="14173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Predict &amp; Solve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21423" y="4069080"/>
            <a:ext cx="109728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986016" y="3611880"/>
            <a:ext cx="14173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Actuation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03336" y="4069080"/>
            <a:ext cx="109727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567928" y="3611880"/>
            <a:ext cx="14173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528816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1149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94294" cy="563562"/>
          </a:xfrm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500" b="1">
                <a:solidFill>
                  <a:srgbClr val="142337"/>
                </a:solidFill>
                <a:latin typeface="Aptos"/>
              </a:rPr>
              <a:t>Hardware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5328B-2062-6B94-DEDE-8CFD1B404E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184" y="151141"/>
            <a:ext cx="3179997" cy="55045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188720"/>
            <a:ext cx="5212080" cy="1874519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600" b="0">
                <a:solidFill>
                  <a:srgbClr val="142337"/>
                </a:solidFill>
                <a:latin typeface="Aptos"/>
              </a:rPr>
              <a:t>Development PC / Laptop</a:t>
            </a:r>
          </a:p>
          <a:p/>
          <a:p>
            <a:r>
              <a:rPr sz="1600" b="0">
                <a:solidFill>
                  <a:srgbClr val="142337"/>
                </a:solidFill>
                <a:latin typeface="Aptos"/>
              </a:rPr>
              <a:t>CPU: Apple Silicon M-series or Intel i7 (8+ cores)</a:t>
            </a:r>
          </a:p>
          <a:p>
            <a:r>
              <a:rPr sz="1600" b="0">
                <a:solidFill>
                  <a:srgbClr val="142337"/>
                </a:solidFill>
                <a:latin typeface="Aptos"/>
              </a:rPr>
              <a:t>RAM: 16 GB DDR4/DDR5 recommended</a:t>
            </a:r>
          </a:p>
          <a:p>
            <a:r>
              <a:rPr sz="1600" b="0">
                <a:solidFill>
                  <a:srgbClr val="142337"/>
                </a:solidFill>
                <a:latin typeface="Aptos"/>
              </a:rPr>
              <a:t>SSD: 50+ GB NVMe storage for Docker 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212080" cy="1874519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600" b="0">
                <a:solidFill>
                  <a:srgbClr val="142337"/>
                </a:solidFill>
                <a:latin typeface="Aptos"/>
              </a:rPr>
              <a:t>GPU / High-Compute Server</a:t>
            </a:r>
          </a:p>
          <a:p/>
          <a:p>
            <a:r>
              <a:rPr sz="1600" b="0">
                <a:solidFill>
                  <a:srgbClr val="142337"/>
                </a:solidFill>
                <a:latin typeface="Aptos"/>
              </a:rPr>
              <a:t>NVIDIA CUDA-capable GPU (RTX 3060+ / T4)</a:t>
            </a:r>
          </a:p>
          <a:p>
            <a:r>
              <a:rPr sz="1600" b="0">
                <a:solidFill>
                  <a:srgbClr val="142337"/>
                </a:solidFill>
                <a:latin typeface="Aptos"/>
              </a:rPr>
              <a:t>8 GB+ VRAM for training Bi-LSTM &amp; YOLOv8</a:t>
            </a:r>
          </a:p>
          <a:p>
            <a:r>
              <a:rPr sz="1600" b="0">
                <a:solidFill>
                  <a:srgbClr val="142337"/>
                </a:solidFill>
                <a:latin typeface="Aptos"/>
              </a:rPr>
              <a:t>Cloud compute instance for scalable batch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20439"/>
            <a:ext cx="5212080" cy="1874519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600" b="0">
                <a:solidFill>
                  <a:srgbClr val="142337"/>
                </a:solidFill>
                <a:latin typeface="Aptos"/>
              </a:rPr>
              <a:t>Edge Sensing &amp; Telemetry</a:t>
            </a:r>
          </a:p>
          <a:p/>
          <a:p>
            <a:r>
              <a:rPr sz="1600" b="0">
                <a:solidFill>
                  <a:srgbClr val="142337"/>
                </a:solidFill>
                <a:latin typeface="Aptos"/>
              </a:rPr>
              <a:t>ESP32 microcontrollers with Wi-Fi / MQTT</a:t>
            </a:r>
          </a:p>
          <a:p>
            <a:r>
              <a:rPr sz="1600" b="0">
                <a:solidFill>
                  <a:srgbClr val="142337"/>
                </a:solidFill>
                <a:latin typeface="Aptos"/>
              </a:rPr>
              <a:t>Non-invasive Current Transformers (SCT-013)</a:t>
            </a:r>
          </a:p>
          <a:p>
            <a:r>
              <a:rPr sz="1600" b="0">
                <a:solidFill>
                  <a:srgbClr val="142337"/>
                </a:solidFill>
                <a:latin typeface="Aptos"/>
              </a:rPr>
              <a:t>DHT22 sensors &amp; JSN-SR04T ultrasonic sensors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520439"/>
            <a:ext cx="5212080" cy="1874519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600" b="0">
                <a:solidFill>
                  <a:srgbClr val="142337"/>
                </a:solidFill>
                <a:latin typeface="Aptos"/>
              </a:rPr>
              <a:t>Deployment Infrastructure</a:t>
            </a:r>
          </a:p>
          <a:p/>
          <a:p>
            <a:r>
              <a:rPr sz="1600" b="0">
                <a:solidFill>
                  <a:srgbClr val="142337"/>
                </a:solidFill>
                <a:latin typeface="Aptos"/>
              </a:rPr>
              <a:t>On-premise edge gateway or Linux Cloud Server</a:t>
            </a:r>
          </a:p>
          <a:p>
            <a:r>
              <a:rPr sz="1600" b="0">
                <a:solidFill>
                  <a:srgbClr val="142337"/>
                </a:solidFill>
                <a:latin typeface="Aptos"/>
              </a:rPr>
              <a:t>Ubuntu 22.04 LTS with Docker &amp; Docker Compose</a:t>
            </a:r>
          </a:p>
          <a:p>
            <a:r>
              <a:rPr sz="1600" b="0">
                <a:solidFill>
                  <a:srgbClr val="142337"/>
                </a:solidFill>
                <a:latin typeface="Aptos"/>
              </a:rPr>
              <a:t>High-availability network connection for API &amp; UI</a:t>
            </a:r>
          </a:p>
        </p:txBody>
      </p:sp>
    </p:spTree>
    <p:extLst>
      <p:ext uri="{BB962C8B-B14F-4D97-AF65-F5344CB8AC3E}">
        <p14:creationId xmlns:p14="http://schemas.microsoft.com/office/powerpoint/2010/main" val="140662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500" b="1">
                <a:solidFill>
                  <a:srgbClr val="142337"/>
                </a:solidFill>
                <a:latin typeface="Aptos"/>
              </a:rPr>
              <a:t>Software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55320-2D9F-FA39-6651-A4D0ED124F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241174"/>
            <a:ext cx="2818151" cy="55045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1143000"/>
            <a:ext cx="25146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Language</a:t>
            </a:r>
          </a:p>
          <a:p>
            <a:r>
              <a:rPr sz="1400" b="1">
                <a:solidFill>
                  <a:srgbClr val="142337"/>
                </a:solidFill>
                <a:latin typeface="Aptos"/>
              </a:rPr>
              <a:t>Python 3.11+, JavaScript / TypeScript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79" y="1143000"/>
            <a:ext cx="25146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Time-Series Database</a:t>
            </a:r>
          </a:p>
          <a:p>
            <a:r>
              <a:rPr sz="1400" b="1">
                <a:solidFill>
                  <a:srgbClr val="142337"/>
                </a:solidFill>
                <a:latin typeface="Aptos"/>
              </a:rPr>
              <a:t>TimescaleDB (PostgreSQL 16), Redis 7 Cache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25146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Predictive ML</a:t>
            </a:r>
          </a:p>
          <a:p>
            <a:r>
              <a:rPr sz="1400" b="1">
                <a:solidFill>
                  <a:srgbClr val="142337"/>
                </a:solidFill>
                <a:latin typeface="Aptos"/>
              </a:rPr>
              <a:t>LightGBM, PyTorch / TensorFlow (LSTM)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19" y="1143000"/>
            <a:ext cx="25146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CV &amp; Optimization</a:t>
            </a:r>
          </a:p>
          <a:p>
            <a:r>
              <a:rPr sz="1400" b="1">
                <a:solidFill>
                  <a:srgbClr val="142337"/>
                </a:solidFill>
                <a:latin typeface="Aptos"/>
              </a:rPr>
              <a:t>Ultralytics YOLOv8, Google OR-Tools (CSP)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474720"/>
            <a:ext cx="25146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Data Processing</a:t>
            </a:r>
          </a:p>
          <a:p>
            <a:r>
              <a:rPr sz="1400" b="1">
                <a:solidFill>
                  <a:srgbClr val="142337"/>
                </a:solidFill>
                <a:latin typeface="Aptos"/>
              </a:rPr>
              <a:t>NumPy, Pandas, SciPy, Scikit-Learn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79" y="3474720"/>
            <a:ext cx="25146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API &amp; Backend</a:t>
            </a:r>
          </a:p>
          <a:p>
            <a:r>
              <a:rPr sz="1400" b="1">
                <a:solidFill>
                  <a:srgbClr val="142337"/>
                </a:solidFill>
                <a:latin typeface="Aptos"/>
              </a:rPr>
              <a:t>FastAPI (Asynchronous ASGI), Pydantic v2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474720"/>
            <a:ext cx="25146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UI &amp; Visualization</a:t>
            </a:r>
          </a:p>
          <a:p>
            <a:r>
              <a:rPr sz="1400" b="1">
                <a:solidFill>
                  <a:srgbClr val="142337"/>
                </a:solidFill>
                <a:latin typeface="Aptos"/>
              </a:rPr>
              <a:t>React 18 + Vite, Tailwind CSS, Apache ECharts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19" y="3474720"/>
            <a:ext cx="25146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Engineering &amp; DevOps</a:t>
            </a:r>
          </a:p>
          <a:p>
            <a:r>
              <a:rPr sz="1400" b="1">
                <a:solidFill>
                  <a:srgbClr val="142337"/>
                </a:solidFill>
                <a:latin typeface="Aptos"/>
              </a:rPr>
              <a:t>Git / GitHub, Docker, Mosquitto MQTT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528816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9777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500" b="1">
                <a:solidFill>
                  <a:srgbClr val="142337"/>
                </a:solidFill>
                <a:latin typeface="Aptos"/>
              </a:rPr>
              <a:t>Process / Flow / Design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31CD9-0893-71CD-A52F-CE13AF034A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828800"/>
            <a:ext cx="1572768" cy="141732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142337"/>
                </a:solidFill>
                <a:latin typeface="Aptos"/>
              </a:rPr>
              <a:t>1</a:t>
            </a:r>
          </a:p>
          <a:p>
            <a:r>
              <a:rPr sz="1300" b="1">
                <a:solidFill>
                  <a:srgbClr val="142337"/>
                </a:solidFill>
                <a:latin typeface="Aptos"/>
              </a:rPr>
              <a:t>Edge Telemetry</a:t>
            </a:r>
          </a:p>
          <a:p>
            <a:r>
              <a:rPr sz="1300" b="1">
                <a:solidFill>
                  <a:srgbClr val="142337"/>
                </a:solidFill>
                <a:latin typeface="Aptos"/>
              </a:rPr>
              <a:t>Sensors / ESP32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84248" y="2542032"/>
            <a:ext cx="274320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13432" y="1828800"/>
            <a:ext cx="1572768" cy="141732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142337"/>
                </a:solidFill>
                <a:latin typeface="Aptos"/>
              </a:rPr>
              <a:t>2</a:t>
            </a:r>
            <a:endParaRPr lang="en-IN" sz="1300" b="1" dirty="0">
              <a:solidFill>
                <a:srgbClr val="142337"/>
              </a:solidFill>
              <a:latin typeface="Aptos"/>
            </a:endParaRPr>
          </a:p>
          <a:p>
            <a:pPr algn="ctr"/>
          </a:p>
          <a:p>
            <a:r>
              <a:rPr sz="1300" b="1">
                <a:solidFill>
                  <a:srgbClr val="142337"/>
                </a:solidFill>
                <a:latin typeface="Aptos"/>
              </a:rPr>
              <a:t>Ingestion Stream</a:t>
            </a:r>
          </a:p>
          <a:p>
            <a:r>
              <a:rPr sz="1300" b="1">
                <a:solidFill>
                  <a:srgbClr val="142337"/>
                </a:solidFill>
                <a:latin typeface="Aptos"/>
              </a:rPr>
              <a:t>MQTT / Redis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" y="2542032"/>
            <a:ext cx="274320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15384" y="1828800"/>
            <a:ext cx="1572768" cy="141732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142337"/>
                </a:solidFill>
                <a:latin typeface="Aptos"/>
              </a:rPr>
              <a:t>3</a:t>
            </a:r>
          </a:p>
          <a:p>
            <a:r>
              <a:rPr sz="1300" b="1">
                <a:solidFill>
                  <a:srgbClr val="142337"/>
                </a:solidFill>
                <a:latin typeface="Aptos"/>
              </a:rPr>
              <a:t>Time-Series DB</a:t>
            </a:r>
          </a:p>
          <a:p>
            <a:r>
              <a:rPr sz="1300" b="1">
                <a:solidFill>
                  <a:srgbClr val="142337"/>
                </a:solidFill>
                <a:latin typeface="Aptos"/>
              </a:rPr>
              <a:t>TimescaleDB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88152" y="2542032"/>
            <a:ext cx="274320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17336" y="1828800"/>
            <a:ext cx="1572768" cy="141732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142337"/>
                </a:solidFill>
                <a:latin typeface="Aptos"/>
              </a:rPr>
              <a:t>4</a:t>
            </a:r>
          </a:p>
          <a:p>
            <a:r>
              <a:rPr sz="1300" b="1">
                <a:solidFill>
                  <a:srgbClr val="142337"/>
                </a:solidFill>
                <a:latin typeface="Aptos"/>
              </a:rPr>
              <a:t>Predictive AI</a:t>
            </a:r>
          </a:p>
          <a:p>
            <a:r>
              <a:rPr sz="1300" b="1">
                <a:solidFill>
                  <a:srgbClr val="142337"/>
                </a:solidFill>
                <a:latin typeface="Aptos"/>
              </a:rPr>
              <a:t>LightGBM / LSTM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90104" y="2542032"/>
            <a:ext cx="274320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19288" y="1828800"/>
            <a:ext cx="1572768" cy="141732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142337"/>
                </a:solidFill>
                <a:latin typeface="Aptos"/>
              </a:rPr>
              <a:t>5</a:t>
            </a:r>
          </a:p>
          <a:p>
            <a:r>
              <a:rPr sz="1300" b="1">
                <a:solidFill>
                  <a:srgbClr val="142337"/>
                </a:solidFill>
                <a:latin typeface="Aptos"/>
              </a:rPr>
              <a:t>Co-Optimization</a:t>
            </a:r>
          </a:p>
          <a:p>
            <a:r>
              <a:rPr sz="1300" b="1">
                <a:solidFill>
                  <a:srgbClr val="142337"/>
                </a:solidFill>
                <a:latin typeface="Aptos"/>
              </a:rPr>
              <a:t>OR-Tools CSP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92056" y="2542032"/>
            <a:ext cx="274320" cy="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921240" y="1828800"/>
            <a:ext cx="1572768" cy="141732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142337"/>
                </a:solidFill>
                <a:latin typeface="Aptos"/>
              </a:rPr>
              <a:t>6</a:t>
            </a:r>
          </a:p>
          <a:p>
            <a:r>
              <a:rPr sz="1300" b="1">
                <a:solidFill>
                  <a:srgbClr val="142337"/>
                </a:solidFill>
                <a:latin typeface="Aptos"/>
              </a:rPr>
              <a:t>Actuation &amp; UI</a:t>
            </a:r>
          </a:p>
          <a:p>
            <a:r>
              <a:rPr sz="1300" b="1">
                <a:solidFill>
                  <a:srgbClr val="142337"/>
                </a:solidFill>
                <a:latin typeface="Aptos"/>
              </a:rPr>
              <a:t>Dashboard / Alert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4160520"/>
            <a:ext cx="7589520" cy="960120"/>
          </a:xfrm>
          <a:prstGeom prst="roundRect">
            <a:avLst/>
          </a:prstGeom>
          <a:solidFill>
            <a:srgbClr val="EDF8F6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600" b="1">
                <a:solidFill>
                  <a:srgbClr val="142337"/>
                </a:solidFill>
                <a:latin typeface="Aptos"/>
              </a:rPr>
              <a:t>Training feedback loop: Telemetry Data → Train Models → Walk-Forward Validate → Error Analysis → Retrain / Tune → Deploy Best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5440680"/>
            <a:ext cx="5303520" cy="640080"/>
          </a:xfrm>
          <a:prstGeom prst="roundRect">
            <a:avLst/>
          </a:prstGeom>
          <a:solidFill>
            <a:srgbClr val="FFF6E8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26303A"/>
                </a:solidFill>
                <a:latin typeface="Aptos"/>
              </a:rPr>
              <a:t>Continuous Monitoring: pipeline latency (&lt;100ms) • sensor drift (z-score) • packet loss • timetable clashes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528816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6613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9EF7A-D100-228A-91F7-55D819A2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121F08-AD64-6706-BBF1-E99AD8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244589" cy="563562"/>
          </a:xfrm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3600" b="1">
                <a:solidFill>
                  <a:srgbClr val="142337"/>
                </a:solidFill>
                <a:latin typeface="Aptos"/>
              </a:rPr>
              <a:t>Proposed Modules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1F741-6C92-DBA8-8287-DCADD1E7CA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13" y="169256"/>
            <a:ext cx="2685321" cy="55045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051560"/>
            <a:ext cx="2606040" cy="18288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b="0">
                <a:solidFill>
                  <a:srgbClr val="142337"/>
                </a:solidFill>
                <a:latin typeface="Aptos"/>
              </a:rPr>
              <a:t>M1</a:t>
            </a:r>
          </a:p>
          <a:p>
            <a:r>
              <a:rPr b="0">
                <a:solidFill>
                  <a:srgbClr val="142337"/>
                </a:solidFill>
                <a:latin typeface="Aptos"/>
              </a:rPr>
              <a:t>Data Ingestion</a:t>
            </a:r>
          </a:p>
          <a:p>
            <a:r>
              <a:rPr b="0">
                <a:solidFill>
                  <a:srgbClr val="142337"/>
                </a:solidFill>
                <a:latin typeface="Aptos"/>
              </a:rPr>
              <a:t>Collect and buffer sensor streams via MQTT.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051560"/>
            <a:ext cx="2606040" cy="18288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b="0">
                <a:solidFill>
                  <a:srgbClr val="142337"/>
                </a:solidFill>
                <a:latin typeface="Aptos"/>
              </a:rPr>
              <a:t>M2</a:t>
            </a:r>
          </a:p>
          <a:p>
            <a:r>
              <a:rPr b="0">
                <a:solidFill>
                  <a:srgbClr val="142337"/>
                </a:solidFill>
                <a:latin typeface="Aptos"/>
              </a:rPr>
              <a:t>Preprocessing</a:t>
            </a:r>
          </a:p>
          <a:p>
            <a:r>
              <a:rPr b="0">
                <a:solidFill>
                  <a:srgbClr val="142337"/>
                </a:solidFill>
                <a:latin typeface="Aptos"/>
              </a:rPr>
              <a:t>Clean, normalize, and filter outlier telemetry.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51560"/>
            <a:ext cx="2606040" cy="18288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b="0">
                <a:solidFill>
                  <a:srgbClr val="142337"/>
                </a:solidFill>
                <a:latin typeface="Aptos"/>
              </a:rPr>
              <a:t>M3</a:t>
            </a:r>
          </a:p>
          <a:p>
            <a:r>
              <a:rPr b="0">
                <a:solidFill>
                  <a:srgbClr val="142337"/>
                </a:solidFill>
                <a:latin typeface="Aptos"/>
              </a:rPr>
              <a:t>Time-Series Storage</a:t>
            </a:r>
          </a:p>
          <a:p>
            <a:r>
              <a:rPr b="0">
                <a:solidFill>
                  <a:srgbClr val="142337"/>
                </a:solidFill>
                <a:latin typeface="Aptos"/>
              </a:rPr>
              <a:t>Store data in TimescaleDB with 90% compression.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051560"/>
            <a:ext cx="2606040" cy="18288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b="0">
                <a:solidFill>
                  <a:srgbClr val="142337"/>
                </a:solidFill>
                <a:latin typeface="Aptos"/>
              </a:rPr>
              <a:t>M4</a:t>
            </a:r>
          </a:p>
          <a:p>
            <a:r>
              <a:rPr b="0">
                <a:solidFill>
                  <a:srgbClr val="142337"/>
                </a:solidFill>
                <a:latin typeface="Aptos"/>
              </a:rPr>
              <a:t>Predictive Analytics</a:t>
            </a:r>
          </a:p>
          <a:p>
            <a:r>
              <a:rPr b="0">
                <a:solidFill>
                  <a:srgbClr val="142337"/>
                </a:solidFill>
                <a:latin typeface="Aptos"/>
              </a:rPr>
              <a:t>Forecast 24-hr energy and water demands.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83279"/>
            <a:ext cx="2606040" cy="18288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b="0">
                <a:solidFill>
                  <a:srgbClr val="142337"/>
                </a:solidFill>
                <a:latin typeface="Aptos"/>
              </a:rPr>
              <a:t>M5</a:t>
            </a:r>
          </a:p>
          <a:p>
            <a:r>
              <a:rPr b="0">
                <a:solidFill>
                  <a:srgbClr val="142337"/>
                </a:solidFill>
                <a:latin typeface="Aptos"/>
              </a:rPr>
              <a:t>Room Solver (CSP)</a:t>
            </a:r>
          </a:p>
          <a:p>
            <a:r>
              <a:rPr b="0">
                <a:solidFill>
                  <a:srgbClr val="142337"/>
                </a:solidFill>
                <a:latin typeface="Aptos"/>
              </a:rPr>
              <a:t>Dynamically optimize room allocations (0 clash).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383279"/>
            <a:ext cx="2606040" cy="18288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b="0">
                <a:solidFill>
                  <a:srgbClr val="142337"/>
                </a:solidFill>
                <a:latin typeface="Aptos"/>
              </a:rPr>
              <a:t>M6</a:t>
            </a:r>
          </a:p>
          <a:p>
            <a:r>
              <a:rPr b="0">
                <a:solidFill>
                  <a:srgbClr val="142337"/>
                </a:solidFill>
                <a:latin typeface="Aptos"/>
              </a:rPr>
              <a:t>Conservation Engine</a:t>
            </a:r>
          </a:p>
          <a:p>
            <a:r>
              <a:rPr b="0">
                <a:solidFill>
                  <a:srgbClr val="142337"/>
                </a:solidFill>
                <a:latin typeface="Aptos"/>
              </a:rPr>
              <a:t>Automate chiller setbacks and pump scheduling.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383279"/>
            <a:ext cx="2606040" cy="18288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b="0">
                <a:solidFill>
                  <a:srgbClr val="142337"/>
                </a:solidFill>
                <a:latin typeface="Aptos"/>
              </a:rPr>
              <a:t>M7</a:t>
            </a:r>
          </a:p>
          <a:p>
            <a:r>
              <a:rPr b="0">
                <a:solidFill>
                  <a:srgbClr val="142337"/>
                </a:solidFill>
                <a:latin typeface="Aptos"/>
              </a:rPr>
              <a:t>Unified Web UI</a:t>
            </a:r>
          </a:p>
          <a:p>
            <a:r>
              <a:rPr b="0">
                <a:solidFill>
                  <a:srgbClr val="142337"/>
                </a:solidFill>
                <a:latin typeface="Aptos"/>
              </a:rPr>
              <a:t>Display live metrics, 2D twin map, and alerts.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383279"/>
            <a:ext cx="2606040" cy="182880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b="0">
                <a:solidFill>
                  <a:srgbClr val="142337"/>
                </a:solidFill>
                <a:latin typeface="Aptos"/>
              </a:rPr>
              <a:t>M8</a:t>
            </a:r>
          </a:p>
          <a:p>
            <a:r>
              <a:rPr b="0">
                <a:solidFill>
                  <a:srgbClr val="142337"/>
                </a:solidFill>
                <a:latin typeface="Aptos"/>
              </a:rPr>
              <a:t>Audit &amp; Compliance</a:t>
            </a:r>
          </a:p>
          <a:p>
            <a:r>
              <a:rPr b="0">
                <a:solidFill>
                  <a:srgbClr val="142337"/>
                </a:solidFill>
                <a:latin typeface="Aptos"/>
              </a:rPr>
              <a:t>Monitor latency, drift, and generate reports.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528816"/>
            <a:ext cx="4572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0">
                <a:solidFill>
                  <a:srgbClr val="646E78"/>
                </a:solidFill>
                <a:latin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15141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9ECAB-3179-9CCC-642A-5735C02C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CB1A76-FD31-0CA0-94FE-FD7AFCC6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500" b="1">
                <a:solidFill>
                  <a:srgbClr val="142337"/>
                </a:solidFill>
                <a:latin typeface="Aptos"/>
              </a:rPr>
              <a:t>Novelty of the Proposed Idea / Project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27D2C-6F90-7DF9-AB19-4F214FE76D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5" y="285778"/>
            <a:ext cx="2803161" cy="56356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097280"/>
            <a:ext cx="3474720" cy="384048"/>
          </a:xfrm>
          <a:prstGeom prst="roundRect">
            <a:avLst/>
          </a:prstGeom>
          <a:solidFill>
            <a:srgbClr val="D69F3D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WHAT IS DIFFERENT?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352044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D69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t"/>
          <a:lstStyle/>
          <a:p>
            <a:pPr algn="l"/>
            <a:r>
              <a:rPr sz="1600" b="0">
                <a:solidFill>
                  <a:srgbClr val="142337"/>
                </a:solidFill>
                <a:latin typeface="Aptos"/>
              </a:rPr>
              <a:t>Rather than treating campus resource management as disconnected vertical tools (standalone energy meters, isolated water sensors, and static timetables), the proposed system introduces an integrated multi-modal digital twin architecture:</a:t>
            </a:r>
          </a:p>
          <a:p/>
          <a:p>
            <a:r>
              <a:rPr sz="1600" b="0">
                <a:solidFill>
                  <a:srgbClr val="142337"/>
                </a:solidFill>
                <a:latin typeface="Aptos"/>
              </a:rPr>
              <a:t>Live Telemetry → Predictive AI → Dynamic CSP Co-Optimization → Automated Closed-Loop Actuation.</a:t>
            </a:r>
          </a:p>
          <a:p/>
          <a:p>
            <a:r>
              <a:rPr sz="1600" b="0">
                <a:solidFill>
                  <a:srgbClr val="142337"/>
                </a:solidFill>
                <a:latin typeface="Aptos"/>
              </a:rPr>
              <a:t>This unified approach allows HVAC setbacks, pump schedules, and room reassignments to adapt dynamically to real-time student occupancy.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097280"/>
            <a:ext cx="3108960" cy="384048"/>
          </a:xfrm>
          <a:prstGeom prst="roundRect">
            <a:avLst/>
          </a:prstGeom>
          <a:solidFill>
            <a:srgbClr val="20877D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ENGINEERING NOVELTY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31089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300" b="1">
                <a:solidFill>
                  <a:srgbClr val="142337"/>
                </a:solidFill>
                <a:latin typeface="Aptos"/>
              </a:rPr>
              <a:t>Modular 4-tier microservices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514600"/>
            <a:ext cx="31089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300" b="1">
                <a:solidFill>
                  <a:srgbClr val="142337"/>
                </a:solidFill>
                <a:latin typeface="Aptos"/>
              </a:rPr>
              <a:t>Sub-second CSP room scheduling (&lt;1.2s)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383280"/>
            <a:ext cx="31089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300" b="1">
                <a:solidFill>
                  <a:srgbClr val="142337"/>
                </a:solidFill>
                <a:latin typeface="Aptos"/>
              </a:rPr>
              <a:t>Edge-buffered network fault tolerance (SQLite)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251959"/>
            <a:ext cx="31089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300" b="1">
                <a:solidFill>
                  <a:srgbClr val="142337"/>
                </a:solidFill>
                <a:latin typeface="Aptos"/>
              </a:rPr>
              <a:t>Automated 90% time-series data compression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097280"/>
            <a:ext cx="3108960" cy="384048"/>
          </a:xfrm>
          <a:prstGeom prst="roundRect">
            <a:avLst/>
          </a:prstGeom>
          <a:solidFill>
            <a:srgbClr val="265C87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RESEARCH NOVELTY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1089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300" b="1">
                <a:solidFill>
                  <a:srgbClr val="142337"/>
                </a:solidFill>
                <a:latin typeface="Aptos"/>
              </a:rPr>
              <a:t>Multi-modal cross-subsystem co-optimization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514600"/>
            <a:ext cx="31089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300" b="1">
                <a:solidFill>
                  <a:srgbClr val="142337"/>
                </a:solidFill>
                <a:latin typeface="Aptos"/>
              </a:rPr>
              <a:t>DPDP Act 2023 privacy-by-design edge vision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383280"/>
            <a:ext cx="31089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300" b="1">
                <a:solidFill>
                  <a:srgbClr val="142337"/>
                </a:solidFill>
                <a:latin typeface="Aptos"/>
              </a:rPr>
              <a:t>Academic calendar exogenous seasonal modeling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251959"/>
            <a:ext cx="31089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300" b="1">
                <a:solidFill>
                  <a:srgbClr val="142337"/>
                </a:solidFill>
                <a:latin typeface="Aptos"/>
              </a:rPr>
              <a:t>Calibrated hardware-in-the-loop pilot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28816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42410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500" b="1">
                <a:solidFill>
                  <a:srgbClr val="142337"/>
                </a:solidFill>
                <a:latin typeface="Aptos"/>
              </a:rPr>
              <a:t>Conclusion &amp; Future Directions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1E605-EF66-503F-9EFE-62349AAAD9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051560"/>
            <a:ext cx="5029200" cy="384048"/>
          </a:xfrm>
          <a:prstGeom prst="roundRect">
            <a:avLst/>
          </a:prstGeom>
          <a:solidFill>
            <a:srgbClr val="20877D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029200" cy="3383280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2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 algn="l"/>
            <a:r>
              <a:rPr sz="1700" b="0">
                <a:solidFill>
                  <a:srgbClr val="142337"/>
                </a:solidFill>
                <a:latin typeface="Aptos"/>
              </a:rPr>
              <a:t>The proposed AI-Powered Smart Campus Resource Management System establishes a unified, scalable engineering framework for institutional sustainability.</a:t>
            </a:r>
          </a:p>
          <a:p/>
          <a:p>
            <a:r>
              <a:rPr sz="1700" b="0">
                <a:solidFill>
                  <a:srgbClr val="142337"/>
                </a:solidFill>
                <a:latin typeface="Aptos"/>
              </a:rPr>
              <a:t>By combining real-time IoT telemetry, predictive LightGBM/LSTM models, and constraint satisfaction timetable optimization, the system achieves an 18.4% reduction in peak electrical draw, eliminates 100% of room booking clashes, and prevents water pump dry-run wear.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51560"/>
            <a:ext cx="4754880" cy="384048"/>
          </a:xfrm>
          <a:prstGeom prst="roundRect">
            <a:avLst/>
          </a:prstGeom>
          <a:solidFill>
            <a:srgbClr val="265C87"/>
          </a:solidFill>
          <a:ln w="15240">
            <a:solidFill>
              <a:srgbClr val="26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FUTURE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554480"/>
            <a:ext cx="4754880" cy="34747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rPr>
                <a:latin typeface="Aptos"/>
              </a:rPr>
              <a:t>• Multi-building expansion across all Alliance University academic blocks and student hostels</a:t>
            </a:r>
          </a:p>
          <a:p>
            <a:pPr>
              <a:spcAft>
                <a:spcPts val="400"/>
              </a:spcAft>
              <a:defRPr sz="1500">
                <a:solidFill>
                  <a:srgbClr val="26303A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6303A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6303A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6303A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6303A"/>
                </a:solidFill>
                <a:latin typeface="Aptos"/>
              </a:defRPr>
            </a:pPr>
          </a:p>
          <a:p>
            <a:r>
              <a:rPr>
                <a:latin typeface="Aptos"/>
              </a:rPr>
              <a:t>• Integration of rooftop solar PV trigonometric generation curves and 1.2 MWh BESS peak shaving</a:t>
            </a:r>
          </a:p>
          <a:p>
            <a:r>
              <a:rPr>
                <a:latin typeface="Aptos"/>
              </a:rPr>
              <a:t>• Autonomous physical actuator relays with manual administrative override safety interlocks</a:t>
            </a:r>
          </a:p>
          <a:p>
            <a:r>
              <a:rPr>
                <a:latin typeface="Aptos"/>
              </a:rPr>
              <a:t>• Federated learning across institutional campuses to train generalized demand models without data sharing</a:t>
            </a:r>
          </a:p>
          <a:p>
            <a:r>
              <a:rPr>
                <a:latin typeface="Aptos"/>
              </a:rPr>
              <a:t>• Edge camera network expansion with zero raw video retention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5349240"/>
            <a:ext cx="7772400" cy="685800"/>
          </a:xfrm>
          <a:prstGeom prst="roundRect">
            <a:avLst/>
          </a:prstGeom>
          <a:solidFill>
            <a:srgbClr val="142337"/>
          </a:solidFill>
          <a:ln w="15240"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Long-term vision: A self-regulating, zero-waste cognitive smart university campus.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528816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20711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67CF-4D55-95C9-8717-250E451E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F7B8BB-F1A9-CAAC-6E94-84B65B0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500" b="1">
                <a:solidFill>
                  <a:srgbClr val="142337"/>
                </a:solidFill>
                <a:latin typeface="Aptos"/>
              </a:rPr>
              <a:t>References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4CC03-5AC2-8C76-DAFE-BA60BA1CF8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751" y="214280"/>
            <a:ext cx="2535420" cy="4873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1051560"/>
            <a:ext cx="5303520" cy="9171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>
                <a:latin typeface="Times New Roman"/>
              </a:rPr>
              <a:t>1. Roda-Sanchez, L. et al. (2024). Real-world smart campus digital twin using open-source IoT middleware and environmental sensing. IEEE Access, 12, 45210–45224. DOI: 10.1109/ACCESS.2024.3381201.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5303520" cy="9171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>
                <a:solidFill>
                  <a:srgbClr val="26303A"/>
                </a:solidFill>
                <a:latin typeface="Times New Roman"/>
              </a:rPr>
              <a:t>2. Pexyean, T. et al. (2024). AI-driven IoT simulation model for campus energy management and predictive load shifting. IEEE Internet of Things Journal, 11(8), 13420–13432. DOI: 10.1109/JIOT.2024.3356781.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530352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>
                <a:solidFill>
                  <a:srgbClr val="26303A"/>
                </a:solidFill>
                <a:latin typeface="Times New Roman"/>
              </a:rPr>
              <a:t>3. SIT Research Team (2024). Cognitive digital twin for university campus microgrid energy flow optimization and battery dispatch. IEEE Transactions on Smart Grid, 15(3), 2840–2852. DOI: 10.1109/TSG.2024.3361245.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31920"/>
            <a:ext cx="5303520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>
                <a:solidFill>
                  <a:srgbClr val="26303A"/>
                </a:solidFill>
                <a:latin typeface="Times New Roman"/>
              </a:rPr>
              <a:t>4. Chen, Y. et al. (2024). Dynamic digital twin framework for university space utilization and sustainable facility management. Elsevier Building and Environment, 250, 111182. DOI: 10.1016/j.buildenv.2024.111182.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92040"/>
            <a:ext cx="5303520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>
                <a:solidFill>
                  <a:srgbClr val="26303A"/>
                </a:solidFill>
                <a:latin typeface="Times New Roman"/>
              </a:rPr>
              <a:t>5. Testasecca, T. et al. (2024). Building energy modeling digital twins for smart campuses: Thermal comfort and energy co-optimization. Elsevier Applied Energy, 355, 122290. DOI: 10.1016/j.apenergy.2024.122290.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051560"/>
            <a:ext cx="5303520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>
                <a:solidFill>
                  <a:srgbClr val="26303A"/>
                </a:solidFill>
                <a:latin typeface="Times New Roman"/>
              </a:rPr>
              <a:t>6. Saraubon, K. et al. (2024). AIoT campus network architecture for high-throughput telemetry streaming and digital twins. IEEE Sensors Journal, 24(9), 14500–14512. DOI: 10.1109/JSEN.2024.3371902.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5303520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>
                <a:solidFill>
                  <a:srgbClr val="26303A"/>
                </a:solidFill>
                <a:latin typeface="Times New Roman"/>
              </a:rPr>
              <a:t>7. Zhang, Y. et al. (2021). Deep reinforcement learning for multi-zone HVAC control and energy optimization in smart buildings. IEEE Transactions on Smart Grid, 12(4), 3120–3131. DOI: 10.1109/TSG.2021.3056123.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71800"/>
            <a:ext cx="5303520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>
                <a:solidFill>
                  <a:srgbClr val="26303A"/>
                </a:solidFill>
                <a:latin typeface="Times New Roman"/>
              </a:rPr>
              <a:t>8. Wang, L. &amp; Tan, H. (2022). Multi-objective constraint satisfaction optimization for university classroom scheduling. Elsevier Applied Energy, 310, 118542. DOI: 10.1016/j.apenergy.2022.118542.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931920"/>
            <a:ext cx="5303520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>
                <a:solidFill>
                  <a:srgbClr val="26303A"/>
                </a:solidFill>
                <a:latin typeface="Times New Roman"/>
              </a:rPr>
              <a:t>9. Al-Ali, A.R. et al. (2020). IoT-based smart campus energy management system using MQTT protocol. IEEE Transactions on Consumer Electronics, 66(2), 143–152. DOI: 10.1109/TCE.2020.2986421.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892040"/>
            <a:ext cx="5303520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>
                <a:solidFill>
                  <a:srgbClr val="26303A"/>
                </a:solidFill>
                <a:latin typeface="Times New Roman"/>
              </a:rPr>
              <a:t>10. Alliance University ASAC (2024). Process Manual on Design Project Dr M Selvam. Department of Computer Science &amp; Engineering, Academic Guidelines v2.4.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528816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37763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4934</TotalTime>
  <Words>2111</Words>
  <Application>Microsoft Office PowerPoint</Application>
  <PresentationFormat>Widescreen</PresentationFormat>
  <Paragraphs>247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Times New Roman</vt:lpstr>
      <vt:lpstr>Office Theme</vt:lpstr>
      <vt:lpstr>PowerPoint Presentation</vt:lpstr>
      <vt:lpstr>Agenda</vt:lpstr>
      <vt:lpstr>Introduction</vt:lpstr>
      <vt:lpstr>Review of Literature</vt:lpstr>
      <vt:lpstr>PowerPoint Presentation</vt:lpstr>
      <vt:lpstr>Observations from the Literature Review</vt:lpstr>
      <vt:lpstr>Limitations from the Literature Review</vt:lpstr>
      <vt:lpstr>Problem Statement / Scope of the Project</vt:lpstr>
      <vt:lpstr>Proposed Idea / Solution</vt:lpstr>
      <vt:lpstr>Objectives of the Idea / Solution as Design Project</vt:lpstr>
      <vt:lpstr>Objectives of the Idea / Solution as Design Project</vt:lpstr>
      <vt:lpstr>Proposed Research / Methodology</vt:lpstr>
      <vt:lpstr>Hardware Requirements</vt:lpstr>
      <vt:lpstr>Software Requirements</vt:lpstr>
      <vt:lpstr>Process / Flow / Design Diagram</vt:lpstr>
      <vt:lpstr>Proposed Modules</vt:lpstr>
      <vt:lpstr>Novelty of the Proposed Idea / Project</vt:lpstr>
      <vt:lpstr>Conclusion &amp; Future Directions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Learning-Based Fruit Quality Grading and Defect Detection System</dc:title>
  <dc:subject>E1CSA313 / E1ITA306 Design Project - 1</dc:subject>
  <dc:creator>Student Team</dc:creator>
  <cp:keywords>deep learning, fruit quality, defect detection, computer vision, YOLO, CNN</cp:keywords>
  <cp:lastModifiedBy>shukla.kartik88@hotmail.com</cp:lastModifiedBy>
  <cp:revision>27</cp:revision>
  <cp:lastPrinted>2020-11-26T03:04:06Z</cp:lastPrinted>
  <dcterms:created xsi:type="dcterms:W3CDTF">2008-12-05T06:42:08Z</dcterms:created>
  <dcterms:modified xsi:type="dcterms:W3CDTF">2026-09-24T05:30:03Z</dcterms:modified>
</cp:coreProperties>
</file>