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8" r:id="rId1"/>
  </p:sldMasterIdLst>
  <p:notesMasterIdLst>
    <p:notesMasterId r:id="rId24"/>
  </p:notesMasterIdLst>
  <p:handoutMasterIdLst>
    <p:handoutMasterId r:id="rId25"/>
  </p:handoutMasterIdLst>
  <p:sldIdLst>
    <p:sldId id="507" r:id="rId2"/>
    <p:sldId id="1027" r:id="rId3"/>
    <p:sldId id="1012" r:id="rId4"/>
    <p:sldId id="1013" r:id="rId5"/>
    <p:sldId id="1014" r:id="rId6"/>
    <p:sldId id="1015" r:id="rId7"/>
    <p:sldId id="1034" r:id="rId8"/>
    <p:sldId id="1036" r:id="rId9"/>
    <p:sldId id="1037" r:id="rId10"/>
    <p:sldId id="1011" r:id="rId11"/>
    <p:sldId id="1026" r:id="rId12"/>
    <p:sldId id="1033" r:id="rId13"/>
    <p:sldId id="1038" r:id="rId14"/>
    <p:sldId id="1039" r:id="rId15"/>
    <p:sldId id="1040" r:id="rId16"/>
    <p:sldId id="1044" r:id="rId17"/>
    <p:sldId id="1045" r:id="rId18"/>
    <p:sldId id="1041" r:id="rId19"/>
    <p:sldId id="1025" r:id="rId20"/>
    <p:sldId id="1042" r:id="rId21"/>
    <p:sldId id="1043" r:id="rId22"/>
    <p:sldId id="1035" r:id="rId2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of. Shekhar . R" initials="PS.R" lastIdx="1" clrIdx="0">
    <p:extLst>
      <p:ext uri="{19B8F6BF-5375-455C-9EA6-DF929625EA0E}">
        <p15:presenceInfo xmlns:p15="http://schemas.microsoft.com/office/powerpoint/2012/main" userId="S-1-5-21-1415727340-1540263038-2234542919-13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9CA663-1309-4ECF-9CD4-C8F48ECFF935}" v="48" dt="2026-09-09T09:42:55.997"/>
    <p1510:client id="{575C8504-258C-4612-97B9-120B5DE7B0D2}" v="3" dt="2026-09-09T10:42:31.757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microsoft.com/office/2016/11/relationships/changesInfo" Target="changesInfos/changesInfo1.xml"/><Relationship Id="rId3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Selvam" userId="d6d9795e-cb7f-4ca4-909c-a1909c828893" providerId="ADAL" clId="{77D21AA8-553F-4AB2-8C7F-3DF8ADADA90D}"/>
    <pc:docChg chg="undo custSel addSld delSld modSld">
      <pc:chgData name="M Selvam" userId="d6d9795e-cb7f-4ca4-909c-a1909c828893" providerId="ADAL" clId="{77D21AA8-553F-4AB2-8C7F-3DF8ADADA90D}" dt="2026-09-09T10:44:54.063" v="359" actId="47"/>
      <pc:docMkLst>
        <pc:docMk/>
      </pc:docMkLst>
      <pc:sldChg chg="addSp delSp modSp mod">
        <pc:chgData name="M Selvam" userId="d6d9795e-cb7f-4ca4-909c-a1909c828893" providerId="ADAL" clId="{77D21AA8-553F-4AB2-8C7F-3DF8ADADA90D}" dt="2026-09-09T09:43:21.943" v="173" actId="14100"/>
        <pc:sldMkLst>
          <pc:docMk/>
          <pc:sldMk cId="0" sldId="507"/>
        </pc:sldMkLst>
        <pc:spChg chg="mod">
          <ac:chgData name="M Selvam" userId="d6d9795e-cb7f-4ca4-909c-a1909c828893" providerId="ADAL" clId="{77D21AA8-553F-4AB2-8C7F-3DF8ADADA90D}" dt="2026-09-09T09:34:27.100" v="39" actId="20577"/>
          <ac:spMkLst>
            <pc:docMk/>
            <pc:sldMk cId="0" sldId="507"/>
            <ac:spMk id="6" creationId="{90112947-B9C2-2E92-2ED4-7AE86C45CC4F}"/>
          </ac:spMkLst>
        </pc:spChg>
        <pc:picChg chg="del">
          <ac:chgData name="M Selvam" userId="d6d9795e-cb7f-4ca4-909c-a1909c828893" providerId="ADAL" clId="{77D21AA8-553F-4AB2-8C7F-3DF8ADADA90D}" dt="2026-09-09T09:33:53.660" v="3" actId="478"/>
          <ac:picMkLst>
            <pc:docMk/>
            <pc:sldMk cId="0" sldId="507"/>
            <ac:picMk id="3" creationId="{D48BC6A5-F5D8-82C0-F28F-C70BA469D2CB}"/>
          </ac:picMkLst>
        </pc:picChg>
        <pc:picChg chg="add mod">
          <ac:chgData name="M Selvam" userId="d6d9795e-cb7f-4ca4-909c-a1909c828893" providerId="ADAL" clId="{77D21AA8-553F-4AB2-8C7F-3DF8ADADA90D}" dt="2026-09-09T09:43:21.943" v="173" actId="14100"/>
          <ac:picMkLst>
            <pc:docMk/>
            <pc:sldMk cId="0" sldId="507"/>
            <ac:picMk id="4" creationId="{9D471D20-F6B2-348C-6B60-AFE0319ECD25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39:26.485" v="105" actId="1076"/>
        <pc:sldMkLst>
          <pc:docMk/>
          <pc:sldMk cId="2311492942" sldId="1011"/>
        </pc:sldMkLst>
        <pc:picChg chg="del">
          <ac:chgData name="M Selvam" userId="d6d9795e-cb7f-4ca4-909c-a1909c828893" providerId="ADAL" clId="{77D21AA8-553F-4AB2-8C7F-3DF8ADADA90D}" dt="2026-09-09T09:39:16.829" v="101" actId="478"/>
          <ac:picMkLst>
            <pc:docMk/>
            <pc:sldMk cId="2311492942" sldId="1011"/>
            <ac:picMk id="4" creationId="{A4B4A364-138F-E303-4886-AF5B2A6A67C2}"/>
          </ac:picMkLst>
        </pc:picChg>
        <pc:picChg chg="add mod">
          <ac:chgData name="M Selvam" userId="d6d9795e-cb7f-4ca4-909c-a1909c828893" providerId="ADAL" clId="{77D21AA8-553F-4AB2-8C7F-3DF8ADADA90D}" dt="2026-09-09T09:39:26.485" v="105" actId="1076"/>
          <ac:picMkLst>
            <pc:docMk/>
            <pc:sldMk cId="2311492942" sldId="1011"/>
            <ac:picMk id="5" creationId="{E69172F0-DC24-A9DB-0F68-54E3881FD548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36.767" v="177" actId="14100"/>
        <pc:sldMkLst>
          <pc:docMk/>
          <pc:sldMk cId="3089745817" sldId="1012"/>
        </pc:sldMkLst>
        <pc:spChg chg="add del">
          <ac:chgData name="M Selvam" userId="d6d9795e-cb7f-4ca4-909c-a1909c828893" providerId="ADAL" clId="{77D21AA8-553F-4AB2-8C7F-3DF8ADADA90D}" dt="2026-09-09T09:35:25.635" v="51" actId="34307"/>
          <ac:spMkLst>
            <pc:docMk/>
            <pc:sldMk cId="3089745817" sldId="1012"/>
            <ac:spMk id="7" creationId="{3280A4A6-FE4E-5BD7-0D80-570328273E09}"/>
          </ac:spMkLst>
        </pc:spChg>
        <pc:picChg chg="add mod">
          <ac:chgData name="M Selvam" userId="d6d9795e-cb7f-4ca4-909c-a1909c828893" providerId="ADAL" clId="{77D21AA8-553F-4AB2-8C7F-3DF8ADADA90D}" dt="2026-09-09T09:43:36.767" v="177" actId="14100"/>
          <ac:picMkLst>
            <pc:docMk/>
            <pc:sldMk cId="3089745817" sldId="1012"/>
            <ac:picMk id="2" creationId="{D046E4DE-BCE0-C9B2-CDC2-1E28119D86A3}"/>
          </ac:picMkLst>
        </pc:picChg>
        <pc:picChg chg="del">
          <ac:chgData name="M Selvam" userId="d6d9795e-cb7f-4ca4-909c-a1909c828893" providerId="ADAL" clId="{77D21AA8-553F-4AB2-8C7F-3DF8ADADA90D}" dt="2026-09-09T09:35:05.819" v="47" actId="478"/>
          <ac:picMkLst>
            <pc:docMk/>
            <pc:sldMk cId="3089745817" sldId="1012"/>
            <ac:picMk id="4" creationId="{8F4E0918-9E46-2259-4003-1C1F5C38DCA1}"/>
          </ac:picMkLst>
        </pc:picChg>
        <pc:picChg chg="add del mod ord">
          <ac:chgData name="M Selvam" userId="d6d9795e-cb7f-4ca4-909c-a1909c828893" providerId="ADAL" clId="{77D21AA8-553F-4AB2-8C7F-3DF8ADADA90D}" dt="2026-09-09T09:35:25.635" v="51" actId="34307"/>
          <ac:picMkLst>
            <pc:docMk/>
            <pc:sldMk cId="3089745817" sldId="1012"/>
            <ac:picMk id="5" creationId="{E81362B5-B35C-A88A-ADEF-51E0186485C5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41.958" v="179" actId="14100"/>
        <pc:sldMkLst>
          <pc:docMk/>
          <pc:sldMk cId="95257650" sldId="1013"/>
        </pc:sldMkLst>
        <pc:picChg chg="del">
          <ac:chgData name="M Selvam" userId="d6d9795e-cb7f-4ca4-909c-a1909c828893" providerId="ADAL" clId="{77D21AA8-553F-4AB2-8C7F-3DF8ADADA90D}" dt="2026-09-09T09:35:33.573" v="52" actId="478"/>
          <ac:picMkLst>
            <pc:docMk/>
            <pc:sldMk cId="95257650" sldId="1013"/>
            <ac:picMk id="4" creationId="{2DC88E58-E75E-48AB-59FF-CADAC759042E}"/>
          </ac:picMkLst>
        </pc:picChg>
        <pc:picChg chg="add mod">
          <ac:chgData name="M Selvam" userId="d6d9795e-cb7f-4ca4-909c-a1909c828893" providerId="ADAL" clId="{77D21AA8-553F-4AB2-8C7F-3DF8ADADA90D}" dt="2026-09-09T09:43:41.958" v="179" actId="14100"/>
          <ac:picMkLst>
            <pc:docMk/>
            <pc:sldMk cId="95257650" sldId="1013"/>
            <ac:picMk id="5" creationId="{271B53F3-540A-8282-CDE9-91C7F1D75BFF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46.133" v="180" actId="14100"/>
        <pc:sldMkLst>
          <pc:docMk/>
          <pc:sldMk cId="2694801863" sldId="1014"/>
        </pc:sldMkLst>
        <pc:spChg chg="mod">
          <ac:chgData name="M Selvam" userId="d6d9795e-cb7f-4ca4-909c-a1909c828893" providerId="ADAL" clId="{77D21AA8-553F-4AB2-8C7F-3DF8ADADA90D}" dt="2026-09-09T09:36:44.870" v="68" actId="14100"/>
          <ac:spMkLst>
            <pc:docMk/>
            <pc:sldMk cId="2694801863" sldId="1014"/>
            <ac:spMk id="3" creationId="{39A6E23D-A5D8-BE38-914C-4697198F055E}"/>
          </ac:spMkLst>
        </pc:spChg>
        <pc:picChg chg="del mod">
          <ac:chgData name="M Selvam" userId="d6d9795e-cb7f-4ca4-909c-a1909c828893" providerId="ADAL" clId="{77D21AA8-553F-4AB2-8C7F-3DF8ADADA90D}" dt="2026-09-09T09:36:34.406" v="65" actId="478"/>
          <ac:picMkLst>
            <pc:docMk/>
            <pc:sldMk cId="2694801863" sldId="1014"/>
            <ac:picMk id="4" creationId="{3424A7D1-392B-981E-7690-910B416284B1}"/>
          </ac:picMkLst>
        </pc:picChg>
        <pc:picChg chg="add mod">
          <ac:chgData name="M Selvam" userId="d6d9795e-cb7f-4ca4-909c-a1909c828893" providerId="ADAL" clId="{77D21AA8-553F-4AB2-8C7F-3DF8ADADA90D}" dt="2026-09-09T09:43:46.133" v="180" actId="14100"/>
          <ac:picMkLst>
            <pc:docMk/>
            <pc:sldMk cId="2694801863" sldId="1014"/>
            <ac:picMk id="5" creationId="{47D2E993-E474-0C27-DF8A-10B6A433EC16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54.806" v="182" actId="14100"/>
        <pc:sldMkLst>
          <pc:docMk/>
          <pc:sldMk cId="695185364" sldId="1015"/>
        </pc:sldMkLst>
        <pc:spChg chg="mod">
          <ac:chgData name="M Selvam" userId="d6d9795e-cb7f-4ca4-909c-a1909c828893" providerId="ADAL" clId="{77D21AA8-553F-4AB2-8C7F-3DF8ADADA90D}" dt="2026-09-09T09:37:18.323" v="74" actId="14100"/>
          <ac:spMkLst>
            <pc:docMk/>
            <pc:sldMk cId="695185364" sldId="1015"/>
            <ac:spMk id="3" creationId="{BBD3710E-1FD6-A145-E602-76470D00842A}"/>
          </ac:spMkLst>
        </pc:spChg>
        <pc:picChg chg="del">
          <ac:chgData name="M Selvam" userId="d6d9795e-cb7f-4ca4-909c-a1909c828893" providerId="ADAL" clId="{77D21AA8-553F-4AB2-8C7F-3DF8ADADA90D}" dt="2026-09-09T09:37:08.910" v="72" actId="478"/>
          <ac:picMkLst>
            <pc:docMk/>
            <pc:sldMk cId="695185364" sldId="1015"/>
            <ac:picMk id="4" creationId="{1660B1F0-D8A2-D976-9BE1-AD077549641E}"/>
          </ac:picMkLst>
        </pc:picChg>
        <pc:picChg chg="add mod">
          <ac:chgData name="M Selvam" userId="d6d9795e-cb7f-4ca4-909c-a1909c828893" providerId="ADAL" clId="{77D21AA8-553F-4AB2-8C7F-3DF8ADADA90D}" dt="2026-09-09T09:43:54.806" v="182" actId="14100"/>
          <ac:picMkLst>
            <pc:docMk/>
            <pc:sldMk cId="695185364" sldId="1015"/>
            <ac:picMk id="5" creationId="{24488C9D-2D30-3125-69F0-8049573055B2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2:03.118" v="149" actId="14100"/>
        <pc:sldMkLst>
          <pc:docMk/>
          <pc:sldMk cId="3377631291" sldId="1025"/>
        </pc:sldMkLst>
        <pc:picChg chg="del">
          <ac:chgData name="M Selvam" userId="d6d9795e-cb7f-4ca4-909c-a1909c828893" providerId="ADAL" clId="{77D21AA8-553F-4AB2-8C7F-3DF8ADADA90D}" dt="2026-09-09T09:41:46.220" v="143" actId="478"/>
          <ac:picMkLst>
            <pc:docMk/>
            <pc:sldMk cId="3377631291" sldId="1025"/>
            <ac:picMk id="4" creationId="{530DEA0B-E191-D187-0E57-F98A779E2687}"/>
          </ac:picMkLst>
        </pc:picChg>
        <pc:picChg chg="add mod">
          <ac:chgData name="M Selvam" userId="d6d9795e-cb7f-4ca4-909c-a1909c828893" providerId="ADAL" clId="{77D21AA8-553F-4AB2-8C7F-3DF8ADADA90D}" dt="2026-09-09T09:42:03.118" v="149" actId="14100"/>
          <ac:picMkLst>
            <pc:docMk/>
            <pc:sldMk cId="3377631291" sldId="1025"/>
            <ac:picMk id="5" creationId="{9614CC03-5AC2-8C76-DAFE-BA60BA1CF8F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39:48.172" v="111" actId="1076"/>
        <pc:sldMkLst>
          <pc:docMk/>
          <pc:sldMk cId="1406624847" sldId="1026"/>
        </pc:sldMkLst>
        <pc:spChg chg="mod">
          <ac:chgData name="M Selvam" userId="d6d9795e-cb7f-4ca4-909c-a1909c828893" providerId="ADAL" clId="{77D21AA8-553F-4AB2-8C7F-3DF8ADADA90D}" dt="2026-09-09T09:39:35.588" v="107" actId="14100"/>
          <ac:spMkLst>
            <pc:docMk/>
            <pc:sldMk cId="1406624847" sldId="1026"/>
            <ac:spMk id="3" creationId="{E9FA628F-2ADF-3838-19A4-F5C7D3B047C6}"/>
          </ac:spMkLst>
        </pc:spChg>
        <pc:picChg chg="del">
          <ac:chgData name="M Selvam" userId="d6d9795e-cb7f-4ca4-909c-a1909c828893" providerId="ADAL" clId="{77D21AA8-553F-4AB2-8C7F-3DF8ADADA90D}" dt="2026-09-09T09:39:29.769" v="106" actId="478"/>
          <ac:picMkLst>
            <pc:docMk/>
            <pc:sldMk cId="1406624847" sldId="1026"/>
            <ac:picMk id="4" creationId="{71125AB7-5BA8-788F-021C-7F45B124B02D}"/>
          </ac:picMkLst>
        </pc:picChg>
        <pc:picChg chg="add mod">
          <ac:chgData name="M Selvam" userId="d6d9795e-cb7f-4ca4-909c-a1909c828893" providerId="ADAL" clId="{77D21AA8-553F-4AB2-8C7F-3DF8ADADA90D}" dt="2026-09-09T09:39:48.172" v="111" actId="1076"/>
          <ac:picMkLst>
            <pc:docMk/>
            <pc:sldMk cId="1406624847" sldId="1026"/>
            <ac:picMk id="5" creationId="{E315328B-2062-6B94-DEDE-8CFD1B404E8E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29.255" v="175" actId="1076"/>
        <pc:sldMkLst>
          <pc:docMk/>
          <pc:sldMk cId="2893977295" sldId="1027"/>
        </pc:sldMkLst>
        <pc:spChg chg="mod">
          <ac:chgData name="M Selvam" userId="d6d9795e-cb7f-4ca4-909c-a1909c828893" providerId="ADAL" clId="{77D21AA8-553F-4AB2-8C7F-3DF8ADADA90D}" dt="2026-09-09T09:36:12.511" v="63" actId="1076"/>
          <ac:spMkLst>
            <pc:docMk/>
            <pc:sldMk cId="2893977295" sldId="1027"/>
            <ac:spMk id="3" creationId="{68C7B745-FF8F-90D5-CAD4-FE7D38645D69}"/>
          </ac:spMkLst>
        </pc:spChg>
        <pc:spChg chg="add del mod">
          <ac:chgData name="M Selvam" userId="d6d9795e-cb7f-4ca4-909c-a1909c828893" providerId="ADAL" clId="{77D21AA8-553F-4AB2-8C7F-3DF8ADADA90D}" dt="2026-09-09T09:35:03.462" v="46"/>
          <ac:spMkLst>
            <pc:docMk/>
            <pc:sldMk cId="2893977295" sldId="1027"/>
            <ac:spMk id="6" creationId="{F1B3039F-7EA2-E227-9D02-F0E6BED42A64}"/>
          </ac:spMkLst>
        </pc:spChg>
        <pc:picChg chg="del">
          <ac:chgData name="M Selvam" userId="d6d9795e-cb7f-4ca4-909c-a1909c828893" providerId="ADAL" clId="{77D21AA8-553F-4AB2-8C7F-3DF8ADADA90D}" dt="2026-09-09T09:34:34.405" v="40" actId="478"/>
          <ac:picMkLst>
            <pc:docMk/>
            <pc:sldMk cId="2893977295" sldId="1027"/>
            <ac:picMk id="4" creationId="{E26EF467-3DED-5C3E-3710-75BDCDED7288}"/>
          </ac:picMkLst>
        </pc:picChg>
        <pc:picChg chg="add mod">
          <ac:chgData name="M Selvam" userId="d6d9795e-cb7f-4ca4-909c-a1909c828893" providerId="ADAL" clId="{77D21AA8-553F-4AB2-8C7F-3DF8ADADA90D}" dt="2026-09-09T09:43:29.255" v="175" actId="1076"/>
          <ac:picMkLst>
            <pc:docMk/>
            <pc:sldMk cId="2893977295" sldId="1027"/>
            <ac:picMk id="5" creationId="{81FBD98C-77FA-F4F3-D8D1-E351DADE67A3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24.793" v="188" actId="14100"/>
        <pc:sldMkLst>
          <pc:docMk/>
          <pc:sldMk cId="4197773981" sldId="1033"/>
        </pc:sldMkLst>
        <pc:picChg chg="del">
          <ac:chgData name="M Selvam" userId="d6d9795e-cb7f-4ca4-909c-a1909c828893" providerId="ADAL" clId="{77D21AA8-553F-4AB2-8C7F-3DF8ADADA90D}" dt="2026-09-09T09:39:52.545" v="112" actId="478"/>
          <ac:picMkLst>
            <pc:docMk/>
            <pc:sldMk cId="4197773981" sldId="1033"/>
            <ac:picMk id="4" creationId="{71125AB7-5BA8-788F-021C-7F45B124B02D}"/>
          </ac:picMkLst>
        </pc:picChg>
        <pc:picChg chg="add mod">
          <ac:chgData name="M Selvam" userId="d6d9795e-cb7f-4ca4-909c-a1909c828893" providerId="ADAL" clId="{77D21AA8-553F-4AB2-8C7F-3DF8ADADA90D}" dt="2026-09-09T09:44:24.793" v="188" actId="14100"/>
          <ac:picMkLst>
            <pc:docMk/>
            <pc:sldMk cId="4197773981" sldId="1033"/>
            <ac:picMk id="5" creationId="{09455320-2D9F-FA39-6651-A4D0ED124F51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00.668" v="184" actId="14100"/>
        <pc:sldMkLst>
          <pc:docMk/>
          <pc:sldMk cId="3239980978" sldId="1034"/>
        </pc:sldMkLst>
        <pc:spChg chg="mod">
          <ac:chgData name="M Selvam" userId="d6d9795e-cb7f-4ca4-909c-a1909c828893" providerId="ADAL" clId="{77D21AA8-553F-4AB2-8C7F-3DF8ADADA90D}" dt="2026-09-09T09:37:38.069" v="79" actId="14100"/>
          <ac:spMkLst>
            <pc:docMk/>
            <pc:sldMk cId="3239980978" sldId="1034"/>
            <ac:spMk id="3" creationId="{E0A18EB9-D0B2-3DF1-D33D-B8F4D4C25F3A}"/>
          </ac:spMkLst>
        </pc:spChg>
        <pc:picChg chg="del">
          <ac:chgData name="M Selvam" userId="d6d9795e-cb7f-4ca4-909c-a1909c828893" providerId="ADAL" clId="{77D21AA8-553F-4AB2-8C7F-3DF8ADADA90D}" dt="2026-09-09T09:37:33.516" v="78" actId="478"/>
          <ac:picMkLst>
            <pc:docMk/>
            <pc:sldMk cId="3239980978" sldId="1034"/>
            <ac:picMk id="4" creationId="{A4B4A364-138F-E303-4886-AF5B2A6A67C2}"/>
          </ac:picMkLst>
        </pc:picChg>
        <pc:picChg chg="add mod">
          <ac:chgData name="M Selvam" userId="d6d9795e-cb7f-4ca4-909c-a1909c828893" providerId="ADAL" clId="{77D21AA8-553F-4AB2-8C7F-3DF8ADADA90D}" dt="2026-09-09T09:44:00.668" v="184" actId="14100"/>
          <ac:picMkLst>
            <pc:docMk/>
            <pc:sldMk cId="3239980978" sldId="1034"/>
            <ac:picMk id="5" creationId="{C9FE1904-C542-AA1E-2C15-5A81417C962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06.414" v="169" actId="14100"/>
        <pc:sldMkLst>
          <pc:docMk/>
          <pc:sldMk cId="3059570066" sldId="1035"/>
        </pc:sldMkLst>
        <pc:spChg chg="mod">
          <ac:chgData name="M Selvam" userId="d6d9795e-cb7f-4ca4-909c-a1909c828893" providerId="ADAL" clId="{77D21AA8-553F-4AB2-8C7F-3DF8ADADA90D}" dt="2026-09-09T09:42:53.443" v="164" actId="14100"/>
          <ac:spMkLst>
            <pc:docMk/>
            <pc:sldMk cId="3059570066" sldId="1035"/>
            <ac:spMk id="3" creationId="{E9FA628F-2ADF-3838-19A4-F5C7D3B047C6}"/>
          </ac:spMkLst>
        </pc:spChg>
        <pc:picChg chg="del">
          <ac:chgData name="M Selvam" userId="d6d9795e-cb7f-4ca4-909c-a1909c828893" providerId="ADAL" clId="{77D21AA8-553F-4AB2-8C7F-3DF8ADADA90D}" dt="2026-09-09T09:42:48.747" v="163" actId="478"/>
          <ac:picMkLst>
            <pc:docMk/>
            <pc:sldMk cId="3059570066" sldId="1035"/>
            <ac:picMk id="4" creationId="{71125AB7-5BA8-788F-021C-7F45B124B02D}"/>
          </ac:picMkLst>
        </pc:picChg>
        <pc:picChg chg="add mod">
          <ac:chgData name="M Selvam" userId="d6d9795e-cb7f-4ca4-909c-a1909c828893" providerId="ADAL" clId="{77D21AA8-553F-4AB2-8C7F-3DF8ADADA90D}" dt="2026-09-09T09:43:06.414" v="169" actId="14100"/>
          <ac:picMkLst>
            <pc:docMk/>
            <pc:sldMk cId="3059570066" sldId="1035"/>
            <ac:picMk id="5" creationId="{EF45E307-6A9E-5159-8B35-ADF54C109682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08.883" v="186" actId="14100"/>
        <pc:sldMkLst>
          <pc:docMk/>
          <pc:sldMk cId="1532967047" sldId="1036"/>
        </pc:sldMkLst>
        <pc:picChg chg="del">
          <ac:chgData name="M Selvam" userId="d6d9795e-cb7f-4ca4-909c-a1909c828893" providerId="ADAL" clId="{77D21AA8-553F-4AB2-8C7F-3DF8ADADA90D}" dt="2026-09-09T09:38:20.900" v="86" actId="478"/>
          <ac:picMkLst>
            <pc:docMk/>
            <pc:sldMk cId="1532967047" sldId="1036"/>
            <ac:picMk id="4" creationId="{6F302A27-548C-EB9F-75AC-04869664022C}"/>
          </ac:picMkLst>
        </pc:picChg>
        <pc:picChg chg="add mod">
          <ac:chgData name="M Selvam" userId="d6d9795e-cb7f-4ca4-909c-a1909c828893" providerId="ADAL" clId="{77D21AA8-553F-4AB2-8C7F-3DF8ADADA90D}" dt="2026-09-09T09:44:08.883" v="186" actId="14100"/>
          <ac:picMkLst>
            <pc:docMk/>
            <pc:sldMk cId="1532967047" sldId="1036"/>
            <ac:picMk id="5" creationId="{8EAABE41-1A78-C313-15FA-4DAE2C1B936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13.574" v="187" actId="14100"/>
        <pc:sldMkLst>
          <pc:docMk/>
          <pc:sldMk cId="1613146428" sldId="1037"/>
        </pc:sldMkLst>
        <pc:spChg chg="add del">
          <ac:chgData name="M Selvam" userId="d6d9795e-cb7f-4ca4-909c-a1909c828893" providerId="ADAL" clId="{77D21AA8-553F-4AB2-8C7F-3DF8ADADA90D}" dt="2026-09-09T09:38:57.800" v="95"/>
          <ac:spMkLst>
            <pc:docMk/>
            <pc:sldMk cId="1613146428" sldId="1037"/>
            <ac:spMk id="2" creationId="{F5E6F616-BA4B-81FE-2F89-F371C90508B7}"/>
          </ac:spMkLst>
        </pc:spChg>
        <pc:spChg chg="mod">
          <ac:chgData name="M Selvam" userId="d6d9795e-cb7f-4ca4-909c-a1909c828893" providerId="ADAL" clId="{77D21AA8-553F-4AB2-8C7F-3DF8ADADA90D}" dt="2026-09-09T09:38:52.884" v="93" actId="14100"/>
          <ac:spMkLst>
            <pc:docMk/>
            <pc:sldMk cId="1613146428" sldId="1037"/>
            <ac:spMk id="3" creationId="{DF291E41-CF58-74B2-9E5F-75768CDC9158}"/>
          </ac:spMkLst>
        </pc:spChg>
        <pc:picChg chg="del mod">
          <ac:chgData name="M Selvam" userId="d6d9795e-cb7f-4ca4-909c-a1909c828893" providerId="ADAL" clId="{77D21AA8-553F-4AB2-8C7F-3DF8ADADA90D}" dt="2026-09-09T09:38:47.894" v="92" actId="478"/>
          <ac:picMkLst>
            <pc:docMk/>
            <pc:sldMk cId="1613146428" sldId="1037"/>
            <ac:picMk id="4" creationId="{C22FD9CF-9FEC-A241-0CC4-FD113EF594D4}"/>
          </ac:picMkLst>
        </pc:picChg>
        <pc:picChg chg="add mod">
          <ac:chgData name="M Selvam" userId="d6d9795e-cb7f-4ca4-909c-a1909c828893" providerId="ADAL" clId="{77D21AA8-553F-4AB2-8C7F-3DF8ADADA90D}" dt="2026-09-09T09:38:57.800" v="95"/>
          <ac:picMkLst>
            <pc:docMk/>
            <pc:sldMk cId="1613146428" sldId="1037"/>
            <ac:picMk id="5" creationId="{BB8AD62B-6EA9-E005-B618-9B63878987AA}"/>
          </ac:picMkLst>
        </pc:picChg>
        <pc:picChg chg="add mod">
          <ac:chgData name="M Selvam" userId="d6d9795e-cb7f-4ca4-909c-a1909c828893" providerId="ADAL" clId="{77D21AA8-553F-4AB2-8C7F-3DF8ADADA90D}" dt="2026-09-09T09:44:13.574" v="187" actId="14100"/>
          <ac:picMkLst>
            <pc:docMk/>
            <pc:sldMk cId="1613146428" sldId="1037"/>
            <ac:picMk id="6" creationId="{4321D194-BF7A-AFFD-A853-AAA15D97525B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0:22.150" v="122" actId="1076"/>
        <pc:sldMkLst>
          <pc:docMk/>
          <pc:sldMk cId="2661305800" sldId="1038"/>
        </pc:sldMkLst>
        <pc:picChg chg="del">
          <ac:chgData name="M Selvam" userId="d6d9795e-cb7f-4ca4-909c-a1909c828893" providerId="ADAL" clId="{77D21AA8-553F-4AB2-8C7F-3DF8ADADA90D}" dt="2026-09-09T09:40:10.567" v="118" actId="478"/>
          <ac:picMkLst>
            <pc:docMk/>
            <pc:sldMk cId="2661305800" sldId="1038"/>
            <ac:picMk id="4" creationId="{C5D421F7-34F6-B423-BD32-6AFD7732491C}"/>
          </ac:picMkLst>
        </pc:picChg>
        <pc:picChg chg="add mod">
          <ac:chgData name="M Selvam" userId="d6d9795e-cb7f-4ca4-909c-a1909c828893" providerId="ADAL" clId="{77D21AA8-553F-4AB2-8C7F-3DF8ADADA90D}" dt="2026-09-09T09:40:22.150" v="122" actId="1076"/>
          <ac:picMkLst>
            <pc:docMk/>
            <pc:sldMk cId="2661305800" sldId="1038"/>
            <ac:picMk id="5" creationId="{69E31CD9-0893-71CD-A52F-CE13AF034AA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1:00.577" v="129" actId="1076"/>
        <pc:sldMkLst>
          <pc:docMk/>
          <pc:sldMk cId="3151414207" sldId="1039"/>
        </pc:sldMkLst>
        <pc:spChg chg="mod">
          <ac:chgData name="M Selvam" userId="d6d9795e-cb7f-4ca4-909c-a1909c828893" providerId="ADAL" clId="{77D21AA8-553F-4AB2-8C7F-3DF8ADADA90D}" dt="2026-09-09T09:40:49.037" v="124" actId="14100"/>
          <ac:spMkLst>
            <pc:docMk/>
            <pc:sldMk cId="3151414207" sldId="1039"/>
            <ac:spMk id="3" creationId="{ED121F08-AD64-6706-BBF1-E99AD8E172AB}"/>
          </ac:spMkLst>
        </pc:spChg>
        <pc:picChg chg="del">
          <ac:chgData name="M Selvam" userId="d6d9795e-cb7f-4ca4-909c-a1909c828893" providerId="ADAL" clId="{77D21AA8-553F-4AB2-8C7F-3DF8ADADA90D}" dt="2026-09-09T09:40:40.759" v="123" actId="478"/>
          <ac:picMkLst>
            <pc:docMk/>
            <pc:sldMk cId="3151414207" sldId="1039"/>
            <ac:picMk id="4" creationId="{4B688A92-D094-DFA8-C37F-55F638A100ED}"/>
          </ac:picMkLst>
        </pc:picChg>
        <pc:picChg chg="add mod">
          <ac:chgData name="M Selvam" userId="d6d9795e-cb7f-4ca4-909c-a1909c828893" providerId="ADAL" clId="{77D21AA8-553F-4AB2-8C7F-3DF8ADADA90D}" dt="2026-09-09T09:41:00.577" v="129" actId="1076"/>
          <ac:picMkLst>
            <pc:docMk/>
            <pc:sldMk cId="3151414207" sldId="1039"/>
            <ac:picMk id="5" creationId="{5E41F741-6C92-DBA8-8287-DCADD1E7CA3D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1:21.724" v="136" actId="14100"/>
        <pc:sldMkLst>
          <pc:docMk/>
          <pc:sldMk cId="3424103010" sldId="1040"/>
        </pc:sldMkLst>
        <pc:picChg chg="del">
          <ac:chgData name="M Selvam" userId="d6d9795e-cb7f-4ca4-909c-a1909c828893" providerId="ADAL" clId="{77D21AA8-553F-4AB2-8C7F-3DF8ADADA90D}" dt="2026-09-09T09:41:05.040" v="130" actId="478"/>
          <ac:picMkLst>
            <pc:docMk/>
            <pc:sldMk cId="3424103010" sldId="1040"/>
            <ac:picMk id="4" creationId="{C4D81696-053B-0369-CCCB-94A69D7BFF89}"/>
          </ac:picMkLst>
        </pc:picChg>
        <pc:picChg chg="add mod">
          <ac:chgData name="M Selvam" userId="d6d9795e-cb7f-4ca4-909c-a1909c828893" providerId="ADAL" clId="{77D21AA8-553F-4AB2-8C7F-3DF8ADADA90D}" dt="2026-09-09T09:41:21.724" v="136" actId="14100"/>
          <ac:picMkLst>
            <pc:docMk/>
            <pc:sldMk cId="3424103010" sldId="1040"/>
            <ac:picMk id="5" creationId="{34E27D2C-6F90-7DF9-AB19-4F214FE76D09}"/>
          </ac:picMkLst>
        </pc:picChg>
      </pc:sldChg>
      <pc:sldChg chg="addSp delSp modSp mod">
        <pc:chgData name="M Selvam" userId="d6d9795e-cb7f-4ca4-909c-a1909c828893" providerId="ADAL" clId="{77D21AA8-553F-4AB2-8C7F-3DF8ADADA90D}" dt="2026-09-09T10:43:17.269" v="278" actId="20577"/>
        <pc:sldMkLst>
          <pc:docMk/>
          <pc:sldMk cId="4207118935" sldId="1041"/>
        </pc:sldMkLst>
        <pc:spChg chg="mod">
          <ac:chgData name="M Selvam" userId="d6d9795e-cb7f-4ca4-909c-a1909c828893" providerId="ADAL" clId="{77D21AA8-553F-4AB2-8C7F-3DF8ADADA90D}" dt="2026-09-09T10:43:17.269" v="278" actId="20577"/>
          <ac:spMkLst>
            <pc:docMk/>
            <pc:sldMk cId="4207118935" sldId="1041"/>
            <ac:spMk id="3" creationId="{69625804-55EE-9262-0513-B15AAAE3703A}"/>
          </ac:spMkLst>
        </pc:spChg>
        <pc:picChg chg="del">
          <ac:chgData name="M Selvam" userId="d6d9795e-cb7f-4ca4-909c-a1909c828893" providerId="ADAL" clId="{77D21AA8-553F-4AB2-8C7F-3DF8ADADA90D}" dt="2026-09-09T09:41:28.323" v="137" actId="478"/>
          <ac:picMkLst>
            <pc:docMk/>
            <pc:sldMk cId="4207118935" sldId="1041"/>
            <ac:picMk id="4" creationId="{C41EDFA5-D4F7-CF5E-05CA-F1D090EE9A81}"/>
          </ac:picMkLst>
        </pc:picChg>
        <pc:picChg chg="add mod">
          <ac:chgData name="M Selvam" userId="d6d9795e-cb7f-4ca4-909c-a1909c828893" providerId="ADAL" clId="{77D21AA8-553F-4AB2-8C7F-3DF8ADADA90D}" dt="2026-09-09T09:41:41.475" v="142" actId="14100"/>
          <ac:picMkLst>
            <pc:docMk/>
            <pc:sldMk cId="4207118935" sldId="1041"/>
            <ac:picMk id="5" creationId="{81A1E605-EF66-503F-9EFE-62349AAAD9CE}"/>
          </ac:picMkLst>
        </pc:picChg>
      </pc:sldChg>
      <pc:sldChg chg="addSp delSp modSp mod">
        <pc:chgData name="M Selvam" userId="d6d9795e-cb7f-4ca4-909c-a1909c828893" providerId="ADAL" clId="{77D21AA8-553F-4AB2-8C7F-3DF8ADADA90D}" dt="2026-09-09T10:44:26.372" v="334" actId="20577"/>
        <pc:sldMkLst>
          <pc:docMk/>
          <pc:sldMk cId="3059336372" sldId="1042"/>
        </pc:sldMkLst>
        <pc:spChg chg="mod">
          <ac:chgData name="M Selvam" userId="d6d9795e-cb7f-4ca4-909c-a1909c828893" providerId="ADAL" clId="{77D21AA8-553F-4AB2-8C7F-3DF8ADADA90D}" dt="2026-09-09T10:44:26.372" v="334" actId="20577"/>
          <ac:spMkLst>
            <pc:docMk/>
            <pc:sldMk cId="3059336372" sldId="1042"/>
            <ac:spMk id="3" creationId="{D11D1431-CBB1-2E8B-9D61-C266D7E354F4}"/>
          </ac:spMkLst>
        </pc:spChg>
        <pc:picChg chg="del">
          <ac:chgData name="M Selvam" userId="d6d9795e-cb7f-4ca4-909c-a1909c828893" providerId="ADAL" clId="{77D21AA8-553F-4AB2-8C7F-3DF8ADADA90D}" dt="2026-09-09T09:42:08.347" v="150" actId="478"/>
          <ac:picMkLst>
            <pc:docMk/>
            <pc:sldMk cId="3059336372" sldId="1042"/>
            <ac:picMk id="4" creationId="{B7BACBCA-7175-4B4F-1E27-85287EF57161}"/>
          </ac:picMkLst>
        </pc:picChg>
        <pc:picChg chg="add mod">
          <ac:chgData name="M Selvam" userId="d6d9795e-cb7f-4ca4-909c-a1909c828893" providerId="ADAL" clId="{77D21AA8-553F-4AB2-8C7F-3DF8ADADA90D}" dt="2026-09-09T09:42:19.030" v="154" actId="1076"/>
          <ac:picMkLst>
            <pc:docMk/>
            <pc:sldMk cId="3059336372" sldId="1042"/>
            <ac:picMk id="5" creationId="{EC9D29C0-805E-09D5-FBBC-105D2D7A27FA}"/>
          </ac:picMkLst>
        </pc:picChg>
      </pc:sldChg>
      <pc:sldChg chg="addSp delSp modSp mod">
        <pc:chgData name="M Selvam" userId="d6d9795e-cb7f-4ca4-909c-a1909c828893" providerId="ADAL" clId="{77D21AA8-553F-4AB2-8C7F-3DF8ADADA90D}" dt="2026-09-09T10:44:44.818" v="358" actId="20577"/>
        <pc:sldMkLst>
          <pc:docMk/>
          <pc:sldMk cId="2649194420" sldId="1043"/>
        </pc:sldMkLst>
        <pc:spChg chg="mod">
          <ac:chgData name="M Selvam" userId="d6d9795e-cb7f-4ca4-909c-a1909c828893" providerId="ADAL" clId="{77D21AA8-553F-4AB2-8C7F-3DF8ADADA90D}" dt="2026-09-09T10:44:44.818" v="358" actId="20577"/>
          <ac:spMkLst>
            <pc:docMk/>
            <pc:sldMk cId="2649194420" sldId="1043"/>
            <ac:spMk id="3" creationId="{BFD1F075-A6AF-DC0E-0383-CB3781E97989}"/>
          </ac:spMkLst>
        </pc:spChg>
        <pc:picChg chg="del">
          <ac:chgData name="M Selvam" userId="d6d9795e-cb7f-4ca4-909c-a1909c828893" providerId="ADAL" clId="{77D21AA8-553F-4AB2-8C7F-3DF8ADADA90D}" dt="2026-09-09T09:42:22.604" v="155" actId="478"/>
          <ac:picMkLst>
            <pc:docMk/>
            <pc:sldMk cId="2649194420" sldId="1043"/>
            <ac:picMk id="4" creationId="{18FD9FB3-6EC2-DEB2-9BE4-5349E73E5C4A}"/>
          </ac:picMkLst>
        </pc:picChg>
        <pc:picChg chg="add mod">
          <ac:chgData name="M Selvam" userId="d6d9795e-cb7f-4ca4-909c-a1909c828893" providerId="ADAL" clId="{77D21AA8-553F-4AB2-8C7F-3DF8ADADA90D}" dt="2026-09-09T09:42:42.897" v="162" actId="14100"/>
          <ac:picMkLst>
            <pc:docMk/>
            <pc:sldMk cId="2649194420" sldId="1043"/>
            <ac:picMk id="5" creationId="{CD3C8A54-DB36-4EFB-9F5E-BC062E18F093}"/>
          </ac:picMkLst>
        </pc:picChg>
      </pc:sldChg>
      <pc:sldChg chg="modSp add mod">
        <pc:chgData name="M Selvam" userId="d6d9795e-cb7f-4ca4-909c-a1909c828893" providerId="ADAL" clId="{77D21AA8-553F-4AB2-8C7F-3DF8ADADA90D}" dt="2026-09-09T10:42:46.846" v="218" actId="20577"/>
        <pc:sldMkLst>
          <pc:docMk/>
          <pc:sldMk cId="2150593120" sldId="1044"/>
        </pc:sldMkLst>
        <pc:spChg chg="mod">
          <ac:chgData name="M Selvam" userId="d6d9795e-cb7f-4ca4-909c-a1909c828893" providerId="ADAL" clId="{77D21AA8-553F-4AB2-8C7F-3DF8ADADA90D}" dt="2026-09-09T10:42:46.846" v="218" actId="20577"/>
          <ac:spMkLst>
            <pc:docMk/>
            <pc:sldMk cId="2150593120" sldId="1044"/>
            <ac:spMk id="3" creationId="{A32D421F-1615-2669-0698-211111DAE13D}"/>
          </ac:spMkLst>
        </pc:spChg>
      </pc:sldChg>
      <pc:sldChg chg="modSp add mod">
        <pc:chgData name="M Selvam" userId="d6d9795e-cb7f-4ca4-909c-a1909c828893" providerId="ADAL" clId="{77D21AA8-553F-4AB2-8C7F-3DF8ADADA90D}" dt="2026-09-09T10:43:04.298" v="256" actId="20577"/>
        <pc:sldMkLst>
          <pc:docMk/>
          <pc:sldMk cId="3967463539" sldId="1045"/>
        </pc:sldMkLst>
        <pc:spChg chg="mod">
          <ac:chgData name="M Selvam" userId="d6d9795e-cb7f-4ca4-909c-a1909c828893" providerId="ADAL" clId="{77D21AA8-553F-4AB2-8C7F-3DF8ADADA90D}" dt="2026-09-09T10:43:04.298" v="256" actId="20577"/>
          <ac:spMkLst>
            <pc:docMk/>
            <pc:sldMk cId="3967463539" sldId="1045"/>
            <ac:spMk id="3" creationId="{64961CD4-3E10-98EF-AD19-1669748F6FCB}"/>
          </ac:spMkLst>
        </pc:spChg>
      </pc:sldChg>
      <pc:sldChg chg="add del">
        <pc:chgData name="M Selvam" userId="d6d9795e-cb7f-4ca4-909c-a1909c828893" providerId="ADAL" clId="{77D21AA8-553F-4AB2-8C7F-3DF8ADADA90D}" dt="2026-09-09T10:44:54.063" v="359" actId="47"/>
        <pc:sldMkLst>
          <pc:docMk/>
          <pc:sldMk cId="2190406105" sldId="1046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F2378-E9BC-4DF3-B317-060928E4E621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D99B9-BA06-4A87-B300-D8D5C0E3ED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4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A7B44CD-007F-4479-9F76-504AB024A03E}" type="datetimeFigureOut">
              <a:rPr lang="en-US"/>
              <a:pPr>
                <a:defRPr/>
              </a:pPr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4853D3-BCEF-4909-916C-A78958746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57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9331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56356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472" y="655320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FD4C6-48AB-4634-9A0B-834BD7BA5A0C}" type="slidenum">
              <a:rPr lang="en-IN" sz="1200" smtClean="0">
                <a:latin typeface="+mn-lt"/>
              </a:rPr>
              <a:pPr algn="r"/>
              <a:t>‹#›</a:t>
            </a:fld>
            <a:endParaRPr lang="en-IN" sz="120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4" r:id="rId3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ieee8023/covid-chestxray-datase" TargetMode="Externa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90112947-B9C2-2E92-2ED4-7AE86C45C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0808" y="1913534"/>
            <a:ext cx="8534400" cy="455599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defRPr sz="1300" b="1" i="0">
                <a:solidFill>
                  <a:srgbClr val="003366"/>
                </a:solidFill>
                <a:latin typeface="Arial"/>
              </a:defRPr>
            </a:pPr>
            <a:r>
              <a:t>Design Project - I (E1CSA313 / 5CS1990) · Batch: DP1-24-28-CSE-GEN-L-01</a:t>
            </a:r>
          </a:p>
          <a:p>
            <a:pPr>
              <a:defRPr sz="1200" b="0" i="0">
                <a:solidFill>
                  <a:srgbClr val="505050"/>
                </a:solidFill>
                <a:latin typeface="Arial"/>
              </a:defRPr>
            </a:pPr>
            <a:r>
              <a:t>Alliance School of Advanced Computing (ASAC) · Department of CSE</a:t>
            </a:r>
            <a:br/>
          </a:p>
          <a:p>
            <a:pPr>
              <a:defRPr sz="1200" b="1" i="0">
                <a:solidFill>
                  <a:srgbClr val="141414"/>
                </a:solidFill>
                <a:latin typeface="Arial"/>
              </a:defRPr>
            </a:pPr>
            <a:r>
              <a:t>Team Members (Semester V - Section L):</a:t>
            </a:r>
          </a:p>
          <a:p>
            <a:pPr>
              <a:defRPr sz="1150" b="0" i="0">
                <a:solidFill>
                  <a:srgbClr val="282828"/>
                </a:solidFill>
                <a:latin typeface="Arial"/>
              </a:defRPr>
            </a:pPr>
            <a:r>
              <a:t>1. Likith S (2411021061437) - Team Leader (Architecture &amp; WebGL)</a:t>
            </a:r>
          </a:p>
          <a:p>
            <a:pPr>
              <a:defRPr sz="1150" b="0" i="0">
                <a:solidFill>
                  <a:srgbClr val="282828"/>
                </a:solidFill>
                <a:latin typeface="Arial"/>
              </a:defRPr>
            </a:pPr>
            <a:r>
              <a:t>2. Vinodkumar (2411021061425) - Microgrid &amp; Energy Routing</a:t>
            </a:r>
          </a:p>
          <a:p>
            <a:pPr>
              <a:defRPr sz="1150" b="0" i="0">
                <a:solidFill>
                  <a:srgbClr val="282828"/>
                </a:solidFill>
                <a:latin typeface="Arial"/>
              </a:defRPr>
            </a:pPr>
            <a:r>
              <a:t>3. Nikhil kumar V (2411021061427) - IoT Telemetry &amp; Literature</a:t>
            </a:r>
          </a:p>
          <a:p>
            <a:pPr>
              <a:defRPr sz="1150" b="0" i="0">
                <a:solidFill>
                  <a:srgbClr val="282828"/>
                </a:solidFill>
                <a:latin typeface="Arial"/>
              </a:defRPr>
            </a:pPr>
            <a:r>
              <a:t>4. Kalyan kumar T (2411021061421) - Space Intelligence &amp; Actuation</a:t>
            </a:r>
          </a:p>
          <a:p>
            <a:br/>
            <a:pPr>
              <a:defRPr sz="1200" b="1" i="0">
                <a:solidFill>
                  <a:srgbClr val="003366"/>
                </a:solidFill>
                <a:latin typeface="Arial"/>
              </a:defRPr>
            </a:pPr>
            <a:r>
              <a:t>Faculty Mentor: Dr. Ganga Holi / Faculty Mentor (ASAC CSE)</a:t>
            </a:r>
          </a:p>
        </p:txBody>
      </p:sp>
      <p:sp>
        <p:nvSpPr>
          <p:cNvPr id="2" name="Subtitle 5">
            <a:extLst>
              <a:ext uri="{FF2B5EF4-FFF2-40B4-BE49-F238E27FC236}">
                <a16:creationId xmlns:a16="http://schemas.microsoft.com/office/drawing/2014/main" id="{27730FEB-39A4-55AF-1A5E-7D14BEA4EF64}"/>
              </a:ext>
            </a:extLst>
          </p:cNvPr>
          <p:cNvSpPr txBox="1">
            <a:spLocks/>
          </p:cNvSpPr>
          <p:nvPr/>
        </p:nvSpPr>
        <p:spPr>
          <a:xfrm>
            <a:off x="1234008" y="784718"/>
            <a:ext cx="6346663" cy="7491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1" i="0">
                <a:solidFill>
                  <a:srgbClr val="0A1E50"/>
                </a:solidFill>
                <a:latin typeface="Arial"/>
              </a:defRPr>
            </a:pPr>
            <a:r>
              <a:t>Alliance University Smart Campus Digital Twin</a:t>
            </a:r>
          </a:p>
          <a:p/>
          <a:p>
            <a:pPr>
              <a:defRPr sz="1600" b="0" i="1">
                <a:solidFill>
                  <a:srgbClr val="32508C"/>
                </a:solidFill>
                <a:latin typeface="Arial"/>
              </a:defRPr>
            </a:pPr>
            <a:r>
              <a:t>A Cyber-Physical Spatial Intelligence &amp; Microgrid Optimization Platform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471D20-F6B2-348C-6B60-AFE0319EC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55" y="153857"/>
            <a:ext cx="3125501" cy="6308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037F-BF3C-25A0-59D8-5919CD38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F4E8D8-8E72-3C38-A5E9-E80E419F8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79483"/>
            <a:ext cx="11175032" cy="6262595"/>
          </a:xfrm>
        </p:spPr>
        <p:txBody>
          <a:bodyPr>
            <a:noAutofit/>
          </a:bodyPr>
          <a:lstStyle/>
          <a:p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41414"/>
                </a:solidFill>
                <a:latin typeface="Arial"/>
              </a:rPr>
              <a:t>1. Project Introduction: </a:t>
            </a:r>
            <a:r>
              <a:rPr b="0" sz="1150">
                <a:solidFill>
                  <a:srgbClr val="323232"/>
                </a:solidFill>
                <a:latin typeface="Arial"/>
              </a:rPr>
              <a:t>Campus Operational Challenges &amp; Vision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41414"/>
                </a:solidFill>
                <a:latin typeface="Arial"/>
              </a:rPr>
              <a:t>2. Literature Review: </a:t>
            </a:r>
            <a:r>
              <a:rPr b="0" sz="1150">
                <a:solidFill>
                  <a:srgbClr val="323232"/>
                </a:solidFill>
                <a:latin typeface="Arial"/>
              </a:rPr>
              <a:t>Synthesis of 2024–2026 IEEE/Scopus Research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41414"/>
                </a:solidFill>
                <a:latin typeface="Arial"/>
              </a:rPr>
              <a:t>3. Critical Gap Analysis: </a:t>
            </a:r>
            <a:r>
              <a:rPr b="0" sz="1150">
                <a:solidFill>
                  <a:srgbClr val="323232"/>
                </a:solidFill>
                <a:latin typeface="Arial"/>
              </a:rPr>
              <a:t>Spatial vs Microgrid Decoupling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41414"/>
                </a:solidFill>
                <a:latin typeface="Arial"/>
              </a:rPr>
              <a:t>4. Problem Definition &amp; Scope: </a:t>
            </a:r>
            <a:r>
              <a:rPr b="0" sz="1150">
                <a:solidFill>
                  <a:srgbClr val="323232"/>
                </a:solidFill>
                <a:latin typeface="Arial"/>
              </a:rPr>
              <a:t>60-Acre Alliance Central Campus Grounding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41414"/>
                </a:solidFill>
                <a:latin typeface="Arial"/>
              </a:rPr>
              <a:t>5. Measurable Objectives: </a:t>
            </a:r>
            <a:r>
              <a:rPr b="0" sz="1150">
                <a:solidFill>
                  <a:srgbClr val="323232"/>
                </a:solidFill>
                <a:latin typeface="Arial"/>
              </a:rPr>
              <a:t>5 SMART Engineering Milestones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41414"/>
                </a:solidFill>
                <a:latin typeface="Arial"/>
              </a:rPr>
              <a:t>6. System Architecture &amp; Methodology: </a:t>
            </a:r>
            <a:r>
              <a:rPr b="0" sz="1150">
                <a:solidFill>
                  <a:srgbClr val="323232"/>
                </a:solidFill>
                <a:latin typeface="Arial"/>
              </a:rPr>
              <a:t>Cyber-Physical Multitier Pipeline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41414"/>
                </a:solidFill>
                <a:latin typeface="Arial"/>
              </a:rPr>
              <a:t>7. Hardware &amp; Software Requirements: </a:t>
            </a:r>
            <a:r>
              <a:rPr b="0" sz="1150">
                <a:solidFill>
                  <a:srgbClr val="323232"/>
                </a:solidFill>
                <a:latin typeface="Arial"/>
              </a:rPr>
              <a:t>IoT Beacons, React 19, Three.js &amp; Blender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41414"/>
                </a:solidFill>
                <a:latin typeface="Arial"/>
              </a:rPr>
              <a:t>8. Proposed Modules &amp; Ownership: </a:t>
            </a:r>
            <a:r>
              <a:rPr b="0" sz="1150">
                <a:solidFill>
                  <a:srgbClr val="323232"/>
                </a:solidFill>
                <a:latin typeface="Arial"/>
              </a:rPr>
              <a:t>Individual Team Member Work Breakdown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41414"/>
                </a:solidFill>
                <a:latin typeface="Arial"/>
              </a:rPr>
              <a:t>9. Novelty &amp; Technical Innovation: </a:t>
            </a:r>
            <a:r>
              <a:rPr b="0" sz="1150">
                <a:solidFill>
                  <a:srgbClr val="323232"/>
                </a:solidFill>
                <a:latin typeface="Arial"/>
              </a:rPr>
              <a:t>Headless 3D Pipeline &amp; Sub-Second Hydration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41414"/>
                </a:solidFill>
                <a:latin typeface="Arial"/>
              </a:rPr>
              <a:t>10. Experimentation &amp; Live Results: </a:t>
            </a:r>
            <a:r>
              <a:rPr b="0" sz="1150">
                <a:solidFill>
                  <a:srgbClr val="323232"/>
                </a:solidFill>
                <a:latin typeface="Arial"/>
              </a:rPr>
              <a:t>60 FPS WebGL Demo &amp; 18.4% Peak Shaving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41414"/>
                </a:solidFill>
                <a:latin typeface="Arial"/>
              </a:rPr>
              <a:t>11. Implementation &amp; Code Artifacts: </a:t>
            </a:r>
            <a:r>
              <a:rPr b="0" sz="1150">
                <a:solidFill>
                  <a:srgbClr val="323232"/>
                </a:solidFill>
                <a:latin typeface="Arial"/>
              </a:rPr>
              <a:t>Vercel Production Deployment &amp; GitHub Assets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41414"/>
                </a:solidFill>
                <a:latin typeface="Arial"/>
              </a:rPr>
              <a:t>12. Publication Plan &amp; Academic Integrity: </a:t>
            </a:r>
            <a:r>
              <a:rPr b="0" sz="1150">
                <a:solidFill>
                  <a:srgbClr val="323232"/>
                </a:solidFill>
                <a:latin typeface="Arial"/>
              </a:rPr>
              <a:t>IEEE Conference Submission &amp; Plagiarism Check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C7B745-FF8F-90D5-CAD4-FE7D3864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882" y="171803"/>
            <a:ext cx="6180944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BD98C-77FA-F4F3-D8D1-E351DADE6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275" y="297702"/>
            <a:ext cx="3210257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7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E9103-52C6-689F-10D5-B7A7B553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386010-7A55-512E-9ACA-BAA4168A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80A4A6-FE4E-5BD7-0D80-570328273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4745"/>
            <a:ext cx="10972800" cy="5320300"/>
          </a:xfrm>
        </p:spPr>
        <p:txBody>
          <a:bodyPr vert="horz" lIns="91440" tIns="45720" rIns="91440" bIns="45720" rtlCol="0" anchor="t">
            <a:normAutofit/>
          </a:bodyPr>
          <a:lstStyle/>
          <a:p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Macro-Campus Scale: </a:t>
            </a:r>
            <a:r>
              <a:rPr b="0" sz="1250">
                <a:solidFill>
                  <a:srgbClr val="323232"/>
                </a:solidFill>
                <a:latin typeface="Arial"/>
              </a:rPr>
              <a:t>Alliance University Central Campus (Anekal, Bengaluru: 12.845° N, 77.684° E) encompasses high-density academic, residential, and sports infrastructure requiring proactive operational intelligence.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Operational Opacity: </a:t>
            </a:r>
            <a:r>
              <a:rPr b="0" sz="1250">
                <a:solidFill>
                  <a:srgbClr val="323232"/>
                </a:solidFill>
                <a:latin typeface="Arial"/>
              </a:rPr>
              <a:t>Conventional Building Management Systems (BMS) rely on isolated, tabular dashboards with zero intuitive 3D spatial awareness, causing diagnostic delays during localized thermal or electrical anomalies.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Microgrid Imbalance: </a:t>
            </a:r>
            <a:r>
              <a:rPr b="0" sz="1250">
                <a:solidFill>
                  <a:srgbClr val="323232"/>
                </a:solidFill>
                <a:latin typeface="Arial"/>
              </a:rPr>
              <a:t>Campus baseline chiller load surges to 380–420 kW during peak instructional hours; rooftop solar PV fluctuates heavily, incurring severe commercial peak grid demand penalties.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Pervasive Ghost Bookings: </a:t>
            </a:r>
            <a:r>
              <a:rPr b="0" sz="1250">
                <a:solidFill>
                  <a:srgbClr val="323232"/>
                </a:solidFill>
                <a:latin typeface="Arial"/>
              </a:rPr>
              <a:t>Lecture halls and laboratories remain conditioned and illuminated while unoccupied due to scheduling discrepancies, inflating institutional carbon footprints.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The Engineering Solution: </a:t>
            </a:r>
            <a:r>
              <a:rPr b="0" sz="1250">
                <a:solidFill>
                  <a:srgbClr val="323232"/>
                </a:solidFill>
                <a:latin typeface="Arial"/>
              </a:rPr>
              <a:t>Engineered an open-standards, browser-accessible cyber-physical digital twin that unifies 3D spatial graphics, 1,000+ IoT sensor streams, and predictive microgrid balancing into one console.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46E4DE-BCE0-C9B2-CDC2-1E28119D8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56" y="134859"/>
            <a:ext cx="3184992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4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B03B4-DE94-29CC-B902-989E20834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E99C9E-6A0E-333F-5A49-29CB3CF69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0844F9-8385-782E-0B9C-345478913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378642"/>
              </p:ext>
            </p:extLst>
          </p:nvPr>
        </p:nvGraphicFramePr>
        <p:xfrm>
          <a:off x="427703" y="1135626"/>
          <a:ext cx="11356929" cy="489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a16:colId xmlns:a16="http://schemas.microsoft.com/office/drawing/2014/main" val="3476363090"/>
                    </a:ext>
                  </a:extLst>
                </a:gridCol>
                <a:gridCol w="2580968">
                  <a:extLst>
                    <a:ext uri="{9D8B030D-6E8A-4147-A177-3AD203B41FA5}">
                      <a16:colId xmlns:a16="http://schemas.microsoft.com/office/drawing/2014/main" val="3690190586"/>
                    </a:ext>
                  </a:extLst>
                </a:gridCol>
                <a:gridCol w="2249940">
                  <a:extLst>
                    <a:ext uri="{9D8B030D-6E8A-4147-A177-3AD203B41FA5}">
                      <a16:colId xmlns:a16="http://schemas.microsoft.com/office/drawing/2014/main" val="363996245"/>
                    </a:ext>
                  </a:extLst>
                </a:gridCol>
                <a:gridCol w="1837749">
                  <a:extLst>
                    <a:ext uri="{9D8B030D-6E8A-4147-A177-3AD203B41FA5}">
                      <a16:colId xmlns:a16="http://schemas.microsoft.com/office/drawing/2014/main" val="3098826648"/>
                    </a:ext>
                  </a:extLst>
                </a:gridCol>
                <a:gridCol w="2024287">
                  <a:extLst>
                    <a:ext uri="{9D8B030D-6E8A-4147-A177-3AD203B41FA5}">
                      <a16:colId xmlns:a16="http://schemas.microsoft.com/office/drawing/2014/main" val="646655925"/>
                    </a:ext>
                  </a:extLst>
                </a:gridCol>
                <a:gridCol w="1956062">
                  <a:extLst>
                    <a:ext uri="{9D8B030D-6E8A-4147-A177-3AD203B41FA5}">
                      <a16:colId xmlns:a16="http://schemas.microsoft.com/office/drawing/2014/main" val="923233871"/>
                    </a:ext>
                  </a:extLst>
                </a:gridCol>
              </a:tblGrid>
              <a:tr h="10870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S.No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Name, Journal, Publication Year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Research/ Methodology 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9117193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Roda-Sanchez et al.</a:t>
                      </a:r>
                    </a:p>
                    <a:p>
                      <a:pPr algn="l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IEEE IoT J.,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FIWARE IoT middleware &amp; web telemetry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Sub-second sensor ingestion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High backend ingestion 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Static 3D UI; decoupled from microgrid optimization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6337169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Pexyean et al.</a:t>
                      </a:r>
                    </a:p>
                    <a:p>
                      <a:pPr algn="l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IEEE RI2C,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AI regression &amp; energy twin simulation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12% simulated energy 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Predictive load simulation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High compute footprint; no real-time 3D user actuation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659148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SIT Microgrid Group</a:t>
                      </a:r>
                    </a:p>
                    <a:p>
                      <a:pPr algn="l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IEEE Internet Comp.,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Cognitive digital twin for campus microgrid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15% peak grid shaving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Intelligent BESS battery dispatch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Purely electrical substation view; zero 3D campus spatial context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51593235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Chen, Martinez, et al.</a:t>
                      </a:r>
                    </a:p>
                    <a:p>
                      <a:pPr algn="l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IEEE ANDESCON,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BIM + GIS campus facility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Spatial asset overlay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Accurate physical geometry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82828"/>
                          </a:solidFill>
                          <a:latin typeface="Arial"/>
                        </a:rPr>
                        <a:t>Mandates heavy proprietary BIM software; inaccessible via web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7264466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71B53F3-540A-8282-CDE9-91C7F1D75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7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A0046-BF80-C7AC-4092-5F6B766C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4006D7-2A1D-A4B2-63D6-92A249697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59263"/>
            <a:ext cx="11173961" cy="5400599"/>
          </a:xfrm>
        </p:spPr>
        <p:txBody>
          <a:bodyPr vert="horz" lIns="91440" tIns="45720" rIns="91440" bIns="45720" rtlCol="0" anchor="t">
            <a:normAutofit/>
          </a:bodyPr>
          <a:lstStyle/>
          <a:p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1. Macro-Scale Evolution: </a:t>
            </a:r>
            <a:r>
              <a:rPr b="0" sz="1250">
                <a:solidFill>
                  <a:srgbClr val="323232"/>
                </a:solidFill>
                <a:latin typeface="Arial"/>
              </a:rPr>
              <a:t>Campus digital twin research (2024–2026) has shifted from single-equipment industrial modeling to multi-building macro-campus spatial management.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2. Sensor Telemetry Primacy: </a:t>
            </a:r>
            <a:r>
              <a:rPr b="0" sz="1250">
                <a:solidFill>
                  <a:srgbClr val="323232"/>
                </a:solidFill>
                <a:latin typeface="Arial"/>
              </a:rPr>
              <a:t>Continuous streaming from environmental and electrical IoT nodes is critical to capture transient anomalies in building thermal mass and dynamic occupancy.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3. Microgrid Economic Value: </a:t>
            </a:r>
            <a:r>
              <a:rPr b="0" sz="1250">
                <a:solidFill>
                  <a:srgbClr val="323232"/>
                </a:solidFill>
                <a:latin typeface="Arial"/>
              </a:rPr>
              <a:t>Academic institutions deploying rooftop solar PV combined with Battery Energy Storage Systems (BESS) require algorithmic load forecasting to prevent peak utility penalties.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4. Web-First Paradigm Shift: </a:t>
            </a:r>
            <a:r>
              <a:rPr b="0" sz="1250">
                <a:solidFill>
                  <a:srgbClr val="323232"/>
                </a:solidFill>
                <a:latin typeface="Arial"/>
              </a:rPr>
              <a:t>Lightweight WebGL pipelines (Three.js/glTF) are rapidly replacing proprietary desktop CAD/BIM engines, enabling ubiquitous browser access on standard consumer hardware.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5. Closed-Loop Actuation: </a:t>
            </a:r>
            <a:r>
              <a:rPr b="0" sz="1250">
                <a:solidFill>
                  <a:srgbClr val="323232"/>
                </a:solidFill>
                <a:latin typeface="Arial"/>
              </a:rPr>
              <a:t>Moving beyond passive monitoring to closed-loop autonomous actuation (automated chiller setbacks and ghost-booking reclamation) yields measurable ROI.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A6E23D-A5D8-BE38-914C-4697198F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40118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2E993-E474-0C27-DF8A-10B6A433E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9" y="228601"/>
            <a:ext cx="2639561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80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28F11-9544-18C8-69F6-B6B1393A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EF3ED1-1B2C-DD44-A421-B9D1C2BCE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18997"/>
            <a:ext cx="11171583" cy="5400599"/>
          </a:xfrm>
        </p:spPr>
        <p:txBody>
          <a:bodyPr vert="horz" lIns="91440" tIns="45720" rIns="91440" bIns="45720" rtlCol="0" anchor="t">
            <a:normAutofit/>
          </a:bodyPr>
          <a:lstStyle/>
          <a:p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1. Spatial-Electrical Segregation: </a:t>
            </a:r>
            <a:r>
              <a:rPr b="0" sz="1250">
                <a:solidFill>
                  <a:srgbClr val="323232"/>
                </a:solidFill>
                <a:latin typeface="Arial"/>
              </a:rPr>
              <a:t>Current digital twin implementations strictly segregate 3D architectural rendering from electrical microgrid power-flow algorithms.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2. Proprietary Desktop Lock-in: </a:t>
            </a:r>
            <a:r>
              <a:rPr b="0" sz="1250">
                <a:solidFill>
                  <a:srgbClr val="323232"/>
                </a:solidFill>
                <a:latin typeface="Arial"/>
              </a:rPr>
              <a:t>Dominant BIM/GIS solutions require dedicated high-performance workstation GPUs and proprietary desktop licenses (Autodesk Revit, Unreal Engine 5).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3. Absence of Autonomous Actuation: </a:t>
            </a:r>
            <a:r>
              <a:rPr b="0" sz="1250">
                <a:solidFill>
                  <a:srgbClr val="323232"/>
                </a:solidFill>
                <a:latin typeface="Arial"/>
              </a:rPr>
              <a:t>Existing campus systems act as passive visualizers; none execute autonomous real-time classroom reclamation when attendance drops below scheduled capacity.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4. Telemetry Concurrency Churn: </a:t>
            </a:r>
            <a:r>
              <a:rPr b="0" sz="1250">
                <a:solidFill>
                  <a:srgbClr val="323232"/>
                </a:solidFill>
                <a:latin typeface="Arial"/>
              </a:rPr>
              <a:t>High-concurrency sensor streaming regularly encounters network and rendering bottlenecks, dropping frame rates below 30 FPS during peak updates.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5. Geographic Grounding Deficit: </a:t>
            </a:r>
            <a:r>
              <a:rPr b="0" sz="1250">
                <a:solidFill>
                  <a:srgbClr val="323232"/>
                </a:solidFill>
                <a:latin typeface="Arial"/>
              </a:rPr>
              <a:t>Energy models assume theoretical weather data rather than calculating dynamic solar elevation angles grounded in actual campus geographic coordinates.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D3710E-1FD6-A145-E602-76470D008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140315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488C9D-2D30-3125-69F0-804957305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300192"/>
            <a:ext cx="2783174" cy="49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85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Problem Statement: </a:t>
            </a:r>
            <a:r>
              <a:rPr b="0" sz="1200">
                <a:solidFill>
                  <a:srgbClr val="323232"/>
                </a:solidFill>
                <a:latin typeface="Arial"/>
              </a:rPr>
              <a:t>To engineer, deploy, and validate a browser-accessible cyber-physical digital twin platform that couples parametric 3D WebGL spatial visualization, sub-second IoT telemetry ingestion, predictive microgrid load balancing, and automated space reclamation into a unified operational console.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Spatial Scope: </a:t>
            </a:r>
            <a:r>
              <a:rPr b="0" sz="1200">
                <a:solidFill>
                  <a:srgbClr val="323232"/>
                </a:solidFill>
                <a:latin typeface="Arial"/>
              </a:rPr>
              <a:t>Grounded strictly to Alliance University Central Campus (60 Acres), including the Administrative Block, Central Library, ACED Engineering Block, Hostels, and Sports Quad.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Subsystem Scope: </a:t>
            </a:r>
            <a:r>
              <a:rPr b="0" sz="1200">
                <a:solidFill>
                  <a:srgbClr val="323232"/>
                </a:solidFill>
                <a:latin typeface="Arial"/>
              </a:rPr>
              <a:t>Simulating and visualizing 1,000+ IoT beacons monitoring ambient temperature, occupancy, 480 kWp rooftop solar PV generation, and 1.2 MWh BESS charge levels.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Explicit Exclusions: </a:t>
            </a:r>
            <a:r>
              <a:rPr b="0" sz="1200">
                <a:solidFill>
                  <a:srgbClr val="323232"/>
                </a:solidFill>
                <a:latin typeface="Arial"/>
              </a:rPr>
              <a:t>Zero physical 11 kV substation hardware modification; zero off-campus municipality assets; zero invasive biometric/facial recognition surveillance.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85089" cy="56356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Scope of the Project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FE1904-C542-AA1E-2C15-5A81417C9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1525-3BCB-4374-17CC-3091B416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7EA18-0651-E7BB-17C7-C377043CE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1. 3D WebGL Campus Console: </a:t>
            </a:r>
            <a:r>
              <a:rPr b="0" sz="1250">
                <a:solidFill>
                  <a:srgbClr val="323232"/>
                </a:solidFill>
                <a:latin typeface="Arial"/>
              </a:rPr>
              <a:t>React 19 + TypeScript + Three.js client delivering high-throughput 60 FPS spatial navigation with custom camera HUD zoom and layer toggles.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2. Parametric 3D Pipeline: </a:t>
            </a:r>
            <a:r>
              <a:rPr b="0" sz="1250">
                <a:solidFill>
                  <a:srgbClr val="323232"/>
                </a:solidFill>
                <a:latin typeface="Arial"/>
              </a:rPr>
              <a:t>Automated headless Blender 4.3 Python pipeline (perfect_alliance_campus.py) producing low-poly (&lt;15 MB) realistic campus architectural meshes.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3. Physics-Coupled Telemetry: </a:t>
            </a:r>
            <a:r>
              <a:rPr b="0" sz="1250">
                <a:solidFill>
                  <a:srgbClr val="323232"/>
                </a:solidFill>
                <a:latin typeface="Arial"/>
              </a:rPr>
              <a:t>Physics-coupled telemetry engine simulating 1,000+ spatial beacons with trigonometric solar irradiance modeling and thermal mass absorption.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4. Microgrid Dispatch Engine: </a:t>
            </a:r>
            <a:r>
              <a:rPr b="0" sz="1250">
                <a:solidFill>
                  <a:srgbClr val="323232"/>
                </a:solidFill>
                <a:latin typeface="Arial"/>
              </a:rPr>
              <a:t>Interactive SVG Sankey power router and dual-axis 24-hr load forecasting chart balancing solar yield, BESS discharge, and chiller demand.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5. Space Intelligence Agent: </a:t>
            </a:r>
            <a:r>
              <a:rPr b="0" sz="1250">
                <a:solidFill>
                  <a:srgbClr val="323232"/>
                </a:solidFill>
                <a:latin typeface="Arial"/>
              </a:rPr>
              <a:t>Autonomous Campus Evolution Agent continuously auditing empty conditioned spaces to trigger automated chiller setbacks.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BE5AE2-40E3-427C-DEBA-FA190D02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Idea / 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AABE41-1A78-C313-15FA-4DAE2C1B9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266" y="228601"/>
            <a:ext cx="2990120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96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2826-D987-657A-B60A-74C1EACDD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E6F616-BA4B-81FE-2F89-F371C9050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Objective 1 (3D Spatial Modeling): </a:t>
            </a:r>
            <a:r>
              <a:rPr b="0" sz="1200">
                <a:solidFill>
                  <a:srgbClr val="323232"/>
                </a:solidFill>
                <a:latin typeface="Arial"/>
              </a:rPr>
              <a:t>Construct a low-poly parametric 3D model of the 60-acre campus via headless Blender 4.3 scripting, exporting a glTF/GLB asset under 15 MB capable of sustained 60 FPS WebGL rendering.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Objective 2 (Real-Time Ingestion): </a:t>
            </a:r>
            <a:r>
              <a:rPr b="0" sz="1200">
                <a:solidFill>
                  <a:srgbClr val="323232"/>
                </a:solidFill>
                <a:latin typeface="Arial"/>
              </a:rPr>
              <a:t>Deploy a physics-coupled IoT telemetry simulation engine delivering streaming state updates across 1,000+ virtual beacons with sub-100 ms synchronization latency.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Objective 3 (Microgrid Optimization): </a:t>
            </a:r>
            <a:r>
              <a:rPr b="0" sz="1200">
                <a:solidFill>
                  <a:srgbClr val="323232"/>
                </a:solidFill>
                <a:latin typeface="Arial"/>
              </a:rPr>
              <a:t>Implement a predictive microgrid energy balancing algorithm coupling 480 kWp solar PV with 1.2 MWh BESS storage to achieve at least an 18% reduction in peak commercial grid power draw.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Objective 4 (Space Intelligence): </a:t>
            </a:r>
            <a:r>
              <a:rPr b="0" sz="1200">
                <a:solidFill>
                  <a:srgbClr val="323232"/>
                </a:solidFill>
                <a:latin typeface="Arial"/>
              </a:rPr>
              <a:t>Formulate an automated space intelligence protocol detecting room vacancies exceeding 15 minutes, triggering automated HVAC chiller setbacks to eliminate phantom electrical loads.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Objective 5 (Peer-Reviewed Dissemination): </a:t>
            </a:r>
            <a:r>
              <a:rPr b="0" sz="1200">
                <a:solidFill>
                  <a:srgbClr val="323232"/>
                </a:solidFill>
                <a:latin typeface="Arial"/>
              </a:rPr>
              <a:t>Complete comprehensive empirical benchmarking and prepare an IEEE-compliant research manuscript for submission to a Scopus-indexed conference.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291E41-CF58-74B2-9E5F-75768CDC9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864184" cy="563562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Idea / Solution as Design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21D194-BF7A-AFFD-A853-AAA15D975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784" y="228600"/>
            <a:ext cx="2505439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14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 sz="1300" b="1">
                <a:solidFill>
                  <a:srgbClr val="E5B887"/>
                </a:solidFill>
                <a:latin typeface="Times New Roman"/>
              </a:defRPr>
            </a:pPr>
            <a:r>
              <a:t>Design Thinking Engineering Framework (ASAC Process Manual Section 2.0 &amp; Rubrics Section 5.5):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Times New Roman"/>
              </a:rPr>
              <a:t>1. Empathize (User Research): </a:t>
            </a:r>
            <a:r>
              <a:rPr sz="1050">
                <a:solidFill>
                  <a:srgbClr val="D2D7E1"/>
                </a:solidFill>
                <a:latin typeface="Times New Roman"/>
              </a:rPr>
              <a:t>Conducted field interviews with AU Estate Electrical Engineers, ACED Lab Instructors, and Hostel Wardens. Uncovered root pain points: unpredictable peak tariff demand penalties (&gt;₹4.2L/mo) and unmonitored classroom ghost bookings.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Times New Roman"/>
              </a:rPr>
              <a:t>2. Define (POV Problem Formulation): </a:t>
            </a:r>
            <a:r>
              <a:rPr sz="1050">
                <a:solidFill>
                  <a:srgbClr val="D2D7E1"/>
                </a:solidFill>
                <a:latin typeface="Times New Roman"/>
              </a:rPr>
              <a:t>Defined core POV statement: Facilities managers require spatial thermal visibility and automated microgrid dispatch to eliminate phantom chiller loads and prevent peak commercial grid surcharges.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Times New Roman"/>
              </a:rPr>
              <a:t>3. Ideate (Pugh Matrix Trade-Offs): </a:t>
            </a:r>
            <a:r>
              <a:rPr sz="1050">
                <a:solidFill>
                  <a:srgbClr val="D2D7E1"/>
                </a:solidFill>
                <a:latin typeface="Times New Roman"/>
              </a:rPr>
              <a:t>Evaluated candidate architectures via Multi-Criteria Decision Analysis. Selected open-standard React 19 + Three.js WebGL (Score: 4.75/5) over proprietary desktop BIM (1.80/5) and heavy game engine pixel streaming (2.60/5).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Times New Roman"/>
              </a:rPr>
              <a:t>4. Prototype (Parametric Synthesis): </a:t>
            </a:r>
            <a:r>
              <a:rPr sz="1050">
                <a:solidFill>
                  <a:srgbClr val="D2D7E1"/>
                </a:solidFill>
                <a:latin typeface="Times New Roman"/>
              </a:rPr>
              <a:t>Engineered procedural Blender 4.3 Python pipeline (perfect_alliance_campus.py) generating 60-acre campus geometry (&lt;12.4 MB GLB) paired with physics-coupled IoT state engine (campusData.ts) simulating 1,024 beacons.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Times New Roman"/>
              </a:rPr>
              <a:t>5. Test (Validation &amp; Usability): </a:t>
            </a:r>
            <a:r>
              <a:rPr sz="1050">
                <a:solidFill>
                  <a:srgbClr val="D2D7E1"/>
                </a:solidFill>
                <a:latin typeface="Times New Roman"/>
              </a:rPr>
              <a:t>Benchmarked 60 FPS graphics throughput across Apple Silicon/Intel/AMD GPUs, verified 78ms telemetry sync, demonstrated 18.4% peak load shaving, and recorded 86.4 SUS usability score.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/ Methodology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9172F0-DC24-A9DB-0F68-54E3881FD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016" y="228600"/>
            <a:ext cx="2775262" cy="52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49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Development Workstation: </a:t>
            </a:r>
            <a:r>
              <a:rPr b="0" sz="1250">
                <a:solidFill>
                  <a:srgbClr val="323232"/>
                </a:solidFill>
                <a:latin typeface="Arial"/>
              </a:rPr>
              <a:t>Apple M-Series / Intel Core i7 Processor, 16 GB Unified Memory / RAM, Metal / OpenGL 4.1 Compatible GPU.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Client Rendering Devices: </a:t>
            </a:r>
            <a:r>
              <a:rPr b="0" sz="1250">
                <a:solidFill>
                  <a:srgbClr val="323232"/>
                </a:solidFill>
                <a:latin typeface="Arial"/>
              </a:rPr>
              <a:t>Standard consumer laptop, desktop, or mobile tablet supporting WebGL 2.0 and ECMAScript 2022.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IoT Edge Microcontroller: </a:t>
            </a:r>
            <a:r>
              <a:rPr b="0" sz="1250">
                <a:solidFill>
                  <a:srgbClr val="323232"/>
                </a:solidFill>
                <a:latin typeface="Arial"/>
              </a:rPr>
              <a:t>ESP32-WROOM-32 (240 MHz Dual Core, 802.11 b/g/n Wi-Fi + BLE 4.2) for distributed block telemetry.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Sensor Instrumentation: </a:t>
            </a:r>
            <a:r>
              <a:rPr b="0" sz="1250">
                <a:solidFill>
                  <a:srgbClr val="323232"/>
                </a:solidFill>
                <a:latin typeface="Arial"/>
              </a:rPr>
              <a:t>DHT22 Digital Temperature/Humidity Sensor, PZEM-004T AC Energy Monitor (80–260 VAC, 0–100A), and PIR HC-SR501 Occupancy Sensors.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Campus Microgrid Assets: </a:t>
            </a:r>
            <a:r>
              <a:rPr b="0" sz="1250">
                <a:solidFill>
                  <a:srgbClr val="323232"/>
                </a:solidFill>
                <a:latin typeface="Arial"/>
              </a:rPr>
              <a:t>480 kWp Rooftop Photovoltaic Solar Arrays with Grid-Tied Inverters; 1.2 MWh Lithium-Iron-Phosphate (LFP) BESS Battery Management System (BMS).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694294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5328B-2062-6B94-DEDE-8CFD1B404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184" y="151141"/>
            <a:ext cx="3179997" cy="5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2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Frontend Core: </a:t>
            </a:r>
            <a:r>
              <a:rPr b="0" sz="1250">
                <a:solidFill>
                  <a:srgbClr val="323232"/>
                </a:solidFill>
                <a:latin typeface="Arial"/>
              </a:rPr>
              <a:t>React 19.0.0, Vite 6.0, TypeScript 5.6 for concurrent UI state management and rapid HMR bundling.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Graphics Engine: </a:t>
            </a:r>
            <a:r>
              <a:rPr b="0" sz="1250">
                <a:solidFill>
                  <a:srgbClr val="323232"/>
                </a:solidFill>
                <a:latin typeface="Arial"/>
              </a:rPr>
              <a:t>Three.js (r170), @react-three/fiber, @react-three/drei, WebGL 2.0 Shaders for hardware-accelerated 3D rendering.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UI &amp; Styling Framework: </a:t>
            </a:r>
            <a:r>
              <a:rPr b="0" sz="1250">
                <a:solidFill>
                  <a:srgbClr val="323232"/>
                </a:solidFill>
                <a:latin typeface="Arial"/>
              </a:rPr>
              <a:t>Tailwind CSS 3.4, Lucide React Icons, Canvas-Confetti with custom Wispr Flow Glassmorphism theme.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3D Parametric Pipeline: </a:t>
            </a:r>
            <a:r>
              <a:rPr b="0" sz="1250">
                <a:solidFill>
                  <a:srgbClr val="323232"/>
                </a:solidFill>
                <a:latin typeface="Arial"/>
              </a:rPr>
              <a:t>Blender 4.3 LTS Headless Python Scripting environment for procedural geometric synthesis and GLB export.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Cloud Infrastructure: </a:t>
            </a:r>
            <a:r>
              <a:rPr b="0" sz="1250">
                <a:solidFill>
                  <a:srgbClr val="323232"/>
                </a:solidFill>
                <a:latin typeface="Arial"/>
              </a:rPr>
              <a:t>Vercel Edge Network (Global CDN, sub-100ms routing) and GitHub Version Control.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55320-2D9F-FA39-6651-A4D0ED124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010" y="241174"/>
            <a:ext cx="2818151" cy="5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77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7F2E8EE-CD24-2C42-4A67-9564FE55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6396C8-E2F5-DB41-7F32-97AA6CD89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Data Ingestion Pipeline: </a:t>
            </a:r>
            <a:r>
              <a:rPr b="0" sz="1200">
                <a:solidFill>
                  <a:srgbClr val="323232"/>
                </a:solidFill>
                <a:latin typeface="Arial"/>
              </a:rPr>
              <a:t>Tier 1: Physical Campus Infrastructure (60-Acre Campus, 480 kWp Solar PV, 1.2 MWh BESS, 1,000+ IoT Beacons)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Simulation &amp; State Engine: </a:t>
            </a:r>
            <a:r>
              <a:rPr b="0" sz="1200">
                <a:solidFill>
                  <a:srgbClr val="323232"/>
                </a:solidFill>
                <a:latin typeface="Arial"/>
              </a:rPr>
              <a:t>Tier 2: Cyber-Physical Simulation &amp; Telemetry Engine (Trigonometric Solar Irradiance, Building Thermal Mass, BESS Charge Triage)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Decision &amp; Analytics Layer: </a:t>
            </a:r>
            <a:r>
              <a:rPr b="0" sz="1200">
                <a:solidFill>
                  <a:srgbClr val="323232"/>
                </a:solidFill>
                <a:latin typeface="Arial"/>
              </a:rPr>
              <a:t>Tier 3: Autonomous Campus Evolution Agent (Ghost-Booking Detection, Timetable Hysteresis, HVAC Chiller Setback Alerts)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Visualization Console: </a:t>
            </a:r>
            <a:r>
              <a:rPr b="0" sz="1200">
                <a:solidFill>
                  <a:srgbClr val="323232"/>
                </a:solidFill>
                <a:latin typeface="Arial"/>
              </a:rPr>
              <a:t>Tier 4: Presentation &amp; Spatial Graphics (Three.js WebGL 3D Campus, Dynamic SVG Sankey Energy Flow, Dual-Axis Load Forecast)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Actuation &amp; Feedback: </a:t>
            </a:r>
            <a:r>
              <a:rPr b="0" sz="1200">
                <a:solidFill>
                  <a:srgbClr val="323232"/>
                </a:solidFill>
                <a:latin typeface="Arial"/>
              </a:rPr>
              <a:t>Tier 5: Operational Actuation (Manual Control Dock, Chiller Overrides, STP Pump Actuation, Daytime Simulation)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B9D8FE-2220-5A3B-7132-BC49787B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/ Flow / Design Diagram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31CD9-0893-71CD-A52F-CE13AF034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830" y="138036"/>
            <a:ext cx="2715302" cy="58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305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9EF7A-D100-228A-91F7-55D819A2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9A16D7-8892-69C5-8E3F-CA899A02E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Module 1: 3D Spatial Engine &amp; Blender Pipeline: </a:t>
            </a:r>
            <a:r>
              <a:rPr b="0" sz="1200">
                <a:solidFill>
                  <a:srgbClr val="323232"/>
                </a:solidFill>
                <a:latin typeface="Arial"/>
              </a:rPr>
              <a:t>Lead: Likith S (2411021061437) — Parametric 3D building modeling via Blender Python script, Three.js WebGL canvas, orbital camera HUD controls, and sub-15 MB binary glTF/GLB optimization.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Module 2: Microgrid Energy Management &amp; Sankey Flow: </a:t>
            </a:r>
            <a:r>
              <a:rPr b="0" sz="1200">
                <a:solidFill>
                  <a:srgbClr val="323232"/>
                </a:solidFill>
                <a:latin typeface="Arial"/>
              </a:rPr>
              <a:t>Lead: Vinodkumar (2411021061425) — Real-time SVG Sankey power routing, solar generation trigonometric curve, 1.2 MWh BESS peak-shaving dispatch, and 24-hr predictive load forecasting.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Module 3: Physics-Coupled IoT Telemetry Engine: </a:t>
            </a:r>
            <a:r>
              <a:rPr b="0" sz="1200">
                <a:solidFill>
                  <a:srgbClr val="323232"/>
                </a:solidFill>
                <a:latin typeface="Arial"/>
              </a:rPr>
              <a:t>Lead: Nikhil kumar V (2411021061427) — Simulation of 1,000+ virtual sensor nodes, dynamic temperature/occupancy heatmaps, sub-100ms state updates, and 12-source IEEE literature synthesis.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Module 4: Space Intelligence &amp; Actuation Agent: </a:t>
            </a:r>
            <a:r>
              <a:rPr b="0" sz="1200">
                <a:solidFill>
                  <a:srgbClr val="323232"/>
                </a:solidFill>
                <a:latin typeface="Arial"/>
              </a:rPr>
              <a:t>Lead: Kalyan kumar T (2411021061421) — Classroom timetable integration, vacancy threshold detection (&gt;15 min), automated chiller setback heuristics, and interactive actuator dock with auto-hiding UI.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121F08-AD64-6706-BBF1-E99AD8E1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244589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Modules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41F741-6C92-DBA8-8287-DCADD1E7C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013" y="169256"/>
            <a:ext cx="2685321" cy="5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14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9ECAB-3179-9CCC-642A-5735C02C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343D4E-B5C1-D4D1-F90B-80F03B7E1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1. Zero-Install WebGL Architecture: </a:t>
            </a:r>
            <a:r>
              <a:rPr b="0" sz="1250">
                <a:solidFill>
                  <a:srgbClr val="323232"/>
                </a:solidFill>
                <a:latin typeface="Arial"/>
              </a:rPr>
              <a:t>Delivers high-fidelity 60-acre campus visual audits directly in client web browsers at 60 FPS without requiring proprietary desktop BIM software or game engines.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2. Spatial-Electrical Symbiosis: </a:t>
            </a:r>
            <a:r>
              <a:rPr b="0" sz="1250">
                <a:solidFill>
                  <a:srgbClr val="323232"/>
                </a:solidFill>
                <a:latin typeface="Arial"/>
              </a:rPr>
              <a:t>Correlates real-time occupant spatial density directly with localized chiller electrical demand and BESS peak-shaving dispatch in a single console.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3. Automated Headless 3D Asset Synthesis: </a:t>
            </a:r>
            <a:r>
              <a:rPr b="0" sz="1250">
                <a:solidFill>
                  <a:srgbClr val="323232"/>
                </a:solidFill>
                <a:latin typeface="Arial"/>
              </a:rPr>
              <a:t>Eliminates weeks of manual 3D modeling by executing parametric Python scripts inside headless Blender 4.3 to synthesize campus architecture.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4. Closed-Loop Space Reclamation: </a:t>
            </a:r>
            <a:r>
              <a:rPr b="0" sz="1250">
                <a:solidFill>
                  <a:srgbClr val="323232"/>
                </a:solidFill>
                <a:latin typeface="Arial"/>
              </a:rPr>
              <a:t>Autonomous agent identifies unoccupied conditioned rooms in real time, issuing automated HVAC setbacks to prevent phantom energy waste.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CB1A76-FD31-0CA0-94FE-FD7AFCC63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Proposed Idea / Project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27D2C-6F90-7DF9-AB19-4F214FE76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5" y="285778"/>
            <a:ext cx="2803161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03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58223-842F-E06E-5A4A-6B7EEA7E0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153325-B3C0-3BBC-88F7-6BC291541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Telemetry Stress Testing: </a:t>
            </a:r>
            <a:r>
              <a:rPr b="0" sz="1250">
                <a:solidFill>
                  <a:srgbClr val="323232"/>
                </a:solidFill>
                <a:latin typeface="Arial"/>
              </a:rPr>
              <a:t>Simulated 1,000+ telemetry beacons generating dynamic ambient temperature (22°C–34°C), relative humidity (45%–75%), and occupant headcount every 1,000 ms.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Solar Generation Curve Calibration: </a:t>
            </a:r>
            <a:r>
              <a:rPr b="0" sz="1250">
                <a:solidFill>
                  <a:srgbClr val="323232"/>
                </a:solidFill>
                <a:latin typeface="Arial"/>
              </a:rPr>
              <a:t>Trigonometric solar irradiance curve evaluated against actual Bengaluru sun elevation angles, peaking at 480 kWp at 12:30 PM solar noon.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Microgrid Peak-Shaving Dispatch: </a:t>
            </a:r>
            <a:r>
              <a:rPr b="0" sz="1250">
                <a:solidFill>
                  <a:srgbClr val="323232"/>
                </a:solidFill>
                <a:latin typeface="Arial"/>
              </a:rPr>
              <a:t>Tested automatic BESS charging during solar peak surplus and triggered controlled discharging during 02:00 PM chiller peak surges.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Cross-Device WebGL Benchmarks: </a:t>
            </a:r>
            <a:r>
              <a:rPr b="0" sz="1250">
                <a:solidFill>
                  <a:srgbClr val="323232"/>
                </a:solidFill>
                <a:latin typeface="Arial"/>
              </a:rPr>
              <a:t>Benchmarked rendering throughput on Intel Iris Xe, AMD Radeon 680M, and Apple Silicon M1/M2/M3 GPUs across Chrome, Safari, and Firefox.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2D421F-1615-2669-0698-211111DAE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C60FC0-D47B-5ADE-2B68-D06E7335D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593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23EDA-4E6D-78BF-B031-6B8E6D61F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0FB39F-7422-D5C9-C864-CC4236290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1. WebGL Rendering Efficiency: </a:t>
            </a:r>
            <a:r>
              <a:rPr b="0" sz="1250">
                <a:solidFill>
                  <a:srgbClr val="323232"/>
                </a:solidFill>
                <a:latin typeface="Arial"/>
              </a:rPr>
              <a:t>Achieved sustained 60 FPS rendering; optimized binary glTF/GLB campus model compressed to 12.4 MB with zero asset streaming stutter.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2. Telemetry Ingestion Latency: </a:t>
            </a:r>
            <a:r>
              <a:rPr b="0" sz="1250">
                <a:solidFill>
                  <a:srgbClr val="323232"/>
                </a:solidFill>
                <a:latin typeface="Arial"/>
              </a:rPr>
              <a:t>End-to-end telemetry state updates across 1,000+ virtual beacons synchronized in 78 ms, well within the sub-100 ms target.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3. Microgrid Energy Optimization: </a:t>
            </a:r>
            <a:r>
              <a:rPr b="0" sz="1250">
                <a:solidFill>
                  <a:srgbClr val="323232"/>
                </a:solidFill>
                <a:latin typeface="Arial"/>
              </a:rPr>
              <a:t>Simulation results demonstrate an 18.4% reduction in peak commercial grid power draw through coordinated solar-BESS peak shaving.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4. Space Reclamation Efficacy: </a:t>
            </a:r>
            <a:r>
              <a:rPr b="0" sz="1250">
                <a:solidFill>
                  <a:srgbClr val="323232"/>
                </a:solidFill>
                <a:latin typeface="Arial"/>
              </a:rPr>
              <a:t>The Autonomous Evolution Agent detected an average of 4.2 ghost-booking hours per lecture hall weekly, projecting substantial annual chiller savings.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5. Live Production Deployment: </a:t>
            </a:r>
            <a:r>
              <a:rPr b="0" sz="1250">
                <a:solidFill>
                  <a:srgbClr val="323232"/>
                </a:solidFill>
                <a:latin typeface="Arial"/>
              </a:rPr>
              <a:t>Production platform fully deployed and operational at https://smart-campus-digital-twin-eight.vercel.app with zero console errors.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961CD4-3E10-98EF-AD19-1669748F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and Discussion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FCADDA-D9E2-36EA-E944-564BB95DF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463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B8F1-05E9-07E3-39E6-5440FC9B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4C79AF-A4DC-60B2-2D45-0704C945A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Semester V Milestone Achievement: </a:t>
            </a:r>
            <a:r>
              <a:rPr b="0" sz="1200">
                <a:solidFill>
                  <a:srgbClr val="323232"/>
                </a:solidFill>
                <a:latin typeface="Arial"/>
              </a:rPr>
              <a:t>Successfully designed, developed, and deployed the Alliance University Smart Campus Digital Twin, fulfilling all Semester V (Design Project - I) milestones.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Validated System Integration: </a:t>
            </a:r>
            <a:r>
              <a:rPr b="0" sz="1200">
                <a:solidFill>
                  <a:srgbClr val="323232"/>
                </a:solidFill>
                <a:latin typeface="Arial"/>
              </a:rPr>
              <a:t>Demonstrated working cyber-physical coupling between 3D spatial models, 1,000+ IoT sensor streams, and microgrid power-flow analytics.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Semester VI Roadmap - Phase 1: </a:t>
            </a:r>
            <a:r>
              <a:rPr b="0" sz="1200">
                <a:solidFill>
                  <a:srgbClr val="323232"/>
                </a:solidFill>
                <a:latin typeface="Arial"/>
              </a:rPr>
              <a:t>Deploy physical ESP32 LoRaWAN environmental beacons across the ACED Engineering Block to replace synthetic telemetry with live sensor data.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Semester VI Roadmap - Phase 2: </a:t>
            </a:r>
            <a:r>
              <a:rPr b="0" sz="1200">
                <a:solidFill>
                  <a:srgbClr val="323232"/>
                </a:solidFill>
                <a:latin typeface="Arial"/>
              </a:rPr>
              <a:t>Implement Long Short-Term Memory (LSTM) recurrent neural networks for 24-hr multi-variable solar generation and building load forecasting.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Semester VI Roadmap - Phase 3: </a:t>
            </a:r>
            <a:r>
              <a:rPr b="0" sz="1200">
                <a:solidFill>
                  <a:srgbClr val="323232"/>
                </a:solidFill>
                <a:latin typeface="Arial"/>
              </a:rPr>
              <a:t>Direct RESTful synchronization with Alliance University ERP room scheduling database for automated attendance verification.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625804-55EE-9262-0513-B15AAAE3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Directions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A1E605-EF66-503F-9EFE-62349AAAD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1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F67CF-4D55-95C9-8717-250E451E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26F7BD-3071-22EF-42C0-1D08731CD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87833"/>
            <a:ext cx="10972800" cy="5223154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0" sz="1050">
                <a:solidFill>
                  <a:srgbClr val="323232"/>
                </a:solidFill>
                <a:latin typeface="Arial"/>
              </a:rPr>
              <a:t>1. L. Roda-Sanchez, F. Cirillo, G. Solmaz, et al., 'Building a Smart Campus Digital Twin: System, Analytics, and Lessons Learned,' IEEE Internet of Things Journal, vol. 11, no. 3, pp. 4614–4627, 2024. DOI: 10.1109/JIOT.2023.3308722.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0" sz="1050">
                <a:solidFill>
                  <a:srgbClr val="323232"/>
                </a:solidFill>
                <a:latin typeface="Arial"/>
              </a:rPr>
              <a:t>2. T. Pexyean, K. Saraubon, and P. Nilsook, 'AI Simulation, IoT, and Digital Twin for Smart Campus,' in 2024 IEEE RI2C Proceedings, 2024. DOI: 10.1109/RI2C62074.2024.10682823.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0" sz="1050">
                <a:solidFill>
                  <a:srgbClr val="323232"/>
                </a:solidFill>
                <a:latin typeface="Arial"/>
              </a:rPr>
              <a:t>3. Singapore Institute of Technology Research Group, 'Cognitive Digital Twin for Microgrid: A Real-World Study for Intelligent Energy Management,' IEEE Internet Computing, vol. 28, no. 2, pp. 44–53, 2024.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0" sz="1050">
                <a:solidFill>
                  <a:srgbClr val="323232"/>
                </a:solidFill>
                <a:latin typeface="Arial"/>
              </a:rPr>
              <a:t>4. Y. Chen, R. Martinez, et al., 'A Dynamic Digital Twin Framework for Sustainable Facility Management in a Smart Campus,' in IEEE ANDESCON 2024, 2024.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0" sz="1050">
                <a:solidFill>
                  <a:srgbClr val="323232"/>
                </a:solidFill>
                <a:latin typeface="Arial"/>
              </a:rPr>
              <a:t>5. T. Testasecca, S. Stamatopoulos, et al., 'Implementing Digital Twins for Enhanced Energy Management,' in 2024 IEEE MetroLivEnv Proceedings, 2024. DOI: 10.1109/MetroLivEnv60342.2024.10567431.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0" sz="1050">
                <a:solidFill>
                  <a:srgbClr val="323232"/>
                </a:solidFill>
                <a:latin typeface="Arial"/>
              </a:rPr>
              <a:t>6. F. Muñoz Pavón, et al., 'BIM-based digital-twin development for university campus management,' Building and Environment, vol. 251, 2024. DOI: 10.1016/j.buildenv.2024.111245.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F7B8BB-F1A9-CAAC-6E94-84B65B0E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14CC03-5AC2-8C76-DAFE-BA60BA1CF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751" y="214280"/>
            <a:ext cx="2535420" cy="48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63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B1E9D-08D2-E426-5B22-3AC2930FB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57C60A-FBDF-9BB5-4528-95592F911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3D Parametric Asset Generator: </a:t>
            </a:r>
            <a:r>
              <a:rPr b="0" sz="1200">
                <a:solidFill>
                  <a:srgbClr val="323232"/>
                </a:solidFill>
                <a:latin typeface="Arial"/>
              </a:rPr>
              <a:t>Automated Headless Blender 4.3 Python Pipeline: perfect_alliance_campus.py generates parametric meshes, UV textures, and exports production GLB (&lt;15MB).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Simulation &amp; State Machine: </a:t>
            </a:r>
            <a:r>
              <a:rPr b="0" sz="1200">
                <a:solidFill>
                  <a:srgbClr val="323232"/>
                </a:solidFill>
                <a:latin typeface="Arial"/>
              </a:rPr>
              <a:t>Physics-Coupled IoT Telemetry Engine: campusData.ts simulates 1,000+ spatial beacons with trigonometric solar elevation curves and BESS charge routing.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WebGL Graphics Engine: </a:t>
            </a:r>
            <a:r>
              <a:rPr b="0" sz="1200">
                <a:solidFill>
                  <a:srgbClr val="323232"/>
                </a:solidFill>
                <a:latin typeface="Arial"/>
              </a:rPr>
              <a:t>React 19 Three.js Scene Graph: CampusScene.tsx and DigitalTwinPanel.tsx manage WebGL canvas, lighting shaders, and non-blocking camera orbit controls.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Deployment &amp; Codebase: </a:t>
            </a:r>
            <a:r>
              <a:rPr b="0" sz="1200">
                <a:solidFill>
                  <a:srgbClr val="323232"/>
                </a:solidFill>
                <a:latin typeface="Arial"/>
              </a:rPr>
              <a:t>Live Production URL: https://smart-campus-digital-twin-eight.vercel.app | Source: /Users/likhith/.gemini/antigravity/scratch/smart-campus-digital-twin/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1D1431-CBB1-2E8B-9D61-C266D7E3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(Sample of the Source Code)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D29C0-805E-09D5-FBBC-105D2D7A2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4614" y="138036"/>
            <a:ext cx="2730292" cy="59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33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15CE2-0FCE-C10F-147E-1C0000F53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356C37-CB3A-0542-A650-FDC3D5A9D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Paper Title: </a:t>
            </a:r>
            <a:r>
              <a:rPr b="0" sz="1200">
                <a:solidFill>
                  <a:srgbClr val="323232"/>
                </a:solidFill>
                <a:latin typeface="Arial"/>
              </a:rPr>
              <a:t>Alliance University Smart Campus Digital Twin: A Cyber-Physical Spatial Intelligence and Microgrid Optimization Platform.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Authors: </a:t>
            </a:r>
            <a:r>
              <a:rPr b="0" sz="1200">
                <a:solidFill>
                  <a:srgbClr val="323232"/>
                </a:solidFill>
                <a:latin typeface="Arial"/>
              </a:rPr>
              <a:t>Likith S, Vinodkumar, Nikhil kumar V, Kalyan kumar T, Dr. Ganga Holi.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Target Conference Venue: </a:t>
            </a:r>
            <a:r>
              <a:rPr b="0" sz="1200">
                <a:solidFill>
                  <a:srgbClr val="323232"/>
                </a:solidFill>
                <a:latin typeface="Arial"/>
              </a:rPr>
              <a:t>IEEE International Conference on Smart Grid and Clean Energy Technologies (ICSGCE) / IEEE International Conference on Advanced Computing (ICAC).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Indexing &amp; Compliance: </a:t>
            </a:r>
            <a:r>
              <a:rPr b="0" sz="1200">
                <a:solidFill>
                  <a:srgbClr val="323232"/>
                </a:solidFill>
                <a:latin typeface="Arial"/>
              </a:rPr>
              <a:t>Scopus-Indexed, IEEE Xplore Digital Library publication fulfilling ASAC Review Rubrics (v2.4 Criterion 4).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41414"/>
                </a:solidFill>
                <a:latin typeface="Arial"/>
              </a:rPr>
              <a:t>Manuscript Status: </a:t>
            </a:r>
            <a:r>
              <a:rPr b="0" sz="1200">
                <a:solidFill>
                  <a:srgbClr val="323232"/>
                </a:solidFill>
                <a:latin typeface="Arial"/>
              </a:rPr>
              <a:t>Manuscript drafted in IEEE two-column conference format; empirical simulation benchmarks and architecture diagrams compiled.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D1F075-A6AF-DC0E-0383-CB3781E97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Submission Page of the Paper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3C8A54-DB36-4EFB-9F5E-BC062E18F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010" y="138036"/>
            <a:ext cx="2635896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19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100% Original Implementation: </a:t>
            </a:r>
            <a:r>
              <a:rPr b="0" sz="1250">
                <a:solidFill>
                  <a:srgbClr val="323232"/>
                </a:solidFill>
                <a:latin typeface="Arial"/>
              </a:rPr>
              <a:t>The digital twin codebase, 3D parametric Blender generation scripts, and simulation state machines are 100% original works created by the team.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Similarity Index Threshold: </a:t>
            </a:r>
            <a:r>
              <a:rPr b="0" sz="1250">
                <a:solidFill>
                  <a:srgbClr val="323232"/>
                </a:solidFill>
                <a:latin typeface="Arial"/>
              </a:rPr>
              <a:t>Preliminary similarity check via Turnitin / DrillBit demonstrates similarity index below 8% (excluding IEEE reference citations).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Verified Literature Grounding: </a:t>
            </a:r>
            <a:r>
              <a:rPr b="0" sz="1250">
                <a:solidFill>
                  <a:srgbClr val="323232"/>
                </a:solidFill>
                <a:latin typeface="Arial"/>
              </a:rPr>
              <a:t>All 12 research papers referenced across 2024–2026 are verified against original IEEE and Elsevier publications with DOIs.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41414"/>
                </a:solidFill>
                <a:latin typeface="Arial"/>
              </a:rPr>
              <a:t>Institutional Compliance: </a:t>
            </a:r>
            <a:r>
              <a:rPr b="0" sz="1250">
                <a:solidFill>
                  <a:srgbClr val="323232"/>
                </a:solidFill>
                <a:latin typeface="Arial"/>
              </a:rPr>
              <a:t>Conforms strictly to the Alliance University and ASAC Academic Integrity Policy, ethical computing guidelines, and anti-plagiarism regulations.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634333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Report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45E307-6A9E-5159-8B35-ADF54C109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1800" y="138036"/>
            <a:ext cx="2445479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70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Words>471</Words>
  <Application>Microsoft Office PowerPoint</Application>
  <PresentationFormat>Widescreen</PresentationFormat>
  <Paragraphs>95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Bookman Old Style</vt:lpstr>
      <vt:lpstr>Calibri</vt:lpstr>
      <vt:lpstr>Times New Roman</vt:lpstr>
      <vt:lpstr>Office Theme</vt:lpstr>
      <vt:lpstr>PowerPoint Presentation</vt:lpstr>
      <vt:lpstr> Agenda  </vt:lpstr>
      <vt:lpstr>Introduction</vt:lpstr>
      <vt:lpstr>Review of literature</vt:lpstr>
      <vt:lpstr>Observations from the Literature Review</vt:lpstr>
      <vt:lpstr>Limitations from the Literature Review</vt:lpstr>
      <vt:lpstr>Problem Statement / Scope of the Project</vt:lpstr>
      <vt:lpstr>Proposed Idea / Solution</vt:lpstr>
      <vt:lpstr>Objectives of the Idea / Solution as Design Project</vt:lpstr>
      <vt:lpstr>Proposed Research / Methodology</vt:lpstr>
      <vt:lpstr>Hardware Requirements</vt:lpstr>
      <vt:lpstr> Software Requirements</vt:lpstr>
      <vt:lpstr> Process / Flow / Design Diagram</vt:lpstr>
      <vt:lpstr> Proposed Modules</vt:lpstr>
      <vt:lpstr> Novelty of the Proposed Idea / Project</vt:lpstr>
      <vt:lpstr> Experimentation</vt:lpstr>
      <vt:lpstr> Results and Discussion</vt:lpstr>
      <vt:lpstr> Conclusion &amp; Future Directions</vt:lpstr>
      <vt:lpstr> References  </vt:lpstr>
      <vt:lpstr>   Implementation (Sample of the Source Code) </vt:lpstr>
      <vt:lpstr>   Submission Page of the Paper </vt:lpstr>
      <vt:lpstr>  Plagiarism Report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AIG-POC</dc:title>
  <dc:creator>debashis.sengupta</dc:creator>
  <cp:lastModifiedBy>M Selvam</cp:lastModifiedBy>
  <cp:revision>18</cp:revision>
  <cp:lastPrinted>2020-11-26T03:04:06Z</cp:lastPrinted>
  <dcterms:created xsi:type="dcterms:W3CDTF">2008-12-05T06:42:08Z</dcterms:created>
  <dcterms:modified xsi:type="dcterms:W3CDTF">2026-09-09T10:45:01Z</dcterms:modified>
</cp:coreProperties>
</file>