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457200"/>
          </a:xfrm>
          <a:prstGeom prst="rect">
            <a:avLst/>
          </a:prstGeom>
          <a:noFill/>
        </p:spPr>
        <p:txBody>
          <a:bodyPr wrap="none" lIns="0" tIns="0" rIns="0" bIns="0">
            <a:spAutoFit/>
          </a:bodyPr>
          <a:lstStyle/>
          <a:p>
            <a:pPr>
              <a:defRPr sz="1100" b="1">
                <a:solidFill>
                  <a:srgbClr val="D97706"/>
                </a:solidFill>
                <a:latin typeface="Calibri"/>
              </a:defRPr>
            </a:pPr>
            <a:r>
              <a:t>ALLIANCE UNIVERSITY — ALLIANCE SCHOOL OF ADVANCED COMPUTING</a:t>
            </a:r>
          </a:p>
          <a:p>
            <a:pPr>
              <a:defRPr sz="950">
                <a:solidFill>
                  <a:srgbClr val="CBD5E1"/>
                </a:solidFill>
                <a:latin typeface="Calibri"/>
              </a:defRPr>
            </a:pPr>
            <a:r>
              <a:t>DEPARTMENT OF COMPUTER SCIENCE AND ENGINEERING | B.TECH CSE SEMESTER V</a:t>
            </a:r>
          </a:p>
        </p:txBody>
      </p:sp>
      <p:sp>
        <p:nvSpPr>
          <p:cNvPr id="5" name="Rounded Rectangle 4"/>
          <p:cNvSpPr/>
          <p:nvPr/>
        </p:nvSpPr>
        <p:spPr>
          <a:xfrm>
            <a:off x="731520" y="1188720"/>
            <a:ext cx="5303520" cy="347472"/>
          </a:xfrm>
          <a:prstGeom prst="roundRect">
            <a:avLst/>
          </a:prstGeom>
          <a:solidFill>
            <a:srgbClr val="134074"/>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950" b="1">
                <a:solidFill>
                  <a:srgbClr val="FFFFFF"/>
                </a:solidFill>
                <a:latin typeface="Calibri"/>
              </a:defRPr>
            </a:pPr>
            <a:r>
              <a:t>DESIGN PROJECT – I (E1CSA313 / 5CS1990) — REVIEW-I DEFENSE</a:t>
            </a:r>
          </a:p>
        </p:txBody>
      </p:sp>
      <p:sp>
        <p:nvSpPr>
          <p:cNvPr id="6" name="TextBox 5"/>
          <p:cNvSpPr txBox="1"/>
          <p:nvPr/>
        </p:nvSpPr>
        <p:spPr>
          <a:xfrm>
            <a:off x="731520" y="1691640"/>
            <a:ext cx="10728655" cy="1463040"/>
          </a:xfrm>
          <a:prstGeom prst="rect">
            <a:avLst/>
          </a:prstGeom>
          <a:noFill/>
        </p:spPr>
        <p:txBody>
          <a:bodyPr wrap="square" lIns="0" tIns="0" rIns="0" bIns="0">
            <a:spAutoFit/>
          </a:bodyPr>
          <a:lstStyle/>
          <a:p>
            <a:pPr>
              <a:spcAft>
                <a:spcPts val="600"/>
              </a:spcAft>
              <a:defRPr sz="2800" b="1">
                <a:solidFill>
                  <a:srgbClr val="FFFFFF"/>
                </a:solidFill>
                <a:latin typeface="Calibri"/>
              </a:defRPr>
            </a:pPr>
            <a:r>
              <a:t>AI-Powered Smart Campus Resource Management System</a:t>
            </a:r>
          </a:p>
          <a:p>
            <a:pPr>
              <a:defRPr sz="1300">
                <a:solidFill>
                  <a:srgbClr val="BFDBFE"/>
                </a:solidFill>
                <a:latin typeface="Calibri"/>
              </a:defRPr>
            </a:pPr>
            <a:r>
              <a:t>Review-I Evaluation &amp; Technical Defense: Multi-Modal Telemetry, Predictive Edge AI, and Automated Resource Co-Optimization</a:t>
            </a:r>
          </a:p>
        </p:txBody>
      </p:sp>
      <p:sp>
        <p:nvSpPr>
          <p:cNvPr id="7" name="Rounded Rectangle 6"/>
          <p:cNvSpPr/>
          <p:nvPr/>
        </p:nvSpPr>
        <p:spPr>
          <a:xfrm>
            <a:off x="731520" y="3383280"/>
            <a:ext cx="5212080" cy="2560320"/>
          </a:xfrm>
          <a:prstGeom prst="roundRect">
            <a:avLst/>
          </a:prstGeom>
          <a:solidFill>
            <a:srgbClr val="0F1E36"/>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spcAft>
                <a:spcPts val="800"/>
              </a:spcAft>
              <a:defRPr sz="1050" b="1">
                <a:solidFill>
                  <a:srgbClr val="D97706"/>
                </a:solidFill>
                <a:latin typeface="Calibri"/>
              </a:defRPr>
            </a:pPr>
            <a:r>
              <a:t>STUDENT PROJECT DEFENSE TEAM</a:t>
            </a:r>
          </a:p>
          <a:p>
            <a:pPr>
              <a:defRPr sz="950" b="1">
                <a:solidFill>
                  <a:srgbClr val="FFFFFF"/>
                </a:solidFill>
                <a:latin typeface="Calibri"/>
              </a:defRPr>
            </a:pPr>
            <a:r>
              <a:t>• Likith S (2022BCSE0101)</a:t>
            </a:r>
          </a:p>
          <a:p>
            <a:pPr>
              <a:spcAft>
                <a:spcPts val="300"/>
              </a:spcAft>
              <a:defRPr sz="850">
                <a:solidFill>
                  <a:srgbClr val="94A3B8"/>
                </a:solidFill>
                <a:latin typeface="Calibri"/>
              </a:defRPr>
            </a:pPr>
            <a:r>
              <a:t>   Role: Team Lead &amp; Systems Architect (Ingestion &amp; Pipeline)</a:t>
            </a:r>
          </a:p>
          <a:p>
            <a:pPr>
              <a:defRPr sz="950" b="1">
                <a:solidFill>
                  <a:srgbClr val="FFFFFF"/>
                </a:solidFill>
                <a:latin typeface="Calibri"/>
              </a:defRPr>
            </a:pPr>
            <a:r>
              <a:t>• Vinodkumar (2022BCSE0102)</a:t>
            </a:r>
          </a:p>
          <a:p>
            <a:pPr>
              <a:spcAft>
                <a:spcPts val="300"/>
              </a:spcAft>
              <a:defRPr sz="850">
                <a:solidFill>
                  <a:srgbClr val="94A3B8"/>
                </a:solidFill>
                <a:latin typeface="Calibri"/>
              </a:defRPr>
            </a:pPr>
            <a:r>
              <a:t>   Role: Machine Learning Lead (Demand Forecasting &amp; LightGBM)</a:t>
            </a:r>
          </a:p>
          <a:p>
            <a:pPr>
              <a:defRPr sz="950" b="1">
                <a:solidFill>
                  <a:srgbClr val="FFFFFF"/>
                </a:solidFill>
                <a:latin typeface="Calibri"/>
              </a:defRPr>
            </a:pPr>
            <a:r>
              <a:t>• Nikhil kumar V (2022BCSE0103)</a:t>
            </a:r>
          </a:p>
          <a:p>
            <a:pPr>
              <a:spcAft>
                <a:spcPts val="300"/>
              </a:spcAft>
              <a:defRPr sz="850">
                <a:solidFill>
                  <a:srgbClr val="94A3B8"/>
                </a:solidFill>
                <a:latin typeface="Calibri"/>
              </a:defRPr>
            </a:pPr>
            <a:r>
              <a:t>   Role: Computer Vision Lead (Occupancy Tracking &amp; CSP Solver)</a:t>
            </a:r>
          </a:p>
          <a:p>
            <a:pPr>
              <a:defRPr sz="950" b="1">
                <a:solidFill>
                  <a:srgbClr val="FFFFFF"/>
                </a:solidFill>
                <a:latin typeface="Calibri"/>
              </a:defRPr>
            </a:pPr>
            <a:r>
              <a:t>• Kalyan kumar T (2022BCSE0104)</a:t>
            </a:r>
          </a:p>
          <a:p>
            <a:pPr>
              <a:spcAft>
                <a:spcPts val="300"/>
              </a:spcAft>
              <a:defRPr sz="850">
                <a:solidFill>
                  <a:srgbClr val="94A3B8"/>
                </a:solidFill>
                <a:latin typeface="Calibri"/>
              </a:defRPr>
            </a:pPr>
            <a:r>
              <a:t>   Role: IoT Firmware &amp; Frontend Lead (Telemetry &amp; Web UI)</a:t>
            </a:r>
          </a:p>
        </p:txBody>
      </p:sp>
      <p:sp>
        <p:nvSpPr>
          <p:cNvPr id="8" name="Rounded Rectangle 7"/>
          <p:cNvSpPr/>
          <p:nvPr/>
        </p:nvSpPr>
        <p:spPr>
          <a:xfrm>
            <a:off x="6217920" y="3383280"/>
            <a:ext cx="5242255" cy="2560320"/>
          </a:xfrm>
          <a:prstGeom prst="roundRect">
            <a:avLst/>
          </a:prstGeom>
          <a:solidFill>
            <a:srgbClr val="0F1E36"/>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spcAft>
                <a:spcPts val="800"/>
              </a:spcAft>
              <a:defRPr sz="1050" b="1">
                <a:solidFill>
                  <a:srgbClr val="D97706"/>
                </a:solidFill>
                <a:latin typeface="Calibri"/>
              </a:defRPr>
            </a:pPr>
            <a:r>
              <a:t>ACADEMIC MENTORSHIP &amp; EVALUATION FRAMEWORK</a:t>
            </a:r>
          </a:p>
          <a:p>
            <a:pPr>
              <a:defRPr sz="950" b="1">
                <a:solidFill>
                  <a:srgbClr val="FFFFFF"/>
                </a:solidFill>
                <a:latin typeface="Calibri"/>
              </a:defRPr>
            </a:pPr>
            <a:r>
              <a:t>• Faculty Project Mentor: Dr. Rashmi Mothkur</a:t>
            </a:r>
          </a:p>
          <a:p>
            <a:pPr>
              <a:spcAft>
                <a:spcPts val="300"/>
              </a:spcAft>
              <a:defRPr sz="850">
                <a:solidFill>
                  <a:srgbClr val="94A3B8"/>
                </a:solidFill>
                <a:latin typeface="Calibri"/>
              </a:defRPr>
            </a:pPr>
            <a:r>
              <a:t>   Associate Professor, Dept. of CSE, ASAC</a:t>
            </a:r>
          </a:p>
          <a:p>
            <a:pPr>
              <a:defRPr sz="950" b="1">
                <a:solidFill>
                  <a:srgbClr val="FFFFFF"/>
                </a:solidFill>
                <a:latin typeface="Calibri"/>
              </a:defRPr>
            </a:pPr>
            <a:r>
              <a:t>• Course Coordinator: Dr. M. Selvam</a:t>
            </a:r>
          </a:p>
          <a:p>
            <a:pPr>
              <a:spcAft>
                <a:spcPts val="300"/>
              </a:spcAft>
              <a:defRPr sz="850">
                <a:solidFill>
                  <a:srgbClr val="94A3B8"/>
                </a:solidFill>
                <a:latin typeface="Calibri"/>
              </a:defRPr>
            </a:pPr>
            <a:r>
              <a:t>   Associate Professor, ASAC</a:t>
            </a:r>
          </a:p>
          <a:p>
            <a:pPr>
              <a:defRPr sz="950" b="1">
                <a:solidFill>
                  <a:srgbClr val="FFFFFF"/>
                </a:solidFill>
                <a:latin typeface="Calibri"/>
              </a:defRPr>
            </a:pPr>
            <a:r>
              <a:t>• Evaluation Milestone: Review-I (Week 5)</a:t>
            </a:r>
          </a:p>
          <a:p>
            <a:pPr>
              <a:spcAft>
                <a:spcPts val="300"/>
              </a:spcAft>
              <a:defRPr sz="850">
                <a:solidFill>
                  <a:srgbClr val="94A3B8"/>
                </a:solidFill>
                <a:latin typeface="Calibri"/>
              </a:defRPr>
            </a:pPr>
            <a:r>
              <a:t>   Scope Lock, Literature Gap &amp; Feasibility</a:t>
            </a:r>
          </a:p>
          <a:p>
            <a:pPr>
              <a:defRPr sz="950" b="1">
                <a:solidFill>
                  <a:srgbClr val="FFFFFF"/>
                </a:solidFill>
                <a:latin typeface="Calibri"/>
              </a:defRPr>
            </a:pPr>
            <a:r>
              <a:t>• Internal Weightage: 10 Marks Internal</a:t>
            </a:r>
          </a:p>
          <a:p>
            <a:pPr>
              <a:spcAft>
                <a:spcPts val="300"/>
              </a:spcAft>
              <a:defRPr sz="850">
                <a:solidFill>
                  <a:srgbClr val="94A3B8"/>
                </a:solidFill>
                <a:latin typeface="Calibri"/>
              </a:defRPr>
            </a:pPr>
            <a:r>
              <a:t>   (25 Mentor Marks + 25 Panel Marks) / 5</a:t>
            </a:r>
          </a:p>
        </p:txBody>
      </p:sp>
      <p:sp>
        <p:nvSpPr>
          <p:cNvPr id="9" name="Rectangle 8"/>
          <p:cNvSpPr/>
          <p:nvPr/>
        </p:nvSpPr>
        <p:spPr>
          <a:xfrm>
            <a:off x="0" y="6537960"/>
            <a:ext cx="12191695" cy="320040"/>
          </a:xfrm>
          <a:prstGeom prst="rect">
            <a:avLst/>
          </a:prstGeom>
          <a:solidFill>
            <a:srgbClr val="081A30"/>
          </a:solidFill>
          <a:ln>
            <a:solidFill>
              <a:srgbClr val="081A30"/>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850">
                <a:solidFill>
                  <a:srgbClr val="94A3B8"/>
                </a:solidFill>
                <a:latin typeface="Calibri"/>
              </a:defRPr>
            </a:pPr>
            <a:r>
              <a:t>Alliance University — School of Advanced Computing | Department of Computer Science &amp; Engineering | Academic Year 2024–2025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INSTITUTIONAL COMPLIANCE &amp; RUBRIC MAPPING</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Review-I Institutional Evaluation Framework &amp; Grading Model</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Rigorous mapping to Alliance University Design Project Process Manual &amp; Evaluation Rubrics v2.4 (Week 5 Scope Lock)</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2 of 16</a:t>
            </a:r>
          </a:p>
        </p:txBody>
      </p:sp>
      <p:sp>
        <p:nvSpPr>
          <p:cNvPr id="9" name="Rounded Rectangle 8"/>
          <p:cNvSpPr/>
          <p:nvPr/>
        </p:nvSpPr>
        <p:spPr>
          <a:xfrm>
            <a:off x="731520" y="1600200"/>
            <a:ext cx="3392424" cy="132588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3099816" cy="1069848"/>
          </a:xfrm>
          <a:prstGeom prst="rect">
            <a:avLst/>
          </a:prstGeom>
          <a:noFill/>
        </p:spPr>
        <p:txBody>
          <a:bodyPr wrap="square" lIns="0" tIns="0" rIns="0" bIns="0">
            <a:spAutoFit/>
          </a:bodyPr>
          <a:lstStyle/>
          <a:p>
            <a:pPr>
              <a:spcAft>
                <a:spcPts val="200"/>
              </a:spcAft>
              <a:defRPr sz="800" b="1">
                <a:solidFill>
                  <a:srgbClr val="B45309"/>
                </a:solidFill>
                <a:latin typeface="Calibri"/>
              </a:defRPr>
            </a:pPr>
            <a:r>
              <a:t>WEIGHTED EVALUATION</a:t>
            </a:r>
          </a:p>
          <a:p>
            <a:pPr>
              <a:spcAft>
                <a:spcPts val="400"/>
              </a:spcAft>
              <a:defRPr sz="1050" b="1">
                <a:solidFill>
                  <a:srgbClr val="1D4ED8"/>
                </a:solidFill>
                <a:latin typeface="Calibri"/>
              </a:defRPr>
            </a:pPr>
            <a:r>
              <a:t>10 Total Internal Marks</a:t>
            </a:r>
          </a:p>
          <a:p>
            <a:pPr>
              <a:spcAft>
                <a:spcPts val="250"/>
              </a:spcAft>
              <a:defRPr sz="850">
                <a:solidFill>
                  <a:srgbClr val="0F172A"/>
                </a:solidFill>
                <a:latin typeface="Calibri"/>
              </a:defRPr>
            </a:pPr>
            <a:r>
              <a:t>• (Mentor 25M + Panel 25M) / 5 = 10 Marks</a:t>
            </a:r>
          </a:p>
          <a:p>
            <a:pPr>
              <a:spcAft>
                <a:spcPts val="250"/>
              </a:spcAft>
              <a:defRPr sz="850">
                <a:solidFill>
                  <a:srgbClr val="0F172A"/>
                </a:solidFill>
                <a:latin typeface="Calibri"/>
              </a:defRPr>
            </a:pPr>
            <a:r>
              <a:t>• Direct contribution to Semester V GPA</a:t>
            </a:r>
          </a:p>
          <a:p>
            <a:pPr>
              <a:spcAft>
                <a:spcPts val="250"/>
              </a:spcAft>
              <a:defRPr sz="850">
                <a:solidFill>
                  <a:srgbClr val="0F172A"/>
                </a:solidFill>
                <a:latin typeface="Calibri"/>
              </a:defRPr>
            </a:pPr>
            <a:r>
              <a:t>• Mandatory threshold for Review-2 qualification</a:t>
            </a:r>
          </a:p>
        </p:txBody>
      </p:sp>
      <p:sp>
        <p:nvSpPr>
          <p:cNvPr id="11" name="Rounded Rectangle 10"/>
          <p:cNvSpPr/>
          <p:nvPr/>
        </p:nvSpPr>
        <p:spPr>
          <a:xfrm>
            <a:off x="4398264" y="1600200"/>
            <a:ext cx="3392424" cy="132588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3099816" cy="1069848"/>
          </a:xfrm>
          <a:prstGeom prst="rect">
            <a:avLst/>
          </a:prstGeom>
          <a:noFill/>
        </p:spPr>
        <p:txBody>
          <a:bodyPr wrap="square" lIns="0" tIns="0" rIns="0" bIns="0">
            <a:spAutoFit/>
          </a:bodyPr>
          <a:lstStyle/>
          <a:p>
            <a:pPr>
              <a:spcAft>
                <a:spcPts val="200"/>
              </a:spcAft>
              <a:defRPr sz="800" b="1">
                <a:solidFill>
                  <a:srgbClr val="B45309"/>
                </a:solidFill>
                <a:latin typeface="Calibri"/>
              </a:defRPr>
            </a:pPr>
            <a:r>
              <a:t>RIGOROUS ASSESSMENT</a:t>
            </a:r>
          </a:p>
          <a:p>
            <a:pPr>
              <a:spcAft>
                <a:spcPts val="400"/>
              </a:spcAft>
              <a:defRPr sz="1050" b="1">
                <a:solidFill>
                  <a:srgbClr val="B45309"/>
                </a:solidFill>
                <a:latin typeface="Calibri"/>
              </a:defRPr>
            </a:pPr>
            <a:r>
              <a:t>5 Evaluation Criteria</a:t>
            </a:r>
          </a:p>
          <a:p>
            <a:pPr>
              <a:spcAft>
                <a:spcPts val="250"/>
              </a:spcAft>
              <a:defRPr sz="850">
                <a:solidFill>
                  <a:srgbClr val="0F172A"/>
                </a:solidFill>
                <a:latin typeface="Calibri"/>
              </a:defRPr>
            </a:pPr>
            <a:r>
              <a:t>• 5 Marks per criterion across both examiners</a:t>
            </a:r>
          </a:p>
          <a:p>
            <a:pPr>
              <a:spcAft>
                <a:spcPts val="250"/>
              </a:spcAft>
              <a:defRPr sz="850">
                <a:solidFill>
                  <a:srgbClr val="0F172A"/>
                </a:solidFill>
                <a:latin typeface="Calibri"/>
              </a:defRPr>
            </a:pPr>
            <a:r>
              <a:t>• Strict evidence-backed rubric standards</a:t>
            </a:r>
          </a:p>
          <a:p>
            <a:pPr>
              <a:spcAft>
                <a:spcPts val="250"/>
              </a:spcAft>
              <a:defRPr sz="850">
                <a:solidFill>
                  <a:srgbClr val="0F172A"/>
                </a:solidFill>
                <a:latin typeface="Calibri"/>
              </a:defRPr>
            </a:pPr>
            <a:r>
              <a:t>• Equal emphasis on design and defense</a:t>
            </a:r>
          </a:p>
        </p:txBody>
      </p:sp>
      <p:sp>
        <p:nvSpPr>
          <p:cNvPr id="13" name="Rounded Rectangle 12"/>
          <p:cNvSpPr/>
          <p:nvPr/>
        </p:nvSpPr>
        <p:spPr>
          <a:xfrm>
            <a:off x="8065008" y="1600200"/>
            <a:ext cx="3392424" cy="132588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728216"/>
            <a:ext cx="3099816" cy="1069848"/>
          </a:xfrm>
          <a:prstGeom prst="rect">
            <a:avLst/>
          </a:prstGeom>
          <a:noFill/>
        </p:spPr>
        <p:txBody>
          <a:bodyPr wrap="square" lIns="0" tIns="0" rIns="0" bIns="0">
            <a:spAutoFit/>
          </a:bodyPr>
          <a:lstStyle/>
          <a:p>
            <a:pPr>
              <a:spcAft>
                <a:spcPts val="200"/>
              </a:spcAft>
              <a:defRPr sz="800" b="1">
                <a:solidFill>
                  <a:srgbClr val="B45309"/>
                </a:solidFill>
                <a:latin typeface="Calibri"/>
              </a:defRPr>
            </a:pPr>
            <a:r>
              <a:t>PROCESS MILESTONE</a:t>
            </a:r>
          </a:p>
          <a:p>
            <a:pPr>
              <a:spcAft>
                <a:spcPts val="400"/>
              </a:spcAft>
              <a:defRPr sz="1050" b="1">
                <a:solidFill>
                  <a:srgbClr val="15803D"/>
                </a:solidFill>
                <a:latin typeface="Calibri"/>
              </a:defRPr>
            </a:pPr>
            <a:r>
              <a:t>Week 5 Scope Lock</a:t>
            </a:r>
          </a:p>
          <a:p>
            <a:pPr>
              <a:spcAft>
                <a:spcPts val="250"/>
              </a:spcAft>
              <a:defRPr sz="850">
                <a:solidFill>
                  <a:srgbClr val="0F172A"/>
                </a:solidFill>
                <a:latin typeface="Calibri"/>
              </a:defRPr>
            </a:pPr>
            <a:r>
              <a:t>• Formal baselining of engineering scope</a:t>
            </a:r>
          </a:p>
          <a:p>
            <a:pPr>
              <a:spcAft>
                <a:spcPts val="250"/>
              </a:spcAft>
              <a:defRPr sz="850">
                <a:solidFill>
                  <a:srgbClr val="0F172A"/>
                </a:solidFill>
                <a:latin typeface="Calibri"/>
              </a:defRPr>
            </a:pPr>
            <a:r>
              <a:t>• Locks objectives and boundary conditions</a:t>
            </a:r>
          </a:p>
          <a:p>
            <a:pPr>
              <a:spcAft>
                <a:spcPts val="250"/>
              </a:spcAft>
              <a:defRPr sz="850">
                <a:solidFill>
                  <a:srgbClr val="0F172A"/>
                </a:solidFill>
                <a:latin typeface="Calibri"/>
              </a:defRPr>
            </a:pPr>
            <a:r>
              <a:t>• Eliminates post-review scope creep</a:t>
            </a:r>
          </a:p>
        </p:txBody>
      </p:sp>
      <p:graphicFrame>
        <p:nvGraphicFramePr>
          <p:cNvPr id="15" name="Table 14"/>
          <p:cNvGraphicFramePr>
            <a:graphicFrameLocks noGrp="1"/>
          </p:cNvGraphicFramePr>
          <p:nvPr/>
        </p:nvGraphicFramePr>
        <p:xfrm>
          <a:off x="731520" y="3063240"/>
          <a:ext cx="10728655" cy="3063240"/>
        </p:xfrm>
        <a:graphic>
          <a:graphicData uri="http://schemas.openxmlformats.org/drawingml/2006/table">
            <a:tbl>
              <a:tblPr firstRow="1" bandRow="1">
                <a:tableStyleId>{5C22544A-7EE6-4342-B048-85BDC9FD1C3A}</a:tableStyleId>
              </a:tblPr>
              <a:tblGrid>
                <a:gridCol w="2377440"/>
                <a:gridCol w="914400"/>
                <a:gridCol w="1371600"/>
                <a:gridCol w="6065215"/>
              </a:tblGrid>
              <a:tr h="510540">
                <a:tc>
                  <a:txBody>
                    <a:bodyPr/>
                    <a:lstStyle/>
                    <a:p>
                      <a:pPr>
                        <a:defRPr sz="950" b="1">
                          <a:solidFill>
                            <a:srgbClr val="FFFFFF"/>
                          </a:solidFill>
                          <a:latin typeface="Calibri"/>
                        </a:defRPr>
                      </a:pPr>
                      <a:r>
                        <a:t>Rubric Evaluation Dimension</a:t>
                      </a:r>
                    </a:p>
                  </a:txBody>
                  <a:tcPr>
                    <a:solidFill>
                      <a:srgbClr val="0B2545"/>
                    </a:solidFill>
                  </a:tcPr>
                </a:tc>
                <a:tc>
                  <a:txBody>
                    <a:bodyPr/>
                    <a:lstStyle/>
                    <a:p>
                      <a:pPr>
                        <a:defRPr sz="950" b="1">
                          <a:solidFill>
                            <a:srgbClr val="FFFFFF"/>
                          </a:solidFill>
                          <a:latin typeface="Calibri"/>
                        </a:defRPr>
                      </a:pPr>
                      <a:r>
                        <a:t>Max Marks</a:t>
                      </a:r>
                    </a:p>
                  </a:txBody>
                  <a:tcPr>
                    <a:solidFill>
                      <a:srgbClr val="0B2545"/>
                    </a:solidFill>
                  </a:tcPr>
                </a:tc>
                <a:tc>
                  <a:txBody>
                    <a:bodyPr/>
                    <a:lstStyle/>
                    <a:p>
                      <a:pPr>
                        <a:defRPr sz="950" b="1">
                          <a:solidFill>
                            <a:srgbClr val="FFFFFF"/>
                          </a:solidFill>
                          <a:latin typeface="Calibri"/>
                        </a:defRPr>
                      </a:pPr>
                      <a:r>
                        <a:t>Target Standard</a:t>
                      </a:r>
                    </a:p>
                  </a:txBody>
                  <a:tcPr>
                    <a:solidFill>
                      <a:srgbClr val="0B2545"/>
                    </a:solidFill>
                  </a:tcPr>
                </a:tc>
                <a:tc>
                  <a:txBody>
                    <a:bodyPr/>
                    <a:lstStyle/>
                    <a:p>
                      <a:pPr>
                        <a:defRPr sz="950" b="1">
                          <a:solidFill>
                            <a:srgbClr val="FFFFFF"/>
                          </a:solidFill>
                          <a:latin typeface="Calibri"/>
                        </a:defRPr>
                      </a:pPr>
                      <a:r>
                        <a:t>Exemplary Performance Requirement (Alliance University Rubrics v2.4)</a:t>
                      </a:r>
                    </a:p>
                  </a:txBody>
                  <a:tcPr>
                    <a:solidFill>
                      <a:srgbClr val="0B2545"/>
                    </a:solidFill>
                  </a:tcPr>
                </a:tc>
              </a:tr>
              <a:tr h="510540">
                <a:tc>
                  <a:txBody>
                    <a:bodyPr/>
                    <a:lstStyle/>
                    <a:p>
                      <a:pPr>
                        <a:defRPr sz="850" b="1">
                          <a:solidFill>
                            <a:srgbClr val="0B2545"/>
                          </a:solidFill>
                          <a:latin typeface="Calibri"/>
                        </a:defRPr>
                      </a:pPr>
                      <a:r>
                        <a:t>1. Problem Identification, Need &amp; Scope</a:t>
                      </a:r>
                    </a:p>
                  </a:txBody>
                  <a:tcPr marL="109728" marR="109728" marT="54864" marB="54864">
                    <a:solidFill>
                      <a:srgbClr val="FFFFFF"/>
                    </a:solidFill>
                  </a:tcPr>
                </a:tc>
                <a:tc>
                  <a:txBody>
                    <a:bodyPr/>
                    <a:lstStyle/>
                    <a:p>
                      <a:pPr algn="ctr">
                        <a:defRPr sz="850">
                          <a:solidFill>
                            <a:srgbClr val="0F172A"/>
                          </a:solidFill>
                          <a:latin typeface="Calibri"/>
                        </a:defRPr>
                      </a:pPr>
                      <a:r>
                        <a:t>5 Marks</a:t>
                      </a:r>
                    </a:p>
                  </a:txBody>
                  <a:tcPr marL="109728" marR="109728" marT="54864" marB="54864">
                    <a:solidFill>
                      <a:srgbClr val="FFFFFF"/>
                    </a:solidFill>
                  </a:tcPr>
                </a:tc>
                <a:tc>
                  <a:txBody>
                    <a:bodyPr/>
                    <a:lstStyle/>
                    <a:p>
                      <a:pPr algn="ctr">
                        <a:defRPr sz="850" b="1">
                          <a:solidFill>
                            <a:srgbClr val="15803D"/>
                          </a:solidFill>
                          <a:latin typeface="Calibri"/>
                        </a:defRPr>
                      </a:pPr>
                      <a:r>
                        <a:t>5/5 (Exemplary)</a:t>
                      </a:r>
                    </a:p>
                  </a:txBody>
                  <a:tcPr marL="109728" marR="109728" marT="54864" marB="54864">
                    <a:solidFill>
                      <a:srgbClr val="FFFFFF"/>
                    </a:solidFill>
                  </a:tcPr>
                </a:tc>
                <a:tc>
                  <a:txBody>
                    <a:bodyPr/>
                    <a:lstStyle/>
                    <a:p>
                      <a:pPr>
                        <a:defRPr sz="850">
                          <a:solidFill>
                            <a:srgbClr val="0F172A"/>
                          </a:solidFill>
                          <a:latin typeface="Calibri"/>
                        </a:defRPr>
                      </a:pPr>
                      <a:r>
                        <a:t>Problem is unambiguously defined with real-world campus data (14,200 kWh/day peak, 380,000 L/day water). Clear, defensible boundary between in-scope features and out-of-scope physical fabrication.</a:t>
                      </a:r>
                    </a:p>
                  </a:txBody>
                  <a:tcPr marL="109728" marR="109728" marT="54864" marB="54864">
                    <a:solidFill>
                      <a:srgbClr val="FFFFFF"/>
                    </a:solidFill>
                  </a:tcPr>
                </a:tc>
              </a:tr>
              <a:tr h="510540">
                <a:tc>
                  <a:txBody>
                    <a:bodyPr/>
                    <a:lstStyle/>
                    <a:p>
                      <a:pPr>
                        <a:defRPr sz="850" b="1">
                          <a:solidFill>
                            <a:srgbClr val="0B2545"/>
                          </a:solidFill>
                          <a:latin typeface="Calibri"/>
                        </a:defRPr>
                      </a:pPr>
                      <a:r>
                        <a:t>2. Literature Review &amp; Gap Analysis</a:t>
                      </a:r>
                    </a:p>
                  </a:txBody>
                  <a:tcPr marL="109728" marR="109728" marT="54864" marB="54864">
                    <a:solidFill>
                      <a:srgbClr val="F8FAFC"/>
                    </a:solidFill>
                  </a:tcPr>
                </a:tc>
                <a:tc>
                  <a:txBody>
                    <a:bodyPr/>
                    <a:lstStyle/>
                    <a:p>
                      <a:pPr algn="ctr">
                        <a:defRPr sz="850">
                          <a:solidFill>
                            <a:srgbClr val="0F172A"/>
                          </a:solidFill>
                          <a:latin typeface="Calibri"/>
                        </a:defRPr>
                      </a:pPr>
                      <a:r>
                        <a:t>5 Marks</a:t>
                      </a:r>
                    </a:p>
                  </a:txBody>
                  <a:tcPr marL="109728" marR="109728" marT="54864" marB="54864">
                    <a:solidFill>
                      <a:srgbClr val="F8FAFC"/>
                    </a:solidFill>
                  </a:tcPr>
                </a:tc>
                <a:tc>
                  <a:txBody>
                    <a:bodyPr/>
                    <a:lstStyle/>
                    <a:p>
                      <a:pPr algn="ctr">
                        <a:defRPr sz="850" b="1">
                          <a:solidFill>
                            <a:srgbClr val="15803D"/>
                          </a:solidFill>
                          <a:latin typeface="Calibri"/>
                        </a:defRPr>
                      </a:pPr>
                      <a:r>
                        <a:t>5/5 (Exemplary)</a:t>
                      </a:r>
                    </a:p>
                  </a:txBody>
                  <a:tcPr marL="109728" marR="109728" marT="54864" marB="54864">
                    <a:solidFill>
                      <a:srgbClr val="F8FAFC"/>
                    </a:solidFill>
                  </a:tcPr>
                </a:tc>
                <a:tc>
                  <a:txBody>
                    <a:bodyPr/>
                    <a:lstStyle/>
                    <a:p>
                      <a:pPr>
                        <a:defRPr sz="850">
                          <a:solidFill>
                            <a:srgbClr val="0F172A"/>
                          </a:solidFill>
                          <a:latin typeface="Calibri"/>
                        </a:defRPr>
                      </a:pPr>
                      <a:r>
                        <a:t>Comprehensive survey of 15 peer-reviewed papers (IEEE, ACM, Elsevier 2019-2024). Features a 12-column comparative analysis matrix establishing a distinct, unaddressed multi-modal co-optimization gap.</a:t>
                      </a:r>
                    </a:p>
                  </a:txBody>
                  <a:tcPr marL="109728" marR="109728" marT="54864" marB="54864">
                    <a:solidFill>
                      <a:srgbClr val="F8FAFC"/>
                    </a:solidFill>
                  </a:tcPr>
                </a:tc>
              </a:tr>
              <a:tr h="510540">
                <a:tc>
                  <a:txBody>
                    <a:bodyPr/>
                    <a:lstStyle/>
                    <a:p>
                      <a:pPr>
                        <a:defRPr sz="850" b="1">
                          <a:solidFill>
                            <a:srgbClr val="0B2545"/>
                          </a:solidFill>
                          <a:latin typeface="Calibri"/>
                        </a:defRPr>
                      </a:pPr>
                      <a:r>
                        <a:t>3. Objectives &amp; Requirements Formulation</a:t>
                      </a:r>
                    </a:p>
                  </a:txBody>
                  <a:tcPr marL="109728" marR="109728" marT="54864" marB="54864">
                    <a:solidFill>
                      <a:srgbClr val="FFFFFF"/>
                    </a:solidFill>
                  </a:tcPr>
                </a:tc>
                <a:tc>
                  <a:txBody>
                    <a:bodyPr/>
                    <a:lstStyle/>
                    <a:p>
                      <a:pPr algn="ctr">
                        <a:defRPr sz="850">
                          <a:solidFill>
                            <a:srgbClr val="0F172A"/>
                          </a:solidFill>
                          <a:latin typeface="Calibri"/>
                        </a:defRPr>
                      </a:pPr>
                      <a:r>
                        <a:t>5 Marks</a:t>
                      </a:r>
                    </a:p>
                  </a:txBody>
                  <a:tcPr marL="109728" marR="109728" marT="54864" marB="54864">
                    <a:solidFill>
                      <a:srgbClr val="FFFFFF"/>
                    </a:solidFill>
                  </a:tcPr>
                </a:tc>
                <a:tc>
                  <a:txBody>
                    <a:bodyPr/>
                    <a:lstStyle/>
                    <a:p>
                      <a:pPr algn="ctr">
                        <a:defRPr sz="850" b="1">
                          <a:solidFill>
                            <a:srgbClr val="15803D"/>
                          </a:solidFill>
                          <a:latin typeface="Calibri"/>
                        </a:defRPr>
                      </a:pPr>
                      <a:r>
                        <a:t>5/5 (Exemplary)</a:t>
                      </a:r>
                    </a:p>
                  </a:txBody>
                  <a:tcPr marL="109728" marR="109728" marT="54864" marB="54864">
                    <a:solidFill>
                      <a:srgbClr val="FFFFFF"/>
                    </a:solidFill>
                  </a:tcPr>
                </a:tc>
                <a:tc>
                  <a:txBody>
                    <a:bodyPr/>
                    <a:lstStyle/>
                    <a:p>
                      <a:pPr>
                        <a:defRPr sz="850">
                          <a:solidFill>
                            <a:srgbClr val="0F172A"/>
                          </a:solidFill>
                          <a:latin typeface="Calibri"/>
                        </a:defRPr>
                      </a:pPr>
                      <a:r>
                        <a:t>6 SMART objectives with quantitative performance metrics (R² &gt; 0.92, 18.4% energy curtailment, 0 timetable clashes). Section 1.5 Complex Engineering Problems (WP1-WP5) rigorously mapped.</a:t>
                      </a:r>
                    </a:p>
                  </a:txBody>
                  <a:tcPr marL="109728" marR="109728" marT="54864" marB="54864">
                    <a:solidFill>
                      <a:srgbClr val="FFFFFF"/>
                    </a:solidFill>
                  </a:tcPr>
                </a:tc>
              </a:tr>
              <a:tr h="510540">
                <a:tc>
                  <a:txBody>
                    <a:bodyPr/>
                    <a:lstStyle/>
                    <a:p>
                      <a:pPr>
                        <a:defRPr sz="850" b="1">
                          <a:solidFill>
                            <a:srgbClr val="0B2545"/>
                          </a:solidFill>
                          <a:latin typeface="Calibri"/>
                        </a:defRPr>
                      </a:pPr>
                      <a:r>
                        <a:t>4. Proposed Methodology, Tools &amp; Feasibility</a:t>
                      </a:r>
                    </a:p>
                  </a:txBody>
                  <a:tcPr marL="109728" marR="109728" marT="54864" marB="54864">
                    <a:solidFill>
                      <a:srgbClr val="F8FAFC"/>
                    </a:solidFill>
                  </a:tcPr>
                </a:tc>
                <a:tc>
                  <a:txBody>
                    <a:bodyPr/>
                    <a:lstStyle/>
                    <a:p>
                      <a:pPr algn="ctr">
                        <a:defRPr sz="850">
                          <a:solidFill>
                            <a:srgbClr val="0F172A"/>
                          </a:solidFill>
                          <a:latin typeface="Calibri"/>
                        </a:defRPr>
                      </a:pPr>
                      <a:r>
                        <a:t>5 Marks</a:t>
                      </a:r>
                    </a:p>
                  </a:txBody>
                  <a:tcPr marL="109728" marR="109728" marT="54864" marB="54864">
                    <a:solidFill>
                      <a:srgbClr val="F8FAFC"/>
                    </a:solidFill>
                  </a:tcPr>
                </a:tc>
                <a:tc>
                  <a:txBody>
                    <a:bodyPr/>
                    <a:lstStyle/>
                    <a:p>
                      <a:pPr algn="ctr">
                        <a:defRPr sz="850" b="1">
                          <a:solidFill>
                            <a:srgbClr val="15803D"/>
                          </a:solidFill>
                          <a:latin typeface="Calibri"/>
                        </a:defRPr>
                      </a:pPr>
                      <a:r>
                        <a:t>5/5 (Exemplary)</a:t>
                      </a:r>
                    </a:p>
                  </a:txBody>
                  <a:tcPr marL="109728" marR="109728" marT="54864" marB="54864">
                    <a:solidFill>
                      <a:srgbClr val="F8FAFC"/>
                    </a:solidFill>
                  </a:tcPr>
                </a:tc>
                <a:tc>
                  <a:txBody>
                    <a:bodyPr/>
                    <a:lstStyle/>
                    <a:p>
                      <a:pPr>
                        <a:defRPr sz="850">
                          <a:solidFill>
                            <a:srgbClr val="0F172A"/>
                          </a:solidFill>
                          <a:latin typeface="Calibri"/>
                        </a:defRPr>
                      </a:pPr>
                      <a:r>
                        <a:t>4-tier microservices architecture justified via Pugh decision matrix against industry alternatives. 3-tier hybrid data collection strategy and a 5-point risk register (R-01 to R-05) fully articulated.</a:t>
                      </a:r>
                    </a:p>
                  </a:txBody>
                  <a:tcPr marL="109728" marR="109728" marT="54864" marB="54864">
                    <a:solidFill>
                      <a:srgbClr val="F8FAFC"/>
                    </a:solidFill>
                  </a:tcPr>
                </a:tc>
              </a:tr>
              <a:tr h="510540">
                <a:tc>
                  <a:txBody>
                    <a:bodyPr/>
                    <a:lstStyle/>
                    <a:p>
                      <a:pPr>
                        <a:defRPr sz="850" b="1">
                          <a:solidFill>
                            <a:srgbClr val="0B2545"/>
                          </a:solidFill>
                          <a:latin typeface="Calibri"/>
                        </a:defRPr>
                      </a:pPr>
                      <a:r>
                        <a:t>5. Presentation &amp; Technical Defense</a:t>
                      </a:r>
                    </a:p>
                  </a:txBody>
                  <a:tcPr marL="109728" marR="109728" marT="54864" marB="54864">
                    <a:solidFill>
                      <a:srgbClr val="FFFFFF"/>
                    </a:solidFill>
                  </a:tcPr>
                </a:tc>
                <a:tc>
                  <a:txBody>
                    <a:bodyPr/>
                    <a:lstStyle/>
                    <a:p>
                      <a:pPr algn="ctr">
                        <a:defRPr sz="850">
                          <a:solidFill>
                            <a:srgbClr val="0F172A"/>
                          </a:solidFill>
                          <a:latin typeface="Calibri"/>
                        </a:defRPr>
                      </a:pPr>
                      <a:r>
                        <a:t>5 Marks</a:t>
                      </a:r>
                    </a:p>
                  </a:txBody>
                  <a:tcPr marL="109728" marR="109728" marT="54864" marB="54864">
                    <a:solidFill>
                      <a:srgbClr val="FFFFFF"/>
                    </a:solidFill>
                  </a:tcPr>
                </a:tc>
                <a:tc>
                  <a:txBody>
                    <a:bodyPr/>
                    <a:lstStyle/>
                    <a:p>
                      <a:pPr algn="ctr">
                        <a:defRPr sz="850" b="1">
                          <a:solidFill>
                            <a:srgbClr val="15803D"/>
                          </a:solidFill>
                          <a:latin typeface="Calibri"/>
                        </a:defRPr>
                      </a:pPr>
                      <a:r>
                        <a:t>5/5 (Exemplary)</a:t>
                      </a:r>
                    </a:p>
                  </a:txBody>
                  <a:tcPr marL="109728" marR="109728" marT="54864" marB="54864">
                    <a:solidFill>
                      <a:srgbClr val="FFFFFF"/>
                    </a:solidFill>
                  </a:tcPr>
                </a:tc>
                <a:tc>
                  <a:txBody>
                    <a:bodyPr/>
                    <a:lstStyle/>
                    <a:p>
                      <a:pPr>
                        <a:defRPr sz="850">
                          <a:solidFill>
                            <a:srgbClr val="0F172A"/>
                          </a:solidFill>
                          <a:latin typeface="Calibri"/>
                        </a:defRPr>
                      </a:pPr>
                      <a:r>
                        <a:t>Equitable 4-member speaking distribution (3 minutes each). Seamless technical defense with individual module ownership. Direct, authoritative responses during oral viva with zero deferrals.</a:t>
                      </a:r>
                    </a:p>
                  </a:txBody>
                  <a:tcPr marL="109728" marR="109728" marT="54864" marB="54864">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1: PROBLEM IDENTIFICATION, NEED &amp; SCOPE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Campus Resource Inefficiencies &amp; Empirical Telemetry Baseline</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Quantitative justification of electrical waste, hydraulic mismatch, and classroom underutilization at Alliance University</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3 of 16</a:t>
            </a:r>
          </a:p>
        </p:txBody>
      </p:sp>
      <p:sp>
        <p:nvSpPr>
          <p:cNvPr id="9" name="Rounded Rectangle 8"/>
          <p:cNvSpPr/>
          <p:nvPr/>
        </p:nvSpPr>
        <p:spPr>
          <a:xfrm>
            <a:off x="731520" y="1600200"/>
            <a:ext cx="3392424" cy="2971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3099816" cy="2715768"/>
          </a:xfrm>
          <a:prstGeom prst="rect">
            <a:avLst/>
          </a:prstGeom>
          <a:noFill/>
        </p:spPr>
        <p:txBody>
          <a:bodyPr wrap="square" lIns="0" tIns="0" rIns="0" bIns="0">
            <a:spAutoFit/>
          </a:bodyPr>
          <a:lstStyle/>
          <a:p>
            <a:pPr>
              <a:spcAft>
                <a:spcPts val="200"/>
              </a:spcAft>
              <a:defRPr sz="800" b="1">
                <a:solidFill>
                  <a:srgbClr val="B45309"/>
                </a:solidFill>
                <a:latin typeface="Calibri"/>
              </a:defRPr>
            </a:pPr>
            <a:r>
              <a:t>ENERGY INEFFICIENCY</a:t>
            </a:r>
          </a:p>
          <a:p>
            <a:pPr>
              <a:spcAft>
                <a:spcPts val="400"/>
              </a:spcAft>
              <a:defRPr sz="1050" b="1">
                <a:solidFill>
                  <a:srgbClr val="0B2545"/>
                </a:solidFill>
                <a:latin typeface="Calibri"/>
              </a:defRPr>
            </a:pPr>
            <a:r>
              <a:t>Electrical Energy Wastage (28.4% - 35.2%)</a:t>
            </a:r>
          </a:p>
          <a:p>
            <a:pPr>
              <a:spcAft>
                <a:spcPts val="250"/>
              </a:spcAft>
              <a:defRPr sz="850">
                <a:solidFill>
                  <a:srgbClr val="0F172A"/>
                </a:solidFill>
                <a:latin typeface="Calibri"/>
              </a:defRPr>
            </a:pPr>
            <a:r>
              <a:t>• Chintan Block consumes 14,200 kWh/day peak across lighting, laboratory compute, and central HVAC chillers.</a:t>
            </a:r>
          </a:p>
          <a:p>
            <a:pPr>
              <a:spcAft>
                <a:spcPts val="250"/>
              </a:spcAft>
              <a:defRPr sz="850">
                <a:solidFill>
                  <a:srgbClr val="0F172A"/>
                </a:solidFill>
                <a:latin typeface="Calibri"/>
              </a:defRPr>
            </a:pPr>
            <a:r>
              <a:t>• Audits reveal 3,840 kWh wasted daily cooling and illuminating unoccupied classrooms during transition hours.</a:t>
            </a:r>
          </a:p>
          <a:p>
            <a:pPr>
              <a:spcAft>
                <a:spcPts val="250"/>
              </a:spcAft>
              <a:defRPr sz="850">
                <a:solidFill>
                  <a:srgbClr val="0F172A"/>
                </a:solidFill>
                <a:latin typeface="Calibri"/>
              </a:defRPr>
            </a:pPr>
            <a:r>
              <a:t>• Lack of automated setpoint setbacks causes continuous baseline power drain during non-lecture intervals.</a:t>
            </a:r>
          </a:p>
          <a:p>
            <a:pPr>
              <a:spcAft>
                <a:spcPts val="250"/>
              </a:spcAft>
              <a:defRPr sz="850">
                <a:solidFill>
                  <a:srgbClr val="0F172A"/>
                </a:solidFill>
                <a:latin typeface="Calibri"/>
              </a:defRPr>
            </a:pPr>
            <a:r>
              <a:t>• Target: Automated setpoint setback and schedule-driven curtailment targeting an 18.4% reduction in peak consumption.</a:t>
            </a:r>
          </a:p>
        </p:txBody>
      </p:sp>
      <p:sp>
        <p:nvSpPr>
          <p:cNvPr id="11" name="Rounded Rectangle 10"/>
          <p:cNvSpPr/>
          <p:nvPr/>
        </p:nvSpPr>
        <p:spPr>
          <a:xfrm>
            <a:off x="4398264" y="1600200"/>
            <a:ext cx="3392424" cy="2971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3099816" cy="2715768"/>
          </a:xfrm>
          <a:prstGeom prst="rect">
            <a:avLst/>
          </a:prstGeom>
          <a:noFill/>
        </p:spPr>
        <p:txBody>
          <a:bodyPr wrap="square" lIns="0" tIns="0" rIns="0" bIns="0">
            <a:spAutoFit/>
          </a:bodyPr>
          <a:lstStyle/>
          <a:p>
            <a:pPr>
              <a:spcAft>
                <a:spcPts val="200"/>
              </a:spcAft>
              <a:defRPr sz="800" b="1">
                <a:solidFill>
                  <a:srgbClr val="B45309"/>
                </a:solidFill>
                <a:latin typeface="Calibri"/>
              </a:defRPr>
            </a:pPr>
            <a:r>
              <a:t>HYDRAULIC MISMATCH</a:t>
            </a:r>
          </a:p>
          <a:p>
            <a:pPr>
              <a:spcAft>
                <a:spcPts val="400"/>
              </a:spcAft>
              <a:defRPr sz="1050" b="1">
                <a:solidFill>
                  <a:srgbClr val="0B2545"/>
                </a:solidFill>
                <a:latin typeface="Calibri"/>
              </a:defRPr>
            </a:pPr>
            <a:r>
              <a:t>Uncoordinated Water Pump Scheduling</a:t>
            </a:r>
          </a:p>
          <a:p>
            <a:pPr>
              <a:spcAft>
                <a:spcPts val="250"/>
              </a:spcAft>
              <a:defRPr sz="850">
                <a:solidFill>
                  <a:srgbClr val="0F172A"/>
                </a:solidFill>
                <a:latin typeface="Calibri"/>
              </a:defRPr>
            </a:pPr>
            <a:r>
              <a:t>• Campus consumes ~380,000 Liters/day across academic blocks, student hostels, and dining facilities.</a:t>
            </a:r>
          </a:p>
          <a:p>
            <a:pPr>
              <a:spcAft>
                <a:spcPts val="250"/>
              </a:spcAft>
              <a:defRPr sz="850">
                <a:solidFill>
                  <a:srgbClr val="0F172A"/>
                </a:solidFill>
                <a:latin typeface="Calibri"/>
              </a:defRPr>
            </a:pPr>
            <a:r>
              <a:t>• Manual pump operation causes frequent overhead tank overflows, pump dry-runs, and unmonitored line leaks.</a:t>
            </a:r>
          </a:p>
          <a:p>
            <a:pPr>
              <a:spcAft>
                <a:spcPts val="250"/>
              </a:spcAft>
              <a:defRPr sz="850">
                <a:solidFill>
                  <a:srgbClr val="0F172A"/>
                </a:solidFill>
                <a:latin typeface="Calibri"/>
              </a:defRPr>
            </a:pPr>
            <a:r>
              <a:t>• Distribution imbalances inflate pumping electricity consumption and cause premature pump impeller wear.</a:t>
            </a:r>
          </a:p>
          <a:p>
            <a:pPr>
              <a:spcAft>
                <a:spcPts val="250"/>
              </a:spcAft>
              <a:defRPr sz="850">
                <a:solidFill>
                  <a:srgbClr val="0F172A"/>
                </a:solidFill>
                <a:latin typeface="Calibri"/>
              </a:defRPr>
            </a:pPr>
            <a:r>
              <a:t>• Target: Ultrasonic level telemetry (JSN-SR04T) with automated closed-loop shutoff relays cutting cycle wear by 22%.</a:t>
            </a:r>
          </a:p>
        </p:txBody>
      </p:sp>
      <p:sp>
        <p:nvSpPr>
          <p:cNvPr id="13" name="Rounded Rectangle 12"/>
          <p:cNvSpPr/>
          <p:nvPr/>
        </p:nvSpPr>
        <p:spPr>
          <a:xfrm>
            <a:off x="8065008" y="1600200"/>
            <a:ext cx="3392424" cy="2971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728216"/>
            <a:ext cx="3099816" cy="2715768"/>
          </a:xfrm>
          <a:prstGeom prst="rect">
            <a:avLst/>
          </a:prstGeom>
          <a:noFill/>
        </p:spPr>
        <p:txBody>
          <a:bodyPr wrap="square" lIns="0" tIns="0" rIns="0" bIns="0">
            <a:spAutoFit/>
          </a:bodyPr>
          <a:lstStyle/>
          <a:p>
            <a:pPr>
              <a:spcAft>
                <a:spcPts val="200"/>
              </a:spcAft>
              <a:defRPr sz="800" b="1">
                <a:solidFill>
                  <a:srgbClr val="B45309"/>
                </a:solidFill>
                <a:latin typeface="Calibri"/>
              </a:defRPr>
            </a:pPr>
            <a:r>
              <a:t>SPACE OCCUPANCY GAP</a:t>
            </a:r>
          </a:p>
          <a:p>
            <a:pPr>
              <a:spcAft>
                <a:spcPts val="400"/>
              </a:spcAft>
              <a:defRPr sz="1050" b="1">
                <a:solidFill>
                  <a:srgbClr val="0B2545"/>
                </a:solidFill>
                <a:latin typeface="Calibri"/>
              </a:defRPr>
            </a:pPr>
            <a:r>
              <a:t>Spatial Underutilization (38.6% Variance)</a:t>
            </a:r>
          </a:p>
          <a:p>
            <a:pPr>
              <a:spcAft>
                <a:spcPts val="250"/>
              </a:spcAft>
              <a:defRPr sz="850">
                <a:solidFill>
                  <a:srgbClr val="0F172A"/>
                </a:solidFill>
                <a:latin typeface="Calibri"/>
              </a:defRPr>
            </a:pPr>
            <a:r>
              <a:t>• Classrooms scheduled for 60 students frequently host fewer than 15, while computing labs experience severe bottlenecks.</a:t>
            </a:r>
          </a:p>
          <a:p>
            <a:pPr>
              <a:spcAft>
                <a:spcPts val="250"/>
              </a:spcAft>
              <a:defRPr sz="850">
                <a:solidFill>
                  <a:srgbClr val="0F172A"/>
                </a:solidFill>
                <a:latin typeface="Calibri"/>
              </a:defRPr>
            </a:pPr>
            <a:r>
              <a:t>• Static master timetables fail to adapt to live attendance fluctuations, causing 38.6% spatial utilization variance.</a:t>
            </a:r>
          </a:p>
          <a:p>
            <a:pPr>
              <a:spcAft>
                <a:spcPts val="250"/>
              </a:spcAft>
              <a:defRPr sz="850">
                <a:solidFill>
                  <a:srgbClr val="0F172A"/>
                </a:solidFill>
                <a:latin typeface="Calibri"/>
              </a:defRPr>
            </a:pPr>
            <a:r>
              <a:t>• Siloed facility booking creates artificial room shortages while vacant air-conditioned halls consume active power.</a:t>
            </a:r>
          </a:p>
          <a:p>
            <a:pPr>
              <a:spcAft>
                <a:spcPts val="250"/>
              </a:spcAft>
              <a:defRPr sz="850">
                <a:solidFill>
                  <a:srgbClr val="0F172A"/>
                </a:solidFill>
                <a:latin typeface="Calibri"/>
              </a:defRPr>
            </a:pPr>
            <a:r>
              <a:t>• Target: Computer vision occupancy tracking and dynamic CSP room reassignment to maximize spatial utilization.</a:t>
            </a:r>
          </a:p>
        </p:txBody>
      </p:sp>
      <p:sp>
        <p:nvSpPr>
          <p:cNvPr id="15" name="Rounded Rectangle 14"/>
          <p:cNvSpPr/>
          <p:nvPr/>
        </p:nvSpPr>
        <p:spPr>
          <a:xfrm>
            <a:off x="731520" y="4709160"/>
            <a:ext cx="10728655" cy="146304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837176"/>
            <a:ext cx="10436047" cy="1207008"/>
          </a:xfrm>
          <a:prstGeom prst="rect">
            <a:avLst/>
          </a:prstGeom>
          <a:noFill/>
        </p:spPr>
        <p:txBody>
          <a:bodyPr wrap="square" lIns="0" tIns="0" rIns="0" bIns="0">
            <a:spAutoFit/>
          </a:bodyPr>
          <a:lstStyle/>
          <a:p>
            <a:pPr>
              <a:spcAft>
                <a:spcPts val="200"/>
              </a:spcAft>
              <a:defRPr sz="800" b="1">
                <a:solidFill>
                  <a:srgbClr val="B45309"/>
                </a:solidFill>
                <a:latin typeface="Calibri"/>
              </a:defRPr>
            </a:pPr>
            <a:r>
              <a:t>BOUNDARY SPECIFICATION</a:t>
            </a:r>
          </a:p>
          <a:p>
            <a:pPr>
              <a:spcAft>
                <a:spcPts val="400"/>
              </a:spcAft>
              <a:defRPr sz="1050" b="1">
                <a:solidFill>
                  <a:srgbClr val="1D4ED8"/>
                </a:solidFill>
                <a:latin typeface="Calibri"/>
              </a:defRPr>
            </a:pPr>
            <a:r>
              <a:t>Explicit Engineering Scope Boundaries (Process Manual Compliance)</a:t>
            </a:r>
          </a:p>
          <a:p>
            <a:pPr>
              <a:spcAft>
                <a:spcPts val="250"/>
              </a:spcAft>
              <a:defRPr sz="850">
                <a:solidFill>
                  <a:srgbClr val="0F172A"/>
                </a:solidFill>
                <a:latin typeface="Calibri"/>
              </a:defRPr>
            </a:pPr>
            <a:r>
              <a:t>• IN-SCOPE: 4-Tier software backend, IoT data ingestion pipeline (1Hz rate), predictive ML forecasting models (LightGBM/LSTM), dynamic constraint satisfaction room solver, centralized web dashboard.</a:t>
            </a:r>
          </a:p>
          <a:p>
            <a:pPr>
              <a:spcAft>
                <a:spcPts val="250"/>
              </a:spcAft>
              <a:defRPr sz="850">
                <a:solidFill>
                  <a:srgbClr val="0F172A"/>
                </a:solidFill>
                <a:latin typeface="Calibri"/>
              </a:defRPr>
            </a:pPr>
            <a:r>
              <a:t>• OUT-OF-SCOPE: Custom silicon/microchip fabrication, high-voltage campus building structural rewiring, municipal utility grid control, structural architectural alterations.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2: LITERATURE REVIEW &amp; GAP ANALYSIS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Systematic Survey of 15 Peer-Reviewed Papers &amp; Defended Research Gap</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Methodological review across IEEE Transactions, ACM Computing Surveys, and Elsevier Applied Energy (2019–2024)</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4 of 16</a:t>
            </a:r>
          </a:p>
        </p:txBody>
      </p:sp>
      <p:graphicFrame>
        <p:nvGraphicFramePr>
          <p:cNvPr id="9" name="Table 8"/>
          <p:cNvGraphicFramePr>
            <a:graphicFrameLocks noGrp="1"/>
          </p:cNvGraphicFramePr>
          <p:nvPr/>
        </p:nvGraphicFramePr>
        <p:xfrm>
          <a:off x="731520" y="1600200"/>
          <a:ext cx="10728655" cy="2926080"/>
        </p:xfrm>
        <a:graphic>
          <a:graphicData uri="http://schemas.openxmlformats.org/drawingml/2006/table">
            <a:tbl>
              <a:tblPr firstRow="1" bandRow="1">
                <a:tableStyleId>{5C22544A-7EE6-4342-B048-85BDC9FD1C3A}</a:tableStyleId>
              </a:tblPr>
              <a:tblGrid>
                <a:gridCol w="2011680"/>
                <a:gridCol w="2377440"/>
                <a:gridCol w="2560320"/>
                <a:gridCol w="3779215"/>
              </a:tblGrid>
              <a:tr h="585216">
                <a:tc>
                  <a:txBody>
                    <a:bodyPr/>
                    <a:lstStyle/>
                    <a:p>
                      <a:pPr>
                        <a:defRPr sz="950" b="1">
                          <a:solidFill>
                            <a:srgbClr val="FFFFFF"/>
                          </a:solidFill>
                          <a:latin typeface="Calibri"/>
                        </a:defRPr>
                      </a:pPr>
                      <a:r>
                        <a:t>Author &amp; Citation</a:t>
                      </a:r>
                    </a:p>
                  </a:txBody>
                  <a:tcPr>
                    <a:solidFill>
                      <a:srgbClr val="0B2545"/>
                    </a:solidFill>
                  </a:tcPr>
                </a:tc>
                <a:tc>
                  <a:txBody>
                    <a:bodyPr/>
                    <a:lstStyle/>
                    <a:p>
                      <a:pPr>
                        <a:defRPr sz="950" b="1">
                          <a:solidFill>
                            <a:srgbClr val="FFFFFF"/>
                          </a:solidFill>
                          <a:latin typeface="Calibri"/>
                        </a:defRPr>
                      </a:pPr>
                      <a:r>
                        <a:t>Domain &amp; Methodology</a:t>
                      </a:r>
                    </a:p>
                  </a:txBody>
                  <a:tcPr>
                    <a:solidFill>
                      <a:srgbClr val="0B2545"/>
                    </a:solidFill>
                  </a:tcPr>
                </a:tc>
                <a:tc>
                  <a:txBody>
                    <a:bodyPr/>
                    <a:lstStyle/>
                    <a:p>
                      <a:pPr>
                        <a:defRPr sz="950" b="1">
                          <a:solidFill>
                            <a:srgbClr val="FFFFFF"/>
                          </a:solidFill>
                          <a:latin typeface="Calibri"/>
                        </a:defRPr>
                      </a:pPr>
                      <a:r>
                        <a:t>Key Technical Strengths</a:t>
                      </a:r>
                    </a:p>
                  </a:txBody>
                  <a:tcPr>
                    <a:solidFill>
                      <a:srgbClr val="0B2545"/>
                    </a:solidFill>
                  </a:tcPr>
                </a:tc>
                <a:tc>
                  <a:txBody>
                    <a:bodyPr/>
                    <a:lstStyle/>
                    <a:p>
                      <a:pPr>
                        <a:defRPr sz="950" b="1">
                          <a:solidFill>
                            <a:srgbClr val="FFFFFF"/>
                          </a:solidFill>
                          <a:latin typeface="Calibri"/>
                        </a:defRPr>
                      </a:pPr>
                      <a:r>
                        <a:t>Critical Limitations &amp; Defended Research Gap</a:t>
                      </a:r>
                    </a:p>
                  </a:txBody>
                  <a:tcPr>
                    <a:solidFill>
                      <a:srgbClr val="0B2545"/>
                    </a:solidFill>
                  </a:tcPr>
                </a:tc>
              </a:tr>
              <a:tr h="585216">
                <a:tc>
                  <a:txBody>
                    <a:bodyPr/>
                    <a:lstStyle/>
                    <a:p>
                      <a:pPr>
                        <a:defRPr sz="850" b="1">
                          <a:solidFill>
                            <a:srgbClr val="0B2545"/>
                          </a:solidFill>
                          <a:latin typeface="Calibri"/>
                        </a:defRPr>
                      </a:pPr>
                      <a:r>
                        <a:t>Zhang et al. (IEEE 2021)</a:t>
                      </a:r>
                    </a:p>
                  </a:txBody>
                  <a:tcPr marL="109728" marR="109728" marT="54864" marB="54864">
                    <a:solidFill>
                      <a:srgbClr val="FFFFFF"/>
                    </a:solidFill>
                  </a:tcPr>
                </a:tc>
                <a:tc>
                  <a:txBody>
                    <a:bodyPr/>
                    <a:lstStyle/>
                    <a:p>
                      <a:pPr>
                        <a:defRPr sz="850">
                          <a:solidFill>
                            <a:srgbClr val="0F172A"/>
                          </a:solidFill>
                          <a:latin typeface="Calibri"/>
                        </a:defRPr>
                      </a:pPr>
                      <a:r>
                        <a:t>HVAC Optimization via Reinforcement Learning</a:t>
                      </a:r>
                    </a:p>
                  </a:txBody>
                  <a:tcPr marL="109728" marR="109728" marT="54864" marB="54864">
                    <a:solidFill>
                      <a:srgbClr val="FFFFFF"/>
                    </a:solidFill>
                  </a:tcPr>
                </a:tc>
                <a:tc>
                  <a:txBody>
                    <a:bodyPr/>
                    <a:lstStyle/>
                    <a:p>
                      <a:pPr>
                        <a:defRPr sz="850">
                          <a:solidFill>
                            <a:srgbClr val="0F172A"/>
                          </a:solidFill>
                          <a:latin typeface="Calibri"/>
                        </a:defRPr>
                      </a:pPr>
                      <a:r>
                        <a:t>Multi-zone temperature regulation; adaptive thermal setpoints.</a:t>
                      </a:r>
                    </a:p>
                  </a:txBody>
                  <a:tcPr marL="109728" marR="109728" marT="54864" marB="54864">
                    <a:solidFill>
                      <a:srgbClr val="FFFFFF"/>
                    </a:solidFill>
                  </a:tcPr>
                </a:tc>
                <a:tc>
                  <a:txBody>
                    <a:bodyPr/>
                    <a:lstStyle/>
                    <a:p>
                      <a:pPr>
                        <a:defRPr sz="850">
                          <a:solidFill>
                            <a:srgbClr val="0F172A"/>
                          </a:solidFill>
                          <a:latin typeface="Calibri"/>
                        </a:defRPr>
                      </a:pPr>
                      <a:r>
                        <a:t>High computational latency (&gt;120s); operates solely on energy with zero space or water cross-coupling.</a:t>
                      </a:r>
                    </a:p>
                  </a:txBody>
                  <a:tcPr marL="109728" marR="109728" marT="54864" marB="54864">
                    <a:solidFill>
                      <a:srgbClr val="FFFFFF"/>
                    </a:solidFill>
                  </a:tcPr>
                </a:tc>
              </a:tr>
              <a:tr h="585216">
                <a:tc>
                  <a:txBody>
                    <a:bodyPr/>
                    <a:lstStyle/>
                    <a:p>
                      <a:pPr>
                        <a:defRPr sz="850" b="1">
                          <a:solidFill>
                            <a:srgbClr val="0B2545"/>
                          </a:solidFill>
                          <a:latin typeface="Calibri"/>
                        </a:defRPr>
                      </a:pPr>
                      <a:r>
                        <a:t>Al-Ali et al. (IEEE Trans 2020)</a:t>
                      </a:r>
                    </a:p>
                  </a:txBody>
                  <a:tcPr marL="109728" marR="109728" marT="54864" marB="54864">
                    <a:solidFill>
                      <a:srgbClr val="F8FAFC"/>
                    </a:solidFill>
                  </a:tcPr>
                </a:tc>
                <a:tc>
                  <a:txBody>
                    <a:bodyPr/>
                    <a:lstStyle/>
                    <a:p>
                      <a:pPr>
                        <a:defRPr sz="850">
                          <a:solidFill>
                            <a:srgbClr val="0F172A"/>
                          </a:solidFill>
                          <a:latin typeface="Calibri"/>
                        </a:defRPr>
                      </a:pPr>
                      <a:r>
                        <a:t>IoT-Based Campus Energy Management</a:t>
                      </a:r>
                    </a:p>
                  </a:txBody>
                  <a:tcPr marL="109728" marR="109728" marT="54864" marB="54864">
                    <a:solidFill>
                      <a:srgbClr val="F8FAFC"/>
                    </a:solidFill>
                  </a:tcPr>
                </a:tc>
                <a:tc>
                  <a:txBody>
                    <a:bodyPr/>
                    <a:lstStyle/>
                    <a:p>
                      <a:pPr>
                        <a:defRPr sz="850">
                          <a:solidFill>
                            <a:srgbClr val="0F172A"/>
                          </a:solidFill>
                          <a:latin typeface="Calibri"/>
                        </a:defRPr>
                      </a:pPr>
                      <a:r>
                        <a:t>MQTT mesh sensor telemetry; hardware testbed deployment.</a:t>
                      </a:r>
                    </a:p>
                  </a:txBody>
                  <a:tcPr marL="109728" marR="109728" marT="54864" marB="54864">
                    <a:solidFill>
                      <a:srgbClr val="F8FAFC"/>
                    </a:solidFill>
                  </a:tcPr>
                </a:tc>
                <a:tc>
                  <a:txBody>
                    <a:bodyPr/>
                    <a:lstStyle/>
                    <a:p>
                      <a:pPr>
                        <a:defRPr sz="850">
                          <a:solidFill>
                            <a:srgbClr val="0F172A"/>
                          </a:solidFill>
                          <a:latin typeface="Calibri"/>
                        </a:defRPr>
                      </a:pPr>
                      <a:r>
                        <a:t>Rule-based thresholding; lacks dynamic predictive ML demand forecasting and spatial awareness.</a:t>
                      </a:r>
                    </a:p>
                  </a:txBody>
                  <a:tcPr marL="109728" marR="109728" marT="54864" marB="54864">
                    <a:solidFill>
                      <a:srgbClr val="F8FAFC"/>
                    </a:solidFill>
                  </a:tcPr>
                </a:tc>
              </a:tr>
              <a:tr h="585216">
                <a:tc>
                  <a:txBody>
                    <a:bodyPr/>
                    <a:lstStyle/>
                    <a:p>
                      <a:pPr>
                        <a:defRPr sz="850" b="1">
                          <a:solidFill>
                            <a:srgbClr val="0B2545"/>
                          </a:solidFill>
                          <a:latin typeface="Calibri"/>
                        </a:defRPr>
                      </a:pPr>
                      <a:r>
                        <a:t>Wang &amp; Tan (Elsevier 2022)</a:t>
                      </a:r>
                    </a:p>
                  </a:txBody>
                  <a:tcPr marL="109728" marR="109728" marT="54864" marB="54864">
                    <a:solidFill>
                      <a:srgbClr val="FFFFFF"/>
                    </a:solidFill>
                  </a:tcPr>
                </a:tc>
                <a:tc>
                  <a:txBody>
                    <a:bodyPr/>
                    <a:lstStyle/>
                    <a:p>
                      <a:pPr>
                        <a:defRPr sz="850">
                          <a:solidFill>
                            <a:srgbClr val="0F172A"/>
                          </a:solidFill>
                          <a:latin typeface="Calibri"/>
                        </a:defRPr>
                      </a:pPr>
                      <a:r>
                        <a:t>Campus Timetable Room Optimization</a:t>
                      </a:r>
                    </a:p>
                  </a:txBody>
                  <a:tcPr marL="109728" marR="109728" marT="54864" marB="54864">
                    <a:solidFill>
                      <a:srgbClr val="FFFFFF"/>
                    </a:solidFill>
                  </a:tcPr>
                </a:tc>
                <a:tc>
                  <a:txBody>
                    <a:bodyPr/>
                    <a:lstStyle/>
                    <a:p>
                      <a:pPr>
                        <a:defRPr sz="850">
                          <a:solidFill>
                            <a:srgbClr val="0F172A"/>
                          </a:solidFill>
                          <a:latin typeface="Calibri"/>
                        </a:defRPr>
                      </a:pPr>
                      <a:r>
                        <a:t>Genetic Algorithm for classroom scheduling optimization.</a:t>
                      </a:r>
                    </a:p>
                  </a:txBody>
                  <a:tcPr marL="109728" marR="109728" marT="54864" marB="54864">
                    <a:solidFill>
                      <a:srgbClr val="FFFFFF"/>
                    </a:solidFill>
                  </a:tcPr>
                </a:tc>
                <a:tc>
                  <a:txBody>
                    <a:bodyPr/>
                    <a:lstStyle/>
                    <a:p>
                      <a:pPr>
                        <a:defRPr sz="850">
                          <a:solidFill>
                            <a:srgbClr val="0F172A"/>
                          </a:solidFill>
                          <a:latin typeface="Calibri"/>
                        </a:defRPr>
                      </a:pPr>
                      <a:r>
                        <a:t>High solve time (&gt;45s); operates offline on static rosters without real-time occupancy sensor feedback.</a:t>
                      </a:r>
                    </a:p>
                  </a:txBody>
                  <a:tcPr marL="109728" marR="109728" marT="54864" marB="54864">
                    <a:solidFill>
                      <a:srgbClr val="FFFFFF"/>
                    </a:solidFill>
                  </a:tcPr>
                </a:tc>
              </a:tr>
              <a:tr h="585216">
                <a:tc>
                  <a:txBody>
                    <a:bodyPr/>
                    <a:lstStyle/>
                    <a:p>
                      <a:pPr>
                        <a:defRPr sz="850" b="1">
                          <a:solidFill>
                            <a:srgbClr val="0B2545"/>
                          </a:solidFill>
                          <a:latin typeface="Calibri"/>
                        </a:defRPr>
                      </a:pPr>
                      <a:r>
                        <a:t>Antigravity Team (2024 - Proposed)</a:t>
                      </a:r>
                    </a:p>
                  </a:txBody>
                  <a:tcPr marL="109728" marR="109728" marT="54864" marB="54864">
                    <a:solidFill>
                      <a:srgbClr val="F0FDF4"/>
                    </a:solidFill>
                  </a:tcPr>
                </a:tc>
                <a:tc>
                  <a:txBody>
                    <a:bodyPr/>
                    <a:lstStyle/>
                    <a:p>
                      <a:pPr>
                        <a:defRPr sz="850" b="1">
                          <a:solidFill>
                            <a:srgbClr val="0B2545"/>
                          </a:solidFill>
                          <a:latin typeface="Calibri"/>
                        </a:defRPr>
                      </a:pPr>
                      <a:r>
                        <a:t>Unified Multi-Modal Digital Twin System</a:t>
                      </a:r>
                    </a:p>
                  </a:txBody>
                  <a:tcPr marL="109728" marR="109728" marT="54864" marB="54864">
                    <a:solidFill>
                      <a:srgbClr val="F0FDF4"/>
                    </a:solidFill>
                  </a:tcPr>
                </a:tc>
                <a:tc>
                  <a:txBody>
                    <a:bodyPr/>
                    <a:lstStyle/>
                    <a:p>
                      <a:pPr>
                        <a:defRPr sz="850" b="1">
                          <a:solidFill>
                            <a:srgbClr val="0B2545"/>
                          </a:solidFill>
                          <a:latin typeface="Calibri"/>
                        </a:defRPr>
                      </a:pPr>
                      <a:r>
                        <a:t>Cross-subsystem co-optimization, TimescaleDB, Edge AI.</a:t>
                      </a:r>
                    </a:p>
                  </a:txBody>
                  <a:tcPr marL="109728" marR="109728" marT="54864" marB="54864">
                    <a:solidFill>
                      <a:srgbClr val="F0FDF4"/>
                    </a:solidFill>
                  </a:tcPr>
                </a:tc>
                <a:tc>
                  <a:txBody>
                    <a:bodyPr/>
                    <a:lstStyle/>
                    <a:p>
                      <a:pPr>
                        <a:defRPr sz="850" b="1">
                          <a:solidFill>
                            <a:srgbClr val="15803D"/>
                          </a:solidFill>
                          <a:latin typeface="Calibri"/>
                        </a:defRPr>
                      </a:pPr>
                      <a:r>
                        <a:t>Solves cross-coupling with sub-second constraint resolution across energy, water, and spatial occupancy.</a:t>
                      </a:r>
                    </a:p>
                  </a:txBody>
                  <a:tcPr marL="109728" marR="109728" marT="54864" marB="54864">
                    <a:solidFill>
                      <a:srgbClr val="F0FDF4"/>
                    </a:solidFill>
                  </a:tcPr>
                </a:tc>
              </a:tr>
            </a:tbl>
          </a:graphicData>
        </a:graphic>
      </p:graphicFrame>
      <p:sp>
        <p:nvSpPr>
          <p:cNvPr id="10" name="Rounded Rectangle 9"/>
          <p:cNvSpPr/>
          <p:nvPr/>
        </p:nvSpPr>
        <p:spPr>
          <a:xfrm>
            <a:off x="731520" y="4663440"/>
            <a:ext cx="10728655" cy="150876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4791455"/>
            <a:ext cx="10436047" cy="1252728"/>
          </a:xfrm>
          <a:prstGeom prst="rect">
            <a:avLst/>
          </a:prstGeom>
          <a:noFill/>
        </p:spPr>
        <p:txBody>
          <a:bodyPr wrap="square" lIns="0" tIns="0" rIns="0" bIns="0">
            <a:spAutoFit/>
          </a:bodyPr>
          <a:lstStyle/>
          <a:p>
            <a:pPr>
              <a:spcAft>
                <a:spcPts val="200"/>
              </a:spcAft>
              <a:defRPr sz="800" b="1">
                <a:solidFill>
                  <a:srgbClr val="B45309"/>
                </a:solidFill>
                <a:latin typeface="Calibri"/>
              </a:defRPr>
            </a:pPr>
            <a:r>
              <a:t>UNADDRESSED LITERATURE GAP</a:t>
            </a:r>
          </a:p>
          <a:p>
            <a:pPr>
              <a:spcAft>
                <a:spcPts val="400"/>
              </a:spcAft>
              <a:defRPr sz="1050" b="1">
                <a:solidFill>
                  <a:srgbClr val="B45309"/>
                </a:solidFill>
                <a:latin typeface="Calibri"/>
              </a:defRPr>
            </a:pPr>
            <a:r>
              <a:t>The Defended Multi-Modal Co-Optimization Research Gap</a:t>
            </a:r>
          </a:p>
          <a:p>
            <a:pPr>
              <a:spcAft>
                <a:spcPts val="250"/>
              </a:spcAft>
              <a:defRPr sz="850">
                <a:solidFill>
                  <a:srgbClr val="0F172A"/>
                </a:solidFill>
                <a:latin typeface="Calibri"/>
              </a:defRPr>
            </a:pPr>
            <a:r>
              <a:t>• Rigid Silos: Existing research operates in isolated vertical silos (standalone HVAC, disconnected water meters, or static timetable algorithms).</a:t>
            </a:r>
          </a:p>
          <a:p>
            <a:pPr>
              <a:spcAft>
                <a:spcPts val="250"/>
              </a:spcAft>
              <a:defRPr sz="850">
                <a:solidFill>
                  <a:srgbClr val="0F172A"/>
                </a:solidFill>
                <a:latin typeface="Calibri"/>
              </a:defRPr>
            </a:pPr>
            <a:r>
              <a:t>• Lack of Cross-Coupling: Prior systems do not dynamically synchronize real-time spatial occupancy with HVAC setback and water pumping schedules.</a:t>
            </a:r>
          </a:p>
          <a:p>
            <a:pPr>
              <a:spcAft>
                <a:spcPts val="250"/>
              </a:spcAft>
              <a:defRPr sz="850">
                <a:solidFill>
                  <a:srgbClr val="0F172A"/>
                </a:solidFill>
                <a:latin typeface="Calibri"/>
              </a:defRPr>
            </a:pPr>
            <a:r>
              <a:t>• Proposed Innovation: Unified time-series engine (TimescaleDB) integrating IoT telemetry, LightGBM demand forecasts, and sub-second CSP room scheduling.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3: OBJECTIVES &amp; REQUIREMENTS FORMULATION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6 SMART Objectives &amp; Section 1.5 Complex Engineering Analysis</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Formulated per Alliance University Process Manual guidelines with verifiable quantitative acceptance criteria</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5 of 16</a:t>
            </a:r>
          </a:p>
        </p:txBody>
      </p:sp>
      <p:sp>
        <p:nvSpPr>
          <p:cNvPr id="9" name="Rounded Rectangle 8"/>
          <p:cNvSpPr/>
          <p:nvPr/>
        </p:nvSpPr>
        <p:spPr>
          <a:xfrm>
            <a:off x="731520" y="1600200"/>
            <a:ext cx="5212080"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4919472"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SECTION 1.3 COMPLIANCE</a:t>
            </a:r>
          </a:p>
          <a:p>
            <a:pPr>
              <a:spcAft>
                <a:spcPts val="400"/>
              </a:spcAft>
              <a:defRPr sz="1050" b="1">
                <a:solidFill>
                  <a:srgbClr val="0B2545"/>
                </a:solidFill>
                <a:latin typeface="Calibri"/>
              </a:defRPr>
            </a:pPr>
            <a:r>
              <a:t>6 Core Measurable Engineering Objectives</a:t>
            </a:r>
          </a:p>
          <a:p>
            <a:pPr>
              <a:spcAft>
                <a:spcPts val="250"/>
              </a:spcAft>
              <a:defRPr sz="850">
                <a:solidFill>
                  <a:srgbClr val="0F172A"/>
                </a:solidFill>
                <a:latin typeface="Calibri"/>
              </a:defRPr>
            </a:pPr>
            <a:r>
              <a:t>• OBJ-1 (Unified Dashboard): Develop a centralized, responsive web dashboard integrating admin, faculty, and student portals (&lt;500ms initial load time).</a:t>
            </a:r>
          </a:p>
          <a:p>
            <a:pPr>
              <a:spcAft>
                <a:spcPts val="250"/>
              </a:spcAft>
              <a:defRPr sz="850">
                <a:solidFill>
                  <a:srgbClr val="0F172A"/>
                </a:solidFill>
                <a:latin typeface="Calibri"/>
              </a:defRPr>
            </a:pPr>
            <a:r>
              <a:t>• OBJ-2 (Real-Time Ingestion): Ingest environmental and electrical telemetry from campus pilot zones at 1Hz rate with 99.8% pipeline uptime.</a:t>
            </a:r>
          </a:p>
          <a:p>
            <a:pPr>
              <a:spcAft>
                <a:spcPts val="250"/>
              </a:spcAft>
              <a:defRPr sz="850">
                <a:solidFill>
                  <a:srgbClr val="0F172A"/>
                </a:solidFill>
                <a:latin typeface="Calibri"/>
              </a:defRPr>
            </a:pPr>
            <a:r>
              <a:t>• OBJ-3 (Predictive Demand ML): Forecast campus resource consumption 24-hours ahead using LightGBM and Bi-LSTM models (R² &gt; 0.92, MAPE &lt; 6.8%).</a:t>
            </a:r>
          </a:p>
          <a:p>
            <a:pPr>
              <a:spcAft>
                <a:spcPts val="250"/>
              </a:spcAft>
              <a:defRPr sz="850">
                <a:solidFill>
                  <a:srgbClr val="0F172A"/>
                </a:solidFill>
                <a:latin typeface="Calibri"/>
              </a:defRPr>
            </a:pPr>
            <a:r>
              <a:t>• OBJ-4 (Dynamic Room Scheduling): Automatically reassign classrooms using constraint satisfaction algorithms, eliminating 100% of hard scheduling clashes.</a:t>
            </a:r>
          </a:p>
          <a:p>
            <a:pPr>
              <a:spcAft>
                <a:spcPts val="250"/>
              </a:spcAft>
              <a:defRPr sz="850">
                <a:solidFill>
                  <a:srgbClr val="0F172A"/>
                </a:solidFill>
                <a:latin typeface="Calibri"/>
              </a:defRPr>
            </a:pPr>
            <a:r>
              <a:t>• OBJ-5 (Resource Conservation): Automate chiller setbacks and pump scheduling, yielding an 18.4% energy reduction and 22% fewer pump cycles.</a:t>
            </a:r>
          </a:p>
          <a:p>
            <a:pPr>
              <a:spcAft>
                <a:spcPts val="250"/>
              </a:spcAft>
              <a:defRPr sz="850">
                <a:solidFill>
                  <a:srgbClr val="0F172A"/>
                </a:solidFill>
                <a:latin typeface="Calibri"/>
              </a:defRPr>
            </a:pPr>
            <a:r>
              <a:t>• OBJ-6 (Automated Compliance Reports): Generate real-time analytical reports, carbon footprint metrics, and audit logs for campus administration.</a:t>
            </a:r>
          </a:p>
        </p:txBody>
      </p:sp>
      <p:sp>
        <p:nvSpPr>
          <p:cNvPr id="11" name="Rounded Rectangle 10"/>
          <p:cNvSpPr/>
          <p:nvPr/>
        </p:nvSpPr>
        <p:spPr>
          <a:xfrm>
            <a:off x="6248095" y="1600200"/>
            <a:ext cx="5212080" cy="4572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4399" y="1728216"/>
            <a:ext cx="4919472"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SECTION 1.5 PROCESS MANUAL</a:t>
            </a:r>
          </a:p>
          <a:p>
            <a:pPr>
              <a:spcAft>
                <a:spcPts val="400"/>
              </a:spcAft>
              <a:defRPr sz="1050" b="1">
                <a:solidFill>
                  <a:srgbClr val="1D4ED8"/>
                </a:solidFill>
                <a:latin typeface="Calibri"/>
              </a:defRPr>
            </a:pPr>
            <a:r>
              <a:t>Complex Engineering Problems Analysis (WP1–WP5)</a:t>
            </a:r>
          </a:p>
          <a:p>
            <a:pPr>
              <a:spcAft>
                <a:spcPts val="250"/>
              </a:spcAft>
              <a:defRPr sz="850">
                <a:solidFill>
                  <a:srgbClr val="0F172A"/>
                </a:solidFill>
                <a:latin typeface="Calibri"/>
              </a:defRPr>
            </a:pPr>
            <a:r>
              <a:t>• WP1 (Conflicting Engineering Constraints): Optimizing aggressive energy curtailment against strict student thermal comfort (PMV index -0.5 to +0.5).</a:t>
            </a:r>
          </a:p>
          <a:p>
            <a:pPr>
              <a:spcAft>
                <a:spcPts val="250"/>
              </a:spcAft>
              <a:defRPr sz="850">
                <a:solidFill>
                  <a:srgbClr val="0F172A"/>
                </a:solidFill>
                <a:latin typeface="Calibri"/>
              </a:defRPr>
            </a:pPr>
            <a:r>
              <a:t>• WP2 (High-Throughput Time-Series Ingestion): Processing 250+ concurrent telemetry streams with sub-10ms query execution via TimescaleDB hypertables.</a:t>
            </a:r>
          </a:p>
          <a:p>
            <a:pPr>
              <a:spcAft>
                <a:spcPts val="250"/>
              </a:spcAft>
              <a:defRPr sz="850">
                <a:solidFill>
                  <a:srgbClr val="0F172A"/>
                </a:solidFill>
                <a:latin typeface="Calibri"/>
              </a:defRPr>
            </a:pPr>
            <a:r>
              <a:t>• WP3 (Privacy Compliance DPDP Act 2023): On-device edge computer vision extracting centroid vectors only; zero raw video frames persisted.</a:t>
            </a:r>
          </a:p>
          <a:p>
            <a:pPr>
              <a:spcAft>
                <a:spcPts val="250"/>
              </a:spcAft>
              <a:defRPr sz="850">
                <a:solidFill>
                  <a:srgbClr val="0F172A"/>
                </a:solidFill>
                <a:latin typeface="Calibri"/>
              </a:defRPr>
            </a:pPr>
            <a:r>
              <a:t>• WP4 (Fault Tolerance &amp; Network Resilience): Circuit breaker patterns and local SQLite edge buffers ensuring zero data loss during network drops.</a:t>
            </a:r>
          </a:p>
          <a:p>
            <a:pPr>
              <a:spcAft>
                <a:spcPts val="250"/>
              </a:spcAft>
              <a:defRPr sz="850">
                <a:solidFill>
                  <a:srgbClr val="0F172A"/>
                </a:solidFill>
                <a:latin typeface="Calibri"/>
              </a:defRPr>
            </a:pPr>
            <a:r>
              <a:t>• WP5 (Heterogeneous Protocols Normalization): Normalizing disjoint MQTT, Modbus, and REST sensor payloads into a unified canonical JSON schema.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4: PROPOSED METHODOLOGY, TOOLS &amp; FEASIBILITY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4-Tier Enterprise System Architecture &amp; End-to-End Pipeline</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High-availability microservices architecture designed for campus-wide scalability and low-latency response</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6 of 16</a:t>
            </a:r>
          </a:p>
        </p:txBody>
      </p:sp>
      <p:sp>
        <p:nvSpPr>
          <p:cNvPr id="9" name="Rounded Rectangle 8"/>
          <p:cNvSpPr/>
          <p:nvPr/>
        </p:nvSpPr>
        <p:spPr>
          <a:xfrm>
            <a:off x="731520"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HARDWARE &amp; INGESTION</a:t>
            </a:r>
          </a:p>
          <a:p>
            <a:pPr>
              <a:spcAft>
                <a:spcPts val="400"/>
              </a:spcAft>
              <a:defRPr sz="1050" b="1">
                <a:solidFill>
                  <a:srgbClr val="0B2545"/>
                </a:solidFill>
                <a:latin typeface="Calibri"/>
              </a:defRPr>
            </a:pPr>
            <a:r>
              <a:t>Tier 1: Sensing &amp; Ingestion</a:t>
            </a:r>
          </a:p>
          <a:p>
            <a:pPr>
              <a:spcAft>
                <a:spcPts val="250"/>
              </a:spcAft>
              <a:defRPr sz="850">
                <a:solidFill>
                  <a:srgbClr val="0F172A"/>
                </a:solidFill>
                <a:latin typeface="Calibri"/>
              </a:defRPr>
            </a:pPr>
            <a:r>
              <a:t>• IoT Smart Energy Meters (Chintan Block main sub-station feeders).</a:t>
            </a:r>
          </a:p>
          <a:p>
            <a:pPr>
              <a:spcAft>
                <a:spcPts val="250"/>
              </a:spcAft>
              <a:defRPr sz="850">
                <a:solidFill>
                  <a:srgbClr val="0F172A"/>
                </a:solidFill>
                <a:latin typeface="Calibri"/>
              </a:defRPr>
            </a:pPr>
            <a:r>
              <a:t>• Ultrasonic Water Level Sensors (JSN-SR04T on campus tanks).</a:t>
            </a:r>
          </a:p>
          <a:p>
            <a:pPr>
              <a:spcAft>
                <a:spcPts val="250"/>
              </a:spcAft>
              <a:defRPr sz="850">
                <a:solidFill>
                  <a:srgbClr val="0F172A"/>
                </a:solidFill>
                <a:latin typeface="Calibri"/>
              </a:defRPr>
            </a:pPr>
            <a:r>
              <a:t>• ESP32 Microcontrollers transmitting via MQTT over TLS.</a:t>
            </a:r>
          </a:p>
          <a:p>
            <a:pPr>
              <a:spcAft>
                <a:spcPts val="250"/>
              </a:spcAft>
              <a:defRPr sz="850">
                <a:solidFill>
                  <a:srgbClr val="0F172A"/>
                </a:solidFill>
                <a:latin typeface="Calibri"/>
              </a:defRPr>
            </a:pPr>
            <a:r>
              <a:t>• Edge Vision Nodes running YOLOv8 centroid head-counting.</a:t>
            </a:r>
          </a:p>
          <a:p>
            <a:pPr>
              <a:spcAft>
                <a:spcPts val="250"/>
              </a:spcAft>
              <a:defRPr sz="850">
                <a:solidFill>
                  <a:srgbClr val="0F172A"/>
                </a:solidFill>
                <a:latin typeface="Calibri"/>
              </a:defRPr>
            </a:pPr>
            <a:r>
              <a:t>• Apache Kafka / Redis stream ingestion buffers.</a:t>
            </a:r>
          </a:p>
        </p:txBody>
      </p:sp>
      <p:sp>
        <p:nvSpPr>
          <p:cNvPr id="11" name="Rounded Rectangle 10"/>
          <p:cNvSpPr/>
          <p:nvPr/>
        </p:nvSpPr>
        <p:spPr>
          <a:xfrm>
            <a:off x="3465576"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DATA PERSISTENCE</a:t>
            </a:r>
          </a:p>
          <a:p>
            <a:pPr>
              <a:spcAft>
                <a:spcPts val="400"/>
              </a:spcAft>
              <a:defRPr sz="1050" b="1">
                <a:solidFill>
                  <a:srgbClr val="0B2545"/>
                </a:solidFill>
                <a:latin typeface="Calibri"/>
              </a:defRPr>
            </a:pPr>
            <a:r>
              <a:t>Tier 2: Time-Series Storage</a:t>
            </a:r>
          </a:p>
          <a:p>
            <a:pPr>
              <a:spcAft>
                <a:spcPts val="250"/>
              </a:spcAft>
              <a:defRPr sz="850">
                <a:solidFill>
                  <a:srgbClr val="0F172A"/>
                </a:solidFill>
                <a:latin typeface="Calibri"/>
              </a:defRPr>
            </a:pPr>
            <a:r>
              <a:t>• TimescaleDB (PostgreSQL 16) with automated hypertable chunking.</a:t>
            </a:r>
          </a:p>
          <a:p>
            <a:pPr>
              <a:spcAft>
                <a:spcPts val="250"/>
              </a:spcAft>
              <a:defRPr sz="850">
                <a:solidFill>
                  <a:srgbClr val="0F172A"/>
                </a:solidFill>
                <a:latin typeface="Calibri"/>
              </a:defRPr>
            </a:pPr>
            <a:r>
              <a:t>• 90% Columnar zstd Chunk Compression for multi-year retention.</a:t>
            </a:r>
          </a:p>
          <a:p>
            <a:pPr>
              <a:spcAft>
                <a:spcPts val="250"/>
              </a:spcAft>
              <a:defRPr sz="850">
                <a:solidFill>
                  <a:srgbClr val="0F172A"/>
                </a:solidFill>
                <a:latin typeface="Calibri"/>
              </a:defRPr>
            </a:pPr>
            <a:r>
              <a:t>• Redis 7 In-Memory Cache for sub-5ms active session state.</a:t>
            </a:r>
          </a:p>
          <a:p>
            <a:pPr>
              <a:spcAft>
                <a:spcPts val="250"/>
              </a:spcAft>
              <a:defRPr sz="850">
                <a:solidFill>
                  <a:srgbClr val="0F172A"/>
                </a:solidFill>
                <a:latin typeface="Calibri"/>
              </a:defRPr>
            </a:pPr>
            <a:r>
              <a:t>• Relational tables for academic timetables, faculty, and rooms.</a:t>
            </a:r>
          </a:p>
          <a:p>
            <a:pPr>
              <a:spcAft>
                <a:spcPts val="250"/>
              </a:spcAft>
              <a:defRPr sz="850">
                <a:solidFill>
                  <a:srgbClr val="0F172A"/>
                </a:solidFill>
                <a:latin typeface="Calibri"/>
              </a:defRPr>
            </a:pPr>
            <a:r>
              <a:t>• Automated continuous aggregate rollups for reporting.</a:t>
            </a:r>
          </a:p>
        </p:txBody>
      </p:sp>
      <p:sp>
        <p:nvSpPr>
          <p:cNvPr id="13" name="Rounded Rectangle 12"/>
          <p:cNvSpPr/>
          <p:nvPr/>
        </p:nvSpPr>
        <p:spPr>
          <a:xfrm>
            <a:off x="6199632"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INTELLIGENCE ENGINE</a:t>
            </a:r>
          </a:p>
          <a:p>
            <a:pPr>
              <a:spcAft>
                <a:spcPts val="400"/>
              </a:spcAft>
              <a:defRPr sz="1050" b="1">
                <a:solidFill>
                  <a:srgbClr val="0B2545"/>
                </a:solidFill>
                <a:latin typeface="Calibri"/>
              </a:defRPr>
            </a:pPr>
            <a:r>
              <a:t>Tier 3: Analytics &amp; Solvers</a:t>
            </a:r>
          </a:p>
          <a:p>
            <a:pPr>
              <a:spcAft>
                <a:spcPts val="250"/>
              </a:spcAft>
              <a:defRPr sz="850">
                <a:solidFill>
                  <a:srgbClr val="0F172A"/>
                </a:solidFill>
                <a:latin typeface="Calibri"/>
              </a:defRPr>
            </a:pPr>
            <a:r>
              <a:t>• FastAPI Asynchronous Backend with non-blocking ASGI loops.</a:t>
            </a:r>
          </a:p>
          <a:p>
            <a:pPr>
              <a:spcAft>
                <a:spcPts val="250"/>
              </a:spcAft>
              <a:defRPr sz="850">
                <a:solidFill>
                  <a:srgbClr val="0F172A"/>
                </a:solidFill>
                <a:latin typeface="Calibri"/>
              </a:defRPr>
            </a:pPr>
            <a:r>
              <a:t>• LightGBM Regressor + Bi-LSTM sequential demand models.</a:t>
            </a:r>
          </a:p>
          <a:p>
            <a:pPr>
              <a:spcAft>
                <a:spcPts val="250"/>
              </a:spcAft>
              <a:defRPr sz="850">
                <a:solidFill>
                  <a:srgbClr val="0F172A"/>
                </a:solidFill>
                <a:latin typeface="Calibri"/>
              </a:defRPr>
            </a:pPr>
            <a:r>
              <a:t>• Google OR-Tools Constraint Satisfaction Room Solver.</a:t>
            </a:r>
          </a:p>
          <a:p>
            <a:pPr>
              <a:spcAft>
                <a:spcPts val="250"/>
              </a:spcAft>
              <a:defRPr sz="850">
                <a:solidFill>
                  <a:srgbClr val="0F172A"/>
                </a:solidFill>
                <a:latin typeface="Calibri"/>
              </a:defRPr>
            </a:pPr>
            <a:r>
              <a:t>• Real-time rule-based threshold and actuation trigger engine.</a:t>
            </a:r>
          </a:p>
          <a:p>
            <a:pPr>
              <a:spcAft>
                <a:spcPts val="250"/>
              </a:spcAft>
              <a:defRPr sz="850">
                <a:solidFill>
                  <a:srgbClr val="0F172A"/>
                </a:solidFill>
                <a:latin typeface="Calibri"/>
              </a:defRPr>
            </a:pPr>
            <a:r>
              <a:t>• Celery asynchronous background task queue.</a:t>
            </a:r>
          </a:p>
        </p:txBody>
      </p:sp>
      <p:sp>
        <p:nvSpPr>
          <p:cNvPr id="15" name="Rounded Rectangle 14"/>
          <p:cNvSpPr/>
          <p:nvPr/>
        </p:nvSpPr>
        <p:spPr>
          <a:xfrm>
            <a:off x="8933688"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9992"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PRESENTATION LAYER</a:t>
            </a:r>
          </a:p>
          <a:p>
            <a:pPr>
              <a:spcAft>
                <a:spcPts val="400"/>
              </a:spcAft>
              <a:defRPr sz="1050" b="1">
                <a:solidFill>
                  <a:srgbClr val="0B2545"/>
                </a:solidFill>
                <a:latin typeface="Calibri"/>
              </a:defRPr>
            </a:pPr>
            <a:r>
              <a:t>Tier 4: Command Center</a:t>
            </a:r>
          </a:p>
          <a:p>
            <a:pPr>
              <a:spcAft>
                <a:spcPts val="250"/>
              </a:spcAft>
              <a:defRPr sz="850">
                <a:solidFill>
                  <a:srgbClr val="0F172A"/>
                </a:solidFill>
                <a:latin typeface="Calibri"/>
              </a:defRPr>
            </a:pPr>
            <a:r>
              <a:t>• React 18 + Vite Web Application styled with Tailwind CSS.</a:t>
            </a:r>
          </a:p>
          <a:p>
            <a:pPr>
              <a:spcAft>
                <a:spcPts val="250"/>
              </a:spcAft>
              <a:defRPr sz="850">
                <a:solidFill>
                  <a:srgbClr val="0F172A"/>
                </a:solidFill>
                <a:latin typeface="Calibri"/>
              </a:defRPr>
            </a:pPr>
            <a:r>
              <a:t>• Real-time WebSockets telemetry charts (Apache ECharts).</a:t>
            </a:r>
          </a:p>
          <a:p>
            <a:pPr>
              <a:spcAft>
                <a:spcPts val="250"/>
              </a:spcAft>
              <a:defRPr sz="850">
                <a:solidFill>
                  <a:srgbClr val="0F172A"/>
                </a:solidFill>
                <a:latin typeface="Calibri"/>
              </a:defRPr>
            </a:pPr>
            <a:r>
              <a:t>• Role-Based Access Control: Admin, Facility, Faculty, Student.</a:t>
            </a:r>
          </a:p>
          <a:p>
            <a:pPr>
              <a:spcAft>
                <a:spcPts val="250"/>
              </a:spcAft>
              <a:defRPr sz="850">
                <a:solidFill>
                  <a:srgbClr val="0F172A"/>
                </a:solidFill>
                <a:latin typeface="Calibri"/>
              </a:defRPr>
            </a:pPr>
            <a:r>
              <a:t>• Interactive 2D campus spatial occupancy digital twin map.</a:t>
            </a:r>
          </a:p>
          <a:p>
            <a:pPr>
              <a:spcAft>
                <a:spcPts val="250"/>
              </a:spcAft>
              <a:defRPr sz="850">
                <a:solidFill>
                  <a:srgbClr val="0F172A"/>
                </a:solidFill>
                <a:latin typeface="Calibri"/>
              </a:defRPr>
            </a:pPr>
            <a:r>
              <a:t>• Automated PDF executive audit and compliance report generator.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4: METHODOLOGY &amp; TOOLS JUSTIFICATION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Technology Stack Selection via Rigorous Pugh Decision Matrix</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Evidence-based engineering evaluation justifying architectural choices against industry alternatives</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7 of 16</a:t>
            </a:r>
          </a:p>
        </p:txBody>
      </p:sp>
      <p:graphicFrame>
        <p:nvGraphicFramePr>
          <p:cNvPr id="9" name="Table 8"/>
          <p:cNvGraphicFramePr>
            <a:graphicFrameLocks noGrp="1"/>
          </p:cNvGraphicFramePr>
          <p:nvPr/>
        </p:nvGraphicFramePr>
        <p:xfrm>
          <a:off x="731520" y="1600200"/>
          <a:ext cx="10728655" cy="3291840"/>
        </p:xfrm>
        <a:graphic>
          <a:graphicData uri="http://schemas.openxmlformats.org/drawingml/2006/table">
            <a:tbl>
              <a:tblPr firstRow="1" bandRow="1">
                <a:tableStyleId>{5C22544A-7EE6-4342-B048-85BDC9FD1C3A}</a:tableStyleId>
              </a:tblPr>
              <a:tblGrid>
                <a:gridCol w="1828800"/>
                <a:gridCol w="2011680"/>
                <a:gridCol w="2103120"/>
                <a:gridCol w="914400"/>
                <a:gridCol w="3870655"/>
              </a:tblGrid>
              <a:tr h="548640">
                <a:tc>
                  <a:txBody>
                    <a:bodyPr/>
                    <a:lstStyle/>
                    <a:p>
                      <a:pPr>
                        <a:defRPr sz="950" b="1">
                          <a:solidFill>
                            <a:srgbClr val="FFFFFF"/>
                          </a:solidFill>
                          <a:latin typeface="Calibri"/>
                        </a:defRPr>
                      </a:pPr>
                      <a:r>
                        <a:t>Architectural Layer</a:t>
                      </a:r>
                    </a:p>
                  </a:txBody>
                  <a:tcPr>
                    <a:solidFill>
                      <a:srgbClr val="0B2545"/>
                    </a:solidFill>
                  </a:tcPr>
                </a:tc>
                <a:tc>
                  <a:txBody>
                    <a:bodyPr/>
                    <a:lstStyle/>
                    <a:p>
                      <a:pPr>
                        <a:defRPr sz="950" b="1">
                          <a:solidFill>
                            <a:srgbClr val="FFFFFF"/>
                          </a:solidFill>
                          <a:latin typeface="Calibri"/>
                        </a:defRPr>
                      </a:pPr>
                      <a:r>
                        <a:t>Evaluated Alternatives</a:t>
                      </a:r>
                    </a:p>
                  </a:txBody>
                  <a:tcPr>
                    <a:solidFill>
                      <a:srgbClr val="0B2545"/>
                    </a:solidFill>
                  </a:tcPr>
                </a:tc>
                <a:tc>
                  <a:txBody>
                    <a:bodyPr/>
                    <a:lstStyle/>
                    <a:p>
                      <a:pPr>
                        <a:defRPr sz="950" b="1">
                          <a:solidFill>
                            <a:srgbClr val="FFFFFF"/>
                          </a:solidFill>
                          <a:latin typeface="Calibri"/>
                        </a:defRPr>
                      </a:pPr>
                      <a:r>
                        <a:t>Key Trade-Off Criteria</a:t>
                      </a:r>
                    </a:p>
                  </a:txBody>
                  <a:tcPr>
                    <a:solidFill>
                      <a:srgbClr val="0B2545"/>
                    </a:solidFill>
                  </a:tcPr>
                </a:tc>
                <a:tc>
                  <a:txBody>
                    <a:bodyPr/>
                    <a:lstStyle/>
                    <a:p>
                      <a:pPr>
                        <a:defRPr sz="950" b="1">
                          <a:solidFill>
                            <a:srgbClr val="FFFFFF"/>
                          </a:solidFill>
                          <a:latin typeface="Calibri"/>
                        </a:defRPr>
                      </a:pPr>
                      <a:r>
                        <a:t>Score</a:t>
                      </a:r>
                    </a:p>
                  </a:txBody>
                  <a:tcPr>
                    <a:solidFill>
                      <a:srgbClr val="0B2545"/>
                    </a:solidFill>
                  </a:tcPr>
                </a:tc>
                <a:tc>
                  <a:txBody>
                    <a:bodyPr/>
                    <a:lstStyle/>
                    <a:p>
                      <a:pPr>
                        <a:defRPr sz="950" b="1">
                          <a:solidFill>
                            <a:srgbClr val="FFFFFF"/>
                          </a:solidFill>
                          <a:latin typeface="Calibri"/>
                        </a:defRPr>
                      </a:pPr>
                      <a:r>
                        <a:t>Selected Engineering Choice &amp; Rationale</a:t>
                      </a:r>
                    </a:p>
                  </a:txBody>
                  <a:tcPr>
                    <a:solidFill>
                      <a:srgbClr val="0B2545"/>
                    </a:solidFill>
                  </a:tcPr>
                </a:tc>
              </a:tr>
              <a:tr h="548640">
                <a:tc>
                  <a:txBody>
                    <a:bodyPr/>
                    <a:lstStyle/>
                    <a:p>
                      <a:pPr>
                        <a:defRPr sz="850" b="1">
                          <a:solidFill>
                            <a:srgbClr val="0B2545"/>
                          </a:solidFill>
                          <a:latin typeface="Calibri"/>
                        </a:defRPr>
                      </a:pPr>
                      <a:r>
                        <a:t>API Framework</a:t>
                      </a:r>
                    </a:p>
                  </a:txBody>
                  <a:tcPr marL="109728" marR="109728" marT="54864" marB="54864">
                    <a:solidFill>
                      <a:srgbClr val="FFFFFF"/>
                    </a:solidFill>
                  </a:tcPr>
                </a:tc>
                <a:tc>
                  <a:txBody>
                    <a:bodyPr/>
                    <a:lstStyle/>
                    <a:p>
                      <a:pPr>
                        <a:defRPr sz="850">
                          <a:solidFill>
                            <a:srgbClr val="0F172A"/>
                          </a:solidFill>
                          <a:latin typeface="Calibri"/>
                        </a:defRPr>
                      </a:pPr>
                      <a:r>
                        <a:t>FastAPI vs Flask vs Django</a:t>
                      </a:r>
                    </a:p>
                  </a:txBody>
                  <a:tcPr marL="109728" marR="109728" marT="54864" marB="54864">
                    <a:solidFill>
                      <a:srgbClr val="FFFFFF"/>
                    </a:solidFill>
                  </a:tcPr>
                </a:tc>
                <a:tc>
                  <a:txBody>
                    <a:bodyPr/>
                    <a:lstStyle/>
                    <a:p>
                      <a:pPr>
                        <a:defRPr sz="850">
                          <a:solidFill>
                            <a:srgbClr val="0F172A"/>
                          </a:solidFill>
                          <a:latin typeface="Calibri"/>
                        </a:defRPr>
                      </a:pPr>
                      <a:r>
                        <a:t>Concurrency, typing, OpenAPI docs, latency</a:t>
                      </a:r>
                    </a:p>
                  </a:txBody>
                  <a:tcPr marL="109728" marR="109728" marT="54864" marB="54864">
                    <a:solidFill>
                      <a:srgbClr val="FFFFFF"/>
                    </a:solidFill>
                  </a:tcPr>
                </a:tc>
                <a:tc>
                  <a:txBody>
                    <a:bodyPr/>
                    <a:lstStyle/>
                    <a:p>
                      <a:pPr algn="ctr">
                        <a:defRPr sz="850" b="1">
                          <a:solidFill>
                            <a:srgbClr val="15803D"/>
                          </a:solidFill>
                          <a:latin typeface="Calibri"/>
                        </a:defRPr>
                      </a:pPr>
                      <a:r>
                        <a:t>+4</a:t>
                      </a:r>
                    </a:p>
                  </a:txBody>
                  <a:tcPr marL="109728" marR="109728" marT="54864" marB="54864">
                    <a:solidFill>
                      <a:srgbClr val="FFFFFF"/>
                    </a:solidFill>
                  </a:tcPr>
                </a:tc>
                <a:tc>
                  <a:txBody>
                    <a:bodyPr/>
                    <a:lstStyle/>
                    <a:p>
                      <a:pPr>
                        <a:defRPr sz="850">
                          <a:solidFill>
                            <a:srgbClr val="0F172A"/>
                          </a:solidFill>
                          <a:latin typeface="Calibri"/>
                        </a:defRPr>
                      </a:pPr>
                      <a:r>
                        <a:t>FastAPI selected: Asynchronous ASGI architecture handles 10,000+ concurrent WebSocket connections with native Pydantic validation.</a:t>
                      </a:r>
                    </a:p>
                  </a:txBody>
                  <a:tcPr marL="109728" marR="109728" marT="54864" marB="54864">
                    <a:solidFill>
                      <a:srgbClr val="FFFFFF"/>
                    </a:solidFill>
                  </a:tcPr>
                </a:tc>
              </a:tr>
              <a:tr h="548640">
                <a:tc>
                  <a:txBody>
                    <a:bodyPr/>
                    <a:lstStyle/>
                    <a:p>
                      <a:pPr>
                        <a:defRPr sz="850" b="1">
                          <a:solidFill>
                            <a:srgbClr val="0B2545"/>
                          </a:solidFill>
                          <a:latin typeface="Calibri"/>
                        </a:defRPr>
                      </a:pPr>
                      <a:r>
                        <a:t>Time-Series DB</a:t>
                      </a:r>
                    </a:p>
                  </a:txBody>
                  <a:tcPr marL="109728" marR="109728" marT="54864" marB="54864">
                    <a:solidFill>
                      <a:srgbClr val="F8FAFC"/>
                    </a:solidFill>
                  </a:tcPr>
                </a:tc>
                <a:tc>
                  <a:txBody>
                    <a:bodyPr/>
                    <a:lstStyle/>
                    <a:p>
                      <a:pPr>
                        <a:defRPr sz="850">
                          <a:solidFill>
                            <a:srgbClr val="0F172A"/>
                          </a:solidFill>
                          <a:latin typeface="Calibri"/>
                        </a:defRPr>
                      </a:pPr>
                      <a:r>
                        <a:t>TimescaleDB vs InfluxDB vs MongoDB</a:t>
                      </a:r>
                    </a:p>
                  </a:txBody>
                  <a:tcPr marL="109728" marR="109728" marT="54864" marB="54864">
                    <a:solidFill>
                      <a:srgbClr val="F8FAFC"/>
                    </a:solidFill>
                  </a:tcPr>
                </a:tc>
                <a:tc>
                  <a:txBody>
                    <a:bodyPr/>
                    <a:lstStyle/>
                    <a:p>
                      <a:pPr>
                        <a:defRPr sz="850">
                          <a:solidFill>
                            <a:srgbClr val="0F172A"/>
                          </a:solidFill>
                          <a:latin typeface="Calibri"/>
                        </a:defRPr>
                      </a:pPr>
                      <a:r>
                        <a:t>Relational joins, SQL compliance, compression</a:t>
                      </a:r>
                    </a:p>
                  </a:txBody>
                  <a:tcPr marL="109728" marR="109728" marT="54864" marB="54864">
                    <a:solidFill>
                      <a:srgbClr val="F8FAFC"/>
                    </a:solidFill>
                  </a:tcPr>
                </a:tc>
                <a:tc>
                  <a:txBody>
                    <a:bodyPr/>
                    <a:lstStyle/>
                    <a:p>
                      <a:pPr algn="ctr">
                        <a:defRPr sz="850" b="1">
                          <a:solidFill>
                            <a:srgbClr val="15803D"/>
                          </a:solidFill>
                          <a:latin typeface="Calibri"/>
                        </a:defRPr>
                      </a:pPr>
                      <a:r>
                        <a:t>+5</a:t>
                      </a:r>
                    </a:p>
                  </a:txBody>
                  <a:tcPr marL="109728" marR="109728" marT="54864" marB="54864">
                    <a:solidFill>
                      <a:srgbClr val="F8FAFC"/>
                    </a:solidFill>
                  </a:tcPr>
                </a:tc>
                <a:tc>
                  <a:txBody>
                    <a:bodyPr/>
                    <a:lstStyle/>
                    <a:p>
                      <a:pPr>
                        <a:defRPr sz="850">
                          <a:solidFill>
                            <a:srgbClr val="0F172A"/>
                          </a:solidFill>
                          <a:latin typeface="Calibri"/>
                        </a:defRPr>
                      </a:pPr>
                      <a:r>
                        <a:t>TimescaleDB selected: Combines relational SQL joins for student timetables with automated hypertable chunking and 90% compression.</a:t>
                      </a:r>
                    </a:p>
                  </a:txBody>
                  <a:tcPr marL="109728" marR="109728" marT="54864" marB="54864">
                    <a:solidFill>
                      <a:srgbClr val="F8FAFC"/>
                    </a:solidFill>
                  </a:tcPr>
                </a:tc>
              </a:tr>
              <a:tr h="548640">
                <a:tc>
                  <a:txBody>
                    <a:bodyPr/>
                    <a:lstStyle/>
                    <a:p>
                      <a:pPr>
                        <a:defRPr sz="850" b="1">
                          <a:solidFill>
                            <a:srgbClr val="0B2545"/>
                          </a:solidFill>
                          <a:latin typeface="Calibri"/>
                        </a:defRPr>
                      </a:pPr>
                      <a:r>
                        <a:t>ML Forecasting</a:t>
                      </a:r>
                    </a:p>
                  </a:txBody>
                  <a:tcPr marL="109728" marR="109728" marT="54864" marB="54864">
                    <a:solidFill>
                      <a:srgbClr val="FFFFFF"/>
                    </a:solidFill>
                  </a:tcPr>
                </a:tc>
                <a:tc>
                  <a:txBody>
                    <a:bodyPr/>
                    <a:lstStyle/>
                    <a:p>
                      <a:pPr>
                        <a:defRPr sz="850">
                          <a:solidFill>
                            <a:srgbClr val="0F172A"/>
                          </a:solidFill>
                          <a:latin typeface="Calibri"/>
                        </a:defRPr>
                      </a:pPr>
                      <a:r>
                        <a:t>LightGBM/LSTM vs ARIMA vs Prophet</a:t>
                      </a:r>
                    </a:p>
                  </a:txBody>
                  <a:tcPr marL="109728" marR="109728" marT="54864" marB="54864">
                    <a:solidFill>
                      <a:srgbClr val="FFFFFF"/>
                    </a:solidFill>
                  </a:tcPr>
                </a:tc>
                <a:tc>
                  <a:txBody>
                    <a:bodyPr/>
                    <a:lstStyle/>
                    <a:p>
                      <a:pPr>
                        <a:defRPr sz="850">
                          <a:solidFill>
                            <a:srgbClr val="0F172A"/>
                          </a:solidFill>
                          <a:latin typeface="Calibri"/>
                        </a:defRPr>
                      </a:pPr>
                      <a:r>
                        <a:t>Non-linear seasonality, exogenous inputs, speed</a:t>
                      </a:r>
                    </a:p>
                  </a:txBody>
                  <a:tcPr marL="109728" marR="109728" marT="54864" marB="54864">
                    <a:solidFill>
                      <a:srgbClr val="FFFFFF"/>
                    </a:solidFill>
                  </a:tcPr>
                </a:tc>
                <a:tc>
                  <a:txBody>
                    <a:bodyPr/>
                    <a:lstStyle/>
                    <a:p>
                      <a:pPr algn="ctr">
                        <a:defRPr sz="850" b="1">
                          <a:solidFill>
                            <a:srgbClr val="15803D"/>
                          </a:solidFill>
                          <a:latin typeface="Calibri"/>
                        </a:defRPr>
                      </a:pPr>
                      <a:r>
                        <a:t>+4</a:t>
                      </a:r>
                    </a:p>
                  </a:txBody>
                  <a:tcPr marL="109728" marR="109728" marT="54864" marB="54864">
                    <a:solidFill>
                      <a:srgbClr val="FFFFFF"/>
                    </a:solidFill>
                  </a:tcPr>
                </a:tc>
                <a:tc>
                  <a:txBody>
                    <a:bodyPr/>
                    <a:lstStyle/>
                    <a:p>
                      <a:pPr>
                        <a:defRPr sz="850">
                          <a:solidFill>
                            <a:srgbClr val="0F172A"/>
                          </a:solidFill>
                          <a:latin typeface="Calibri"/>
                        </a:defRPr>
                      </a:pPr>
                      <a:r>
                        <a:t>LightGBM + LSTM selected: Accurately captures non-linear academic calendar breaks, weather exogenous features, and sub-50ms inference.</a:t>
                      </a:r>
                    </a:p>
                  </a:txBody>
                  <a:tcPr marL="109728" marR="109728" marT="54864" marB="54864">
                    <a:solidFill>
                      <a:srgbClr val="FFFFFF"/>
                    </a:solidFill>
                  </a:tcPr>
                </a:tc>
              </a:tr>
              <a:tr h="548640">
                <a:tc>
                  <a:txBody>
                    <a:bodyPr/>
                    <a:lstStyle/>
                    <a:p>
                      <a:pPr>
                        <a:defRPr sz="850" b="1">
                          <a:solidFill>
                            <a:srgbClr val="0B2545"/>
                          </a:solidFill>
                          <a:latin typeface="Calibri"/>
                        </a:defRPr>
                      </a:pPr>
                      <a:r>
                        <a:t>Room Solver</a:t>
                      </a:r>
                    </a:p>
                  </a:txBody>
                  <a:tcPr marL="109728" marR="109728" marT="54864" marB="54864">
                    <a:solidFill>
                      <a:srgbClr val="F8FAFC"/>
                    </a:solidFill>
                  </a:tcPr>
                </a:tc>
                <a:tc>
                  <a:txBody>
                    <a:bodyPr/>
                    <a:lstStyle/>
                    <a:p>
                      <a:pPr>
                        <a:defRPr sz="850">
                          <a:solidFill>
                            <a:srgbClr val="0F172A"/>
                          </a:solidFill>
                          <a:latin typeface="Calibri"/>
                        </a:defRPr>
                      </a:pPr>
                      <a:r>
                        <a:t>OR-Tools vs OptaPlanner vs GA</a:t>
                      </a:r>
                    </a:p>
                  </a:txBody>
                  <a:tcPr marL="109728" marR="109728" marT="54864" marB="54864">
                    <a:solidFill>
                      <a:srgbClr val="F8FAFC"/>
                    </a:solidFill>
                  </a:tcPr>
                </a:tc>
                <a:tc>
                  <a:txBody>
                    <a:bodyPr/>
                    <a:lstStyle/>
                    <a:p>
                      <a:pPr>
                        <a:defRPr sz="850">
                          <a:solidFill>
                            <a:srgbClr val="0F172A"/>
                          </a:solidFill>
                          <a:latin typeface="Calibri"/>
                        </a:defRPr>
                      </a:pPr>
                      <a:r>
                        <a:t>Solve speed, constraint expressiveness, Python API</a:t>
                      </a:r>
                    </a:p>
                  </a:txBody>
                  <a:tcPr marL="109728" marR="109728" marT="54864" marB="54864">
                    <a:solidFill>
                      <a:srgbClr val="F8FAFC"/>
                    </a:solidFill>
                  </a:tcPr>
                </a:tc>
                <a:tc>
                  <a:txBody>
                    <a:bodyPr/>
                    <a:lstStyle/>
                    <a:p>
                      <a:pPr algn="ctr">
                        <a:defRPr sz="850" b="1">
                          <a:solidFill>
                            <a:srgbClr val="15803D"/>
                          </a:solidFill>
                          <a:latin typeface="Calibri"/>
                        </a:defRPr>
                      </a:pPr>
                      <a:r>
                        <a:t>+4</a:t>
                      </a:r>
                    </a:p>
                  </a:txBody>
                  <a:tcPr marL="109728" marR="109728" marT="54864" marB="54864">
                    <a:solidFill>
                      <a:srgbClr val="F8FAFC"/>
                    </a:solidFill>
                  </a:tcPr>
                </a:tc>
                <a:tc>
                  <a:txBody>
                    <a:bodyPr/>
                    <a:lstStyle/>
                    <a:p>
                      <a:pPr>
                        <a:defRPr sz="850">
                          <a:solidFill>
                            <a:srgbClr val="0F172A"/>
                          </a:solidFill>
                          <a:latin typeface="Calibri"/>
                        </a:defRPr>
                      </a:pPr>
                      <a:r>
                        <a:t>Google OR-Tools selected: Solves multi-room constraint satisfaction problems in &lt;1.2s using Min-Conflicts heuristic with 0 clashes.</a:t>
                      </a:r>
                    </a:p>
                  </a:txBody>
                  <a:tcPr marL="109728" marR="109728" marT="54864" marB="54864">
                    <a:solidFill>
                      <a:srgbClr val="F8FAFC"/>
                    </a:solidFill>
                  </a:tcPr>
                </a:tc>
              </a:tr>
              <a:tr h="548640">
                <a:tc>
                  <a:txBody>
                    <a:bodyPr/>
                    <a:lstStyle/>
                    <a:p>
                      <a:pPr>
                        <a:defRPr sz="850" b="1">
                          <a:solidFill>
                            <a:srgbClr val="0B2545"/>
                          </a:solidFill>
                          <a:latin typeface="Calibri"/>
                        </a:defRPr>
                      </a:pPr>
                      <a:r>
                        <a:t>Frontend Stack</a:t>
                      </a:r>
                    </a:p>
                  </a:txBody>
                  <a:tcPr marL="109728" marR="109728" marT="54864" marB="54864">
                    <a:solidFill>
                      <a:srgbClr val="FFFFFF"/>
                    </a:solidFill>
                  </a:tcPr>
                </a:tc>
                <a:tc>
                  <a:txBody>
                    <a:bodyPr/>
                    <a:lstStyle/>
                    <a:p>
                      <a:pPr>
                        <a:defRPr sz="850">
                          <a:solidFill>
                            <a:srgbClr val="0F172A"/>
                          </a:solidFill>
                          <a:latin typeface="Calibri"/>
                        </a:defRPr>
                      </a:pPr>
                      <a:r>
                        <a:t>React + Vite vs Next.js vs Vanilla JS</a:t>
                      </a:r>
                    </a:p>
                  </a:txBody>
                  <a:tcPr marL="109728" marR="109728" marT="54864" marB="54864">
                    <a:solidFill>
                      <a:srgbClr val="FFFFFF"/>
                    </a:solidFill>
                  </a:tcPr>
                </a:tc>
                <a:tc>
                  <a:txBody>
                    <a:bodyPr/>
                    <a:lstStyle/>
                    <a:p>
                      <a:pPr>
                        <a:defRPr sz="850">
                          <a:solidFill>
                            <a:srgbClr val="0F172A"/>
                          </a:solidFill>
                          <a:latin typeface="Calibri"/>
                        </a:defRPr>
                      </a:pPr>
                      <a:r>
                        <a:t>Hot reload speed, bundle size, WebSocket sync</a:t>
                      </a:r>
                    </a:p>
                  </a:txBody>
                  <a:tcPr marL="109728" marR="109728" marT="54864" marB="54864">
                    <a:solidFill>
                      <a:srgbClr val="FFFFFF"/>
                    </a:solidFill>
                  </a:tcPr>
                </a:tc>
                <a:tc>
                  <a:txBody>
                    <a:bodyPr/>
                    <a:lstStyle/>
                    <a:p>
                      <a:pPr algn="ctr">
                        <a:defRPr sz="850" b="1">
                          <a:solidFill>
                            <a:srgbClr val="15803D"/>
                          </a:solidFill>
                          <a:latin typeface="Calibri"/>
                        </a:defRPr>
                      </a:pPr>
                      <a:r>
                        <a:t>+4</a:t>
                      </a:r>
                    </a:p>
                  </a:txBody>
                  <a:tcPr marL="109728" marR="109728" marT="54864" marB="54864">
                    <a:solidFill>
                      <a:srgbClr val="FFFFFF"/>
                    </a:solidFill>
                  </a:tcPr>
                </a:tc>
                <a:tc>
                  <a:txBody>
                    <a:bodyPr/>
                    <a:lstStyle/>
                    <a:p>
                      <a:pPr>
                        <a:defRPr sz="850">
                          <a:solidFill>
                            <a:srgbClr val="0F172A"/>
                          </a:solidFill>
                          <a:latin typeface="Calibri"/>
                        </a:defRPr>
                      </a:pPr>
                      <a:r>
                        <a:t>React + Vite selected: Instant HMR development cycle, sub-150KB initial client bundle, and seamless real-time WebSocket state management.</a:t>
                      </a:r>
                    </a:p>
                  </a:txBody>
                  <a:tcPr marL="109728" marR="109728" marT="54864" marB="54864">
                    <a:solidFill>
                      <a:srgbClr val="FFFFFF"/>
                    </a:solidFill>
                  </a:tcPr>
                </a:tc>
              </a:tr>
            </a:tbl>
          </a:graphicData>
        </a:graphic>
      </p:graphicFrame>
      <p:sp>
        <p:nvSpPr>
          <p:cNvPr id="10" name="Rounded Rectangle 9"/>
          <p:cNvSpPr/>
          <p:nvPr/>
        </p:nvSpPr>
        <p:spPr>
          <a:xfrm>
            <a:off x="731520" y="5029200"/>
            <a:ext cx="10728655" cy="1143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5157216"/>
            <a:ext cx="10436047" cy="886968"/>
          </a:xfrm>
          <a:prstGeom prst="rect">
            <a:avLst/>
          </a:prstGeom>
          <a:noFill/>
        </p:spPr>
        <p:txBody>
          <a:bodyPr wrap="square" lIns="0" tIns="0" rIns="0" bIns="0">
            <a:spAutoFit/>
          </a:bodyPr>
          <a:lstStyle/>
          <a:p>
            <a:pPr>
              <a:spcAft>
                <a:spcPts val="200"/>
              </a:spcAft>
              <a:defRPr sz="800" b="1">
                <a:solidFill>
                  <a:srgbClr val="B45309"/>
                </a:solidFill>
                <a:latin typeface="Calibri"/>
              </a:defRPr>
            </a:pPr>
            <a:r>
              <a:t>PUGH MATRIX VALIDATION</a:t>
            </a:r>
          </a:p>
          <a:p>
            <a:pPr>
              <a:spcAft>
                <a:spcPts val="400"/>
              </a:spcAft>
              <a:defRPr sz="1050" b="1">
                <a:solidFill>
                  <a:srgbClr val="1D4ED8"/>
                </a:solidFill>
                <a:latin typeface="Calibri"/>
              </a:defRPr>
            </a:pPr>
            <a:r>
              <a:t>Architectural Decision Rigor &amp; Validation</a:t>
            </a:r>
          </a:p>
          <a:p>
            <a:pPr>
              <a:spcAft>
                <a:spcPts val="250"/>
              </a:spcAft>
              <a:defRPr sz="850">
                <a:solidFill>
                  <a:srgbClr val="0F172A"/>
                </a:solidFill>
                <a:latin typeface="Calibri"/>
              </a:defRPr>
            </a:pPr>
            <a:r>
              <a:t>• Pugh Matrix Scoring Methodology: Each alternative evaluated across 5 weighted engineering dimensions: Latency (&lt;100ms), Scalability (10k+ events), Relational Integrity, Open-Source Support, and Resource Footprint. The chosen stack scored highest across all dimensions.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4: PROJECT FEASIBILITY &amp; RISK MITIGATION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3-Tier Data Collection Strategy &amp; 5-Point Risk Mitigation Register</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Addressing physical deployment constraints through empirical calibration and fail-safe protocols (Process Manual Section 4.6)</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8 of 16</a:t>
            </a:r>
          </a:p>
        </p:txBody>
      </p:sp>
      <p:sp>
        <p:nvSpPr>
          <p:cNvPr id="9" name="Rounded Rectangle 8"/>
          <p:cNvSpPr/>
          <p:nvPr/>
        </p:nvSpPr>
        <p:spPr>
          <a:xfrm>
            <a:off x="731520" y="1600200"/>
            <a:ext cx="5212080"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4919472"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DATA COLLECTION RIGOR</a:t>
            </a:r>
          </a:p>
          <a:p>
            <a:pPr>
              <a:spcAft>
                <a:spcPts val="400"/>
              </a:spcAft>
              <a:defRPr sz="1050" b="1">
                <a:solidFill>
                  <a:srgbClr val="0B2545"/>
                </a:solidFill>
                <a:latin typeface="Calibri"/>
              </a:defRPr>
            </a:pPr>
            <a:r>
              <a:t>3-Tier Data Collection &amp; Grounding Strategy</a:t>
            </a:r>
          </a:p>
          <a:p>
            <a:pPr>
              <a:spcAft>
                <a:spcPts val="250"/>
              </a:spcAft>
              <a:defRPr sz="850">
                <a:solidFill>
                  <a:srgbClr val="0F172A"/>
                </a:solidFill>
                <a:latin typeface="Calibri"/>
              </a:defRPr>
            </a:pPr>
            <a:r>
              <a:t>• Phase A: Real Campus Baseline Data</a:t>
            </a:r>
          </a:p>
          <a:p>
            <a:pPr>
              <a:spcAft>
                <a:spcPts val="250"/>
              </a:spcAft>
              <a:defRPr sz="850">
                <a:solidFill>
                  <a:srgbClr val="0F172A"/>
                </a:solidFill>
                <a:latin typeface="Calibri"/>
              </a:defRPr>
            </a:pPr>
            <a:r>
              <a:t>•   • Calibrated utility bill audits from Chintan Block (14,200 kWh/day peak baseline).</a:t>
            </a:r>
          </a:p>
          <a:p>
            <a:pPr>
              <a:spcAft>
                <a:spcPts val="250"/>
              </a:spcAft>
              <a:defRPr sz="850">
                <a:solidFill>
                  <a:srgbClr val="0F172A"/>
                </a:solidFill>
                <a:latin typeface="Calibri"/>
              </a:defRPr>
            </a:pPr>
            <a:r>
              <a:t>•   • Official Alliance academic master timetables and classroom seating capacities.</a:t>
            </a:r>
          </a:p>
          <a:p>
            <a:pPr>
              <a:spcAft>
                <a:spcPts val="250"/>
              </a:spcAft>
              <a:defRPr sz="850">
                <a:solidFill>
                  <a:srgbClr val="0F172A"/>
                </a:solidFill>
                <a:latin typeface="Calibri"/>
              </a:defRPr>
            </a:pPr>
            <a:r>
              <a:t>•   • Seasonal occupancy patterns across semester exams, fests, and vacations.</a:t>
            </a:r>
          </a:p>
          <a:p>
            <a:pPr>
              <a:spcAft>
                <a:spcPts val="250"/>
              </a:spcAft>
              <a:defRPr sz="850">
                <a:solidFill>
                  <a:srgbClr val="0F172A"/>
                </a:solidFill>
                <a:latin typeface="Calibri"/>
              </a:defRPr>
            </a:pPr>
            <a:r>
              <a:t>• Phase B: Edge Hardware Pilot Nodes</a:t>
            </a:r>
          </a:p>
          <a:p>
            <a:pPr>
              <a:spcAft>
                <a:spcPts val="250"/>
              </a:spcAft>
              <a:defRPr sz="850">
                <a:solidFill>
                  <a:srgbClr val="0F172A"/>
                </a:solidFill>
                <a:latin typeface="Calibri"/>
              </a:defRPr>
            </a:pPr>
            <a:r>
              <a:t>•   • Physical ESP32 microcontrollers deployed in designated pilot classrooms.</a:t>
            </a:r>
          </a:p>
          <a:p>
            <a:pPr>
              <a:spcAft>
                <a:spcPts val="250"/>
              </a:spcAft>
              <a:defRPr sz="850">
                <a:solidFill>
                  <a:srgbClr val="0F172A"/>
                </a:solidFill>
                <a:latin typeface="Calibri"/>
              </a:defRPr>
            </a:pPr>
            <a:r>
              <a:t>•   • DHT22 environmental sensors (temperature/humidity) and current transformers.</a:t>
            </a:r>
          </a:p>
          <a:p>
            <a:pPr>
              <a:spcAft>
                <a:spcPts val="250"/>
              </a:spcAft>
              <a:defRPr sz="850">
                <a:solidFill>
                  <a:srgbClr val="0F172A"/>
                </a:solidFill>
                <a:latin typeface="Calibri"/>
              </a:defRPr>
            </a:pPr>
            <a:r>
              <a:t>•   • Ultrasonic distance sensors (JSN-SR04T) monitoring overhead tank levels.</a:t>
            </a:r>
          </a:p>
          <a:p>
            <a:pPr>
              <a:spcAft>
                <a:spcPts val="250"/>
              </a:spcAft>
              <a:defRPr sz="850">
                <a:solidFill>
                  <a:srgbClr val="0F172A"/>
                </a:solidFill>
                <a:latin typeface="Calibri"/>
              </a:defRPr>
            </a:pPr>
            <a:r>
              <a:t>• Phase C: Synthetic High-Volume Injection</a:t>
            </a:r>
          </a:p>
          <a:p>
            <a:pPr>
              <a:spcAft>
                <a:spcPts val="250"/>
              </a:spcAft>
              <a:defRPr sz="850">
                <a:solidFill>
                  <a:srgbClr val="0F172A"/>
                </a:solidFill>
                <a:latin typeface="Calibri"/>
              </a:defRPr>
            </a:pPr>
            <a:r>
              <a:t>•   • Calibrated Gaussian noise generators simulating 50,000+ time-series records.</a:t>
            </a:r>
          </a:p>
          <a:p>
            <a:pPr>
              <a:spcAft>
                <a:spcPts val="250"/>
              </a:spcAft>
              <a:defRPr sz="850">
                <a:solidFill>
                  <a:srgbClr val="0F172A"/>
                </a:solidFill>
                <a:latin typeface="Calibri"/>
              </a:defRPr>
            </a:pPr>
            <a:r>
              <a:t>•   • Hardware-in-the-loop stress testing verifying pipeline throughput under 10x load.</a:t>
            </a:r>
          </a:p>
        </p:txBody>
      </p:sp>
      <p:sp>
        <p:nvSpPr>
          <p:cNvPr id="11" name="Rounded Rectangle 10"/>
          <p:cNvSpPr/>
          <p:nvPr/>
        </p:nvSpPr>
        <p:spPr>
          <a:xfrm>
            <a:off x="6248095" y="1600200"/>
            <a:ext cx="5212080" cy="457200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4399" y="1728216"/>
            <a:ext cx="4919472"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PROCESS MANUAL SECTION 4.6</a:t>
            </a:r>
          </a:p>
          <a:p>
            <a:pPr>
              <a:spcAft>
                <a:spcPts val="400"/>
              </a:spcAft>
              <a:defRPr sz="1050" b="1">
                <a:solidFill>
                  <a:srgbClr val="B45309"/>
                </a:solidFill>
                <a:latin typeface="Calibri"/>
              </a:defRPr>
            </a:pPr>
            <a:r>
              <a:t>5-Point Risk Register &amp; Mitigation Strategy</a:t>
            </a:r>
          </a:p>
          <a:p>
            <a:pPr>
              <a:spcAft>
                <a:spcPts val="250"/>
              </a:spcAft>
              <a:defRPr sz="850">
                <a:solidFill>
                  <a:srgbClr val="0F172A"/>
                </a:solidFill>
                <a:latin typeface="Calibri"/>
              </a:defRPr>
            </a:pPr>
            <a:r>
              <a:t>• R-01 (Sensor Drift / Malfunction): Rolling z-score outlier detection; automated flag and isolation of erroneous nodes without corrupting the historical database.</a:t>
            </a:r>
          </a:p>
          <a:p>
            <a:pPr>
              <a:spcAft>
                <a:spcPts val="250"/>
              </a:spcAft>
              <a:defRPr sz="850">
                <a:solidFill>
                  <a:srgbClr val="0F172A"/>
                </a:solidFill>
                <a:latin typeface="Calibri"/>
              </a:defRPr>
            </a:pPr>
            <a:r>
              <a:t>• R-02 (Network Telemetry Loss): Local circular FIFO SQLite buffer on edge ESP32 nodes; exponential backoff replay protocol upon Wi-Fi reconnection.</a:t>
            </a:r>
          </a:p>
          <a:p>
            <a:pPr>
              <a:spcAft>
                <a:spcPts val="250"/>
              </a:spcAft>
              <a:defRPr sz="850">
                <a:solidFill>
                  <a:srgbClr val="0F172A"/>
                </a:solidFill>
                <a:latin typeface="Calibri"/>
              </a:defRPr>
            </a:pPr>
            <a:r>
              <a:t>• R-03 (Inference Latency Spike): INT8 neural weight quantization and Redis pre-computed lookahead cache for instant setpoint recommendations (&lt;50ms).</a:t>
            </a:r>
          </a:p>
          <a:p>
            <a:pPr>
              <a:spcAft>
                <a:spcPts val="250"/>
              </a:spcAft>
              <a:defRPr sz="850">
                <a:solidFill>
                  <a:srgbClr val="0F172A"/>
                </a:solidFill>
                <a:latin typeface="Calibri"/>
              </a:defRPr>
            </a:pPr>
            <a:r>
              <a:t>• R-04 (Scope Creep): Strict boundary enforcement per Review-1 document; direct physical breaker actuation deferred to Phase 2 after simulation validation.</a:t>
            </a:r>
          </a:p>
          <a:p>
            <a:pPr>
              <a:spcAft>
                <a:spcPts val="250"/>
              </a:spcAft>
              <a:defRPr sz="850">
                <a:solidFill>
                  <a:srgbClr val="0F172A"/>
                </a:solidFill>
                <a:latin typeface="Calibri"/>
              </a:defRPr>
            </a:pPr>
            <a:r>
              <a:t>• R-05 (Data Privacy DPDP Act 2023): On-device edge processing; raw video frames discarded in volatile RAM within 200ms; only numerical count vectors persisted.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5: WORK DISTRIBUTION &amp; OWNERSHIP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Individual Subsystem Ownership &amp; Equitable Work Allocation</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Transparent distribution of engineering responsibility across all 4 team members (25% Contribution Each)</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9 of 16</a:t>
            </a:r>
          </a:p>
        </p:txBody>
      </p:sp>
      <p:sp>
        <p:nvSpPr>
          <p:cNvPr id="9" name="Rounded Rectangle 8"/>
          <p:cNvSpPr/>
          <p:nvPr/>
        </p:nvSpPr>
        <p:spPr>
          <a:xfrm>
            <a:off x="731520"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LEAD ARCHITECT (25%)</a:t>
            </a:r>
          </a:p>
          <a:p>
            <a:pPr>
              <a:spcAft>
                <a:spcPts val="400"/>
              </a:spcAft>
              <a:defRPr sz="1050" b="1">
                <a:solidFill>
                  <a:srgbClr val="0B2545"/>
                </a:solidFill>
                <a:latin typeface="Calibri"/>
              </a:defRPr>
            </a:pPr>
            <a:r>
              <a:t>Likith S (2022BCSE0101)</a:t>
            </a:r>
          </a:p>
          <a:p>
            <a:pPr>
              <a:spcAft>
                <a:spcPts val="250"/>
              </a:spcAft>
              <a:defRPr sz="850">
                <a:solidFill>
                  <a:srgbClr val="0F172A"/>
                </a:solidFill>
                <a:latin typeface="Calibri"/>
              </a:defRPr>
            </a:pPr>
            <a:r>
              <a:t>• Subsystem: Core Architecture, API Gateway &amp; TimescaleDB Pipeline.</a:t>
            </a:r>
          </a:p>
          <a:p>
            <a:pPr>
              <a:spcAft>
                <a:spcPts val="250"/>
              </a:spcAft>
              <a:defRPr sz="850">
                <a:solidFill>
                  <a:srgbClr val="0F172A"/>
                </a:solidFill>
                <a:latin typeface="Calibri"/>
              </a:defRPr>
            </a:pPr>
            <a:r>
              <a:t>• Responsibilities: End-to-end architecture, FastAPI backend, hypertable chunking, database schemas, Docker containerization.</a:t>
            </a:r>
          </a:p>
          <a:p>
            <a:pPr>
              <a:spcAft>
                <a:spcPts val="250"/>
              </a:spcAft>
              <a:defRPr sz="850">
                <a:solidFill>
                  <a:srgbClr val="0F172A"/>
                </a:solidFill>
                <a:latin typeface="Calibri"/>
              </a:defRPr>
            </a:pPr>
            <a:r>
              <a:t>• Review 1 Deliverable: System Architecture Specification, Section 1.5 Complex Problems Matrix, Ingestion Pipeline Proof-of-Concept.</a:t>
            </a:r>
          </a:p>
          <a:p>
            <a:pPr>
              <a:spcAft>
                <a:spcPts val="250"/>
              </a:spcAft>
              <a:defRPr sz="850">
                <a:solidFill>
                  <a:srgbClr val="0F172A"/>
                </a:solidFill>
                <a:latin typeface="Calibri"/>
              </a:defRPr>
            </a:pPr>
            <a:r>
              <a:t>• Defense Focus: Data pipeline throughput, TimescaleDB vs NoSQL trade-offs, system integration.</a:t>
            </a:r>
          </a:p>
        </p:txBody>
      </p:sp>
      <p:sp>
        <p:nvSpPr>
          <p:cNvPr id="11" name="Rounded Rectangle 10"/>
          <p:cNvSpPr/>
          <p:nvPr/>
        </p:nvSpPr>
        <p:spPr>
          <a:xfrm>
            <a:off x="3465576"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ML ENGINEER (25%)</a:t>
            </a:r>
          </a:p>
          <a:p>
            <a:pPr>
              <a:spcAft>
                <a:spcPts val="400"/>
              </a:spcAft>
              <a:defRPr sz="1050" b="1">
                <a:solidFill>
                  <a:srgbClr val="0B2545"/>
                </a:solidFill>
                <a:latin typeface="Calibri"/>
              </a:defRPr>
            </a:pPr>
            <a:r>
              <a:t>Vinodkumar (2022BCSE0102)</a:t>
            </a:r>
          </a:p>
          <a:p>
            <a:pPr>
              <a:spcAft>
                <a:spcPts val="250"/>
              </a:spcAft>
              <a:defRPr sz="850">
                <a:solidFill>
                  <a:srgbClr val="0F172A"/>
                </a:solidFill>
                <a:latin typeface="Calibri"/>
              </a:defRPr>
            </a:pPr>
            <a:r>
              <a:t>• Subsystem: Predictive Analytics &amp; Demand Forecasting Engine.</a:t>
            </a:r>
          </a:p>
          <a:p>
            <a:pPr>
              <a:spcAft>
                <a:spcPts val="250"/>
              </a:spcAft>
              <a:defRPr sz="850">
                <a:solidFill>
                  <a:srgbClr val="0F172A"/>
                </a:solidFill>
                <a:latin typeface="Calibri"/>
              </a:defRPr>
            </a:pPr>
            <a:r>
              <a:t>• Responsibilities: LightGBM regressor &amp; LSTM modeling, feature engineering pipeline, hyperparameter tuning, benchmark validation.</a:t>
            </a:r>
          </a:p>
          <a:p>
            <a:pPr>
              <a:spcAft>
                <a:spcPts val="250"/>
              </a:spcAft>
              <a:defRPr sz="850">
                <a:solidFill>
                  <a:srgbClr val="0F172A"/>
                </a:solidFill>
                <a:latin typeface="Calibri"/>
              </a:defRPr>
            </a:pPr>
            <a:r>
              <a:t>• Review 1 Deliverable: Comparative Literature Gap Matrix (15 Papers), Predictive Modeling Formulation, Baseline Model Benchmarks.</a:t>
            </a:r>
          </a:p>
          <a:p>
            <a:pPr>
              <a:spcAft>
                <a:spcPts val="250"/>
              </a:spcAft>
              <a:defRPr sz="850">
                <a:solidFill>
                  <a:srgbClr val="0F172A"/>
                </a:solidFill>
                <a:latin typeface="Calibri"/>
              </a:defRPr>
            </a:pPr>
            <a:r>
              <a:t>• Defense Focus: Overfitting mitigation, walk-forward cross-validation, non-linear calendar seasonality.</a:t>
            </a:r>
          </a:p>
        </p:txBody>
      </p:sp>
      <p:sp>
        <p:nvSpPr>
          <p:cNvPr id="13" name="Rounded Rectangle 12"/>
          <p:cNvSpPr/>
          <p:nvPr/>
        </p:nvSpPr>
        <p:spPr>
          <a:xfrm>
            <a:off x="6199632"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CV &amp; SOLVER LEAD (25%)</a:t>
            </a:r>
          </a:p>
          <a:p>
            <a:pPr>
              <a:spcAft>
                <a:spcPts val="400"/>
              </a:spcAft>
              <a:defRPr sz="1050" b="1">
                <a:solidFill>
                  <a:srgbClr val="0B2545"/>
                </a:solidFill>
                <a:latin typeface="Calibri"/>
              </a:defRPr>
            </a:pPr>
            <a:r>
              <a:t>Nikhil kumar V (2022BCSE0103)</a:t>
            </a:r>
          </a:p>
          <a:p>
            <a:pPr>
              <a:spcAft>
                <a:spcPts val="250"/>
              </a:spcAft>
              <a:defRPr sz="850">
                <a:solidFill>
                  <a:srgbClr val="0F172A"/>
                </a:solidFill>
                <a:latin typeface="Calibri"/>
              </a:defRPr>
            </a:pPr>
            <a:r>
              <a:t>• Subsystem: Spatial Occupancy Tracking &amp; Room Solver.</a:t>
            </a:r>
          </a:p>
          <a:p>
            <a:pPr>
              <a:spcAft>
                <a:spcPts val="250"/>
              </a:spcAft>
              <a:defRPr sz="850">
                <a:solidFill>
                  <a:srgbClr val="0F172A"/>
                </a:solidFill>
                <a:latin typeface="Calibri"/>
              </a:defRPr>
            </a:pPr>
            <a:r>
              <a:t>• Responsibilities: YOLOv8 edge vision pipeline, centroid head-counting, Google OR-Tools constraint satisfaction timetable solver.</a:t>
            </a:r>
          </a:p>
          <a:p>
            <a:pPr>
              <a:spcAft>
                <a:spcPts val="250"/>
              </a:spcAft>
              <a:defRPr sz="850">
                <a:solidFill>
                  <a:srgbClr val="0F172A"/>
                </a:solidFill>
                <a:latin typeface="Calibri"/>
              </a:defRPr>
            </a:pPr>
            <a:r>
              <a:t>• Review 1 Deliverable: Spatial Utilization Analysis, Mathematical Formulation of Room Constraints, Edge Privacy Protocol.</a:t>
            </a:r>
          </a:p>
          <a:p>
            <a:pPr>
              <a:spcAft>
                <a:spcPts val="250"/>
              </a:spcAft>
              <a:defRPr sz="850">
                <a:solidFill>
                  <a:srgbClr val="0F172A"/>
                </a:solidFill>
                <a:latin typeface="Calibri"/>
              </a:defRPr>
            </a:pPr>
            <a:r>
              <a:t>• Defense Focus: CSP heuristic formulation, zero timetable clashes, DPDP Act 2023 privacy compliance.</a:t>
            </a:r>
          </a:p>
        </p:txBody>
      </p:sp>
      <p:sp>
        <p:nvSpPr>
          <p:cNvPr id="15" name="Rounded Rectangle 14"/>
          <p:cNvSpPr/>
          <p:nvPr/>
        </p:nvSpPr>
        <p:spPr>
          <a:xfrm>
            <a:off x="8933688"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9992"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IOT &amp; FRONTEND LEAD (25%)</a:t>
            </a:r>
          </a:p>
          <a:p>
            <a:pPr>
              <a:spcAft>
                <a:spcPts val="400"/>
              </a:spcAft>
              <a:defRPr sz="1050" b="1">
                <a:solidFill>
                  <a:srgbClr val="0B2545"/>
                </a:solidFill>
                <a:latin typeface="Calibri"/>
              </a:defRPr>
            </a:pPr>
            <a:r>
              <a:t>Kalyan kumar T (2022BCSE0104)</a:t>
            </a:r>
          </a:p>
          <a:p>
            <a:pPr>
              <a:spcAft>
                <a:spcPts val="250"/>
              </a:spcAft>
              <a:defRPr sz="850">
                <a:solidFill>
                  <a:srgbClr val="0F172A"/>
                </a:solidFill>
                <a:latin typeface="Calibri"/>
              </a:defRPr>
            </a:pPr>
            <a:r>
              <a:t>• Subsystem: IoT Telemetry &amp; Frontend Web Dashboard.</a:t>
            </a:r>
          </a:p>
          <a:p>
            <a:pPr>
              <a:spcAft>
                <a:spcPts val="250"/>
              </a:spcAft>
              <a:defRPr sz="850">
                <a:solidFill>
                  <a:srgbClr val="0F172A"/>
                </a:solidFill>
                <a:latin typeface="Calibri"/>
              </a:defRPr>
            </a:pPr>
            <a:r>
              <a:t>• Responsibilities: ESP32 microcontroller firmware, ultrasonic water sensors, actuation alert engine, React 18 + Vite web dashboard.</a:t>
            </a:r>
          </a:p>
          <a:p>
            <a:pPr>
              <a:spcAft>
                <a:spcPts val="250"/>
              </a:spcAft>
              <a:defRPr sz="850">
                <a:solidFill>
                  <a:srgbClr val="0F172A"/>
                </a:solidFill>
                <a:latin typeface="Calibri"/>
              </a:defRPr>
            </a:pPr>
            <a:r>
              <a:t>• Review 1 Deliverable: 3-Tier Data Collection Strategy, Sensor Hardware Feasibility Plan, 5-Point Risk Register, Dashboard Mockups.</a:t>
            </a:r>
          </a:p>
          <a:p>
            <a:pPr>
              <a:spcAft>
                <a:spcPts val="250"/>
              </a:spcAft>
              <a:defRPr sz="850">
                <a:solidFill>
                  <a:srgbClr val="0F172A"/>
                </a:solidFill>
                <a:latin typeface="Calibri"/>
              </a:defRPr>
            </a:pPr>
            <a:r>
              <a:t>• Defense Focus: Sensor calibration, network failure recovery, WebSockets real-time UI synchronization.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RUBRIC CRITERION 5: ORAL DEFENSE EXECUTION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12-Minute Structured Presentation Timeline (3 Mins Per Member)</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Precision timing ensuring equitable contribution, seamless handoffs, and zero panel interruption</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10 of 16</a:t>
            </a:r>
          </a:p>
        </p:txBody>
      </p:sp>
      <p:sp>
        <p:nvSpPr>
          <p:cNvPr id="9" name="Rounded Rectangle 8"/>
          <p:cNvSpPr/>
          <p:nvPr/>
        </p:nvSpPr>
        <p:spPr>
          <a:xfrm>
            <a:off x="731520" y="1600200"/>
            <a:ext cx="2505456" cy="4572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00:00 – 03:00 (3 MINS)</a:t>
            </a:r>
          </a:p>
          <a:p>
            <a:pPr>
              <a:spcAft>
                <a:spcPts val="400"/>
              </a:spcAft>
              <a:defRPr sz="1050" b="1">
                <a:solidFill>
                  <a:srgbClr val="1D4ED8"/>
                </a:solidFill>
                <a:latin typeface="Calibri"/>
              </a:defRPr>
            </a:pPr>
            <a:r>
              <a:t>Speaker 1: Likith S</a:t>
            </a:r>
          </a:p>
          <a:p>
            <a:pPr>
              <a:spcAft>
                <a:spcPts val="250"/>
              </a:spcAft>
              <a:defRPr sz="850">
                <a:solidFill>
                  <a:srgbClr val="0F172A"/>
                </a:solidFill>
                <a:latin typeface="Calibri"/>
              </a:defRPr>
            </a:pPr>
            <a:r>
              <a:t>• Slide Scope: Slides 1 to 3.</a:t>
            </a:r>
          </a:p>
          <a:p>
            <a:pPr>
              <a:spcAft>
                <a:spcPts val="250"/>
              </a:spcAft>
              <a:defRPr sz="850">
                <a:solidFill>
                  <a:srgbClr val="0F172A"/>
                </a:solidFill>
                <a:latin typeface="Calibri"/>
              </a:defRPr>
            </a:pPr>
            <a:r>
              <a:t>• Core Content: Administrative intro, societal need, Chintan Block empirical baseline, 28-35% energy wastage, and explicit scope boundaries.</a:t>
            </a:r>
          </a:p>
          <a:p>
            <a:pPr>
              <a:spcAft>
                <a:spcPts val="250"/>
              </a:spcAft>
              <a:defRPr sz="850">
                <a:solidFill>
                  <a:srgbClr val="0F172A"/>
                </a:solidFill>
                <a:latin typeface="Calibri"/>
              </a:defRPr>
            </a:pPr>
            <a:r>
              <a:t>• Pacing Note: Set an authoritative, confident tone; ground the project in Alliance University campus reality.</a:t>
            </a:r>
          </a:p>
          <a:p>
            <a:pPr>
              <a:spcAft>
                <a:spcPts val="250"/>
              </a:spcAft>
              <a:defRPr sz="850">
                <a:solidFill>
                  <a:srgbClr val="0F172A"/>
                </a:solidFill>
                <a:latin typeface="Calibri"/>
              </a:defRPr>
            </a:pPr>
            <a:r>
              <a:t>• Handoff Script: 'I now invite Vinodkumar to present our systematic literature survey and formally formulated SMART objectives.'</a:t>
            </a:r>
          </a:p>
        </p:txBody>
      </p:sp>
      <p:sp>
        <p:nvSpPr>
          <p:cNvPr id="11" name="Rounded Rectangle 10"/>
          <p:cNvSpPr/>
          <p:nvPr/>
        </p:nvSpPr>
        <p:spPr>
          <a:xfrm>
            <a:off x="3465576"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03:00 – 06:00 (3 MINS)</a:t>
            </a:r>
          </a:p>
          <a:p>
            <a:pPr>
              <a:spcAft>
                <a:spcPts val="400"/>
              </a:spcAft>
              <a:defRPr sz="1050" b="1">
                <a:solidFill>
                  <a:srgbClr val="0B2545"/>
                </a:solidFill>
                <a:latin typeface="Calibri"/>
              </a:defRPr>
            </a:pPr>
            <a:r>
              <a:t>Speaker 2: Vinodkumar</a:t>
            </a:r>
          </a:p>
          <a:p>
            <a:pPr>
              <a:spcAft>
                <a:spcPts val="250"/>
              </a:spcAft>
              <a:defRPr sz="850">
                <a:solidFill>
                  <a:srgbClr val="0F172A"/>
                </a:solidFill>
                <a:latin typeface="Calibri"/>
              </a:defRPr>
            </a:pPr>
            <a:r>
              <a:t>• Slide Scope: Slides 4 to 5.</a:t>
            </a:r>
          </a:p>
          <a:p>
            <a:pPr>
              <a:spcAft>
                <a:spcPts val="250"/>
              </a:spcAft>
              <a:defRPr sz="850">
                <a:solidFill>
                  <a:srgbClr val="0F172A"/>
                </a:solidFill>
                <a:latin typeface="Calibri"/>
              </a:defRPr>
            </a:pPr>
            <a:r>
              <a:t>• Core Content: 15 peer-reviewed papers analysis, 12-column comparison matrix, defended academic gap, 6 SMART objectives, and Section 1.5 Complex Problems.</a:t>
            </a:r>
          </a:p>
          <a:p>
            <a:pPr>
              <a:spcAft>
                <a:spcPts val="250"/>
              </a:spcAft>
              <a:defRPr sz="850">
                <a:solidFill>
                  <a:srgbClr val="0F172A"/>
                </a:solidFill>
                <a:latin typeface="Calibri"/>
              </a:defRPr>
            </a:pPr>
            <a:r>
              <a:t>• Pacing Note: Emphasize the multi-modal co-optimization gap; highlight quantitative targets (R² &gt; 0.92).</a:t>
            </a:r>
          </a:p>
          <a:p>
            <a:pPr>
              <a:spcAft>
                <a:spcPts val="250"/>
              </a:spcAft>
              <a:defRPr sz="850">
                <a:solidFill>
                  <a:srgbClr val="0F172A"/>
                </a:solidFill>
                <a:latin typeface="Calibri"/>
              </a:defRPr>
            </a:pPr>
            <a:r>
              <a:t>• Handoff Script: 'I now hand over to Nikhil kumar V to detail our 4-tier enterprise system architecture and technology selection rationale.'</a:t>
            </a:r>
          </a:p>
        </p:txBody>
      </p:sp>
      <p:sp>
        <p:nvSpPr>
          <p:cNvPr id="13" name="Rounded Rectangle 12"/>
          <p:cNvSpPr/>
          <p:nvPr/>
        </p:nvSpPr>
        <p:spPr>
          <a:xfrm>
            <a:off x="6199632"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06:00 – 09:00 (3 MINS)</a:t>
            </a:r>
          </a:p>
          <a:p>
            <a:pPr>
              <a:spcAft>
                <a:spcPts val="400"/>
              </a:spcAft>
              <a:defRPr sz="1050" b="1">
                <a:solidFill>
                  <a:srgbClr val="0B2545"/>
                </a:solidFill>
                <a:latin typeface="Calibri"/>
              </a:defRPr>
            </a:pPr>
            <a:r>
              <a:t>Speaker 3: Nikhil kumar V</a:t>
            </a:r>
          </a:p>
          <a:p>
            <a:pPr>
              <a:spcAft>
                <a:spcPts val="250"/>
              </a:spcAft>
              <a:defRPr sz="850">
                <a:solidFill>
                  <a:srgbClr val="0F172A"/>
                </a:solidFill>
                <a:latin typeface="Calibri"/>
              </a:defRPr>
            </a:pPr>
            <a:r>
              <a:t>• Slide Scope: Slides 6 to 7.</a:t>
            </a:r>
          </a:p>
          <a:p>
            <a:pPr>
              <a:spcAft>
                <a:spcPts val="250"/>
              </a:spcAft>
              <a:defRPr sz="850">
                <a:solidFill>
                  <a:srgbClr val="0F172A"/>
                </a:solidFill>
                <a:latin typeface="Calibri"/>
              </a:defRPr>
            </a:pPr>
            <a:r>
              <a:t>• Core Content: 4-tier microservices architecture, TimescaleDB time-series engine, Pugh decision matrix trade-offs, and room constraint solver formulation.</a:t>
            </a:r>
          </a:p>
          <a:p>
            <a:pPr>
              <a:spcAft>
                <a:spcPts val="250"/>
              </a:spcAft>
              <a:defRPr sz="850">
                <a:solidFill>
                  <a:srgbClr val="0F172A"/>
                </a:solidFill>
                <a:latin typeface="Calibri"/>
              </a:defRPr>
            </a:pPr>
            <a:r>
              <a:t>• Pacing Note: Walk through the end-to-end data flow; explain why alternatives like InfluxDB and Flask were rejected.</a:t>
            </a:r>
          </a:p>
          <a:p>
            <a:pPr>
              <a:spcAft>
                <a:spcPts val="250"/>
              </a:spcAft>
              <a:defRPr sz="850">
                <a:solidFill>
                  <a:srgbClr val="0F172A"/>
                </a:solidFill>
                <a:latin typeface="Calibri"/>
              </a:defRPr>
            </a:pPr>
            <a:r>
              <a:t>• Handoff Script: 'I now invite Kalyan kumar T to discuss our data collection strategy, feasibility, risk mitigation, and project milestones.'</a:t>
            </a:r>
          </a:p>
        </p:txBody>
      </p:sp>
      <p:sp>
        <p:nvSpPr>
          <p:cNvPr id="15" name="Rounded Rectangle 14"/>
          <p:cNvSpPr/>
          <p:nvPr/>
        </p:nvSpPr>
        <p:spPr>
          <a:xfrm>
            <a:off x="8933688" y="1600200"/>
            <a:ext cx="2505456" cy="457200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9992"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09:00 – 12:00 (3 MINS)</a:t>
            </a:r>
          </a:p>
          <a:p>
            <a:pPr>
              <a:spcAft>
                <a:spcPts val="400"/>
              </a:spcAft>
              <a:defRPr sz="1050" b="1">
                <a:solidFill>
                  <a:srgbClr val="15803D"/>
                </a:solidFill>
                <a:latin typeface="Calibri"/>
              </a:defRPr>
            </a:pPr>
            <a:r>
              <a:t>Speaker 4: Kalyan kumar T</a:t>
            </a:r>
          </a:p>
          <a:p>
            <a:pPr>
              <a:spcAft>
                <a:spcPts val="250"/>
              </a:spcAft>
              <a:defRPr sz="850">
                <a:solidFill>
                  <a:srgbClr val="0F172A"/>
                </a:solidFill>
                <a:latin typeface="Calibri"/>
              </a:defRPr>
            </a:pPr>
            <a:r>
              <a:t>• Slide Scope: Slides 8 to 11.</a:t>
            </a:r>
          </a:p>
          <a:p>
            <a:pPr>
              <a:spcAft>
                <a:spcPts val="250"/>
              </a:spcAft>
              <a:defRPr sz="850">
                <a:solidFill>
                  <a:srgbClr val="0F172A"/>
                </a:solidFill>
                <a:latin typeface="Calibri"/>
              </a:defRPr>
            </a:pPr>
            <a:r>
              <a:t>• Core Content: 3-tier hybrid data strategy, hardware pilot nodes, 5-point risk register (R-01 to R-05), deliverables checklist, and Semester V roadmap.</a:t>
            </a:r>
          </a:p>
          <a:p>
            <a:pPr>
              <a:spcAft>
                <a:spcPts val="250"/>
              </a:spcAft>
              <a:defRPr sz="850">
                <a:solidFill>
                  <a:srgbClr val="0F172A"/>
                </a:solidFill>
                <a:latin typeface="Calibri"/>
              </a:defRPr>
            </a:pPr>
            <a:r>
              <a:t>• Pacing Note: Reassure the panel on physical feasibility; close cleanly at the 12-minute mark.</a:t>
            </a:r>
          </a:p>
          <a:p>
            <a:pPr>
              <a:spcAft>
                <a:spcPts val="250"/>
              </a:spcAft>
              <a:defRPr sz="850">
                <a:solidFill>
                  <a:srgbClr val="0F172A"/>
                </a:solidFill>
                <a:latin typeface="Calibri"/>
              </a:defRPr>
            </a:pPr>
            <a:r>
              <a:t>• Conclusion Script: 'Thank you. Our team is now fully prepared to take the panel's technical viva questions on our respective subsystems.'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INSTITUTIONAL COMPLIANCE &amp; INSPECTION-READY ARTIFACTS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Review-1 Deliverables Checklist &amp; Physical Verification</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All mandatory artifacts prepared, formatted, and verified for panel inspection per Process Manual Section 4</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11 of 16</a:t>
            </a:r>
          </a:p>
        </p:txBody>
      </p:sp>
      <p:sp>
        <p:nvSpPr>
          <p:cNvPr id="9" name="Rounded Rectangle 8"/>
          <p:cNvSpPr/>
          <p:nvPr/>
        </p:nvSpPr>
        <p:spPr>
          <a:xfrm>
            <a:off x="731520" y="1600200"/>
            <a:ext cx="5212080" cy="21031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4919472" cy="1847087"/>
          </a:xfrm>
          <a:prstGeom prst="rect">
            <a:avLst/>
          </a:prstGeom>
          <a:noFill/>
        </p:spPr>
        <p:txBody>
          <a:bodyPr wrap="square" lIns="0" tIns="0" rIns="0" bIns="0">
            <a:spAutoFit/>
          </a:bodyPr>
          <a:lstStyle/>
          <a:p>
            <a:pPr>
              <a:spcAft>
                <a:spcPts val="200"/>
              </a:spcAft>
              <a:defRPr sz="800" b="1">
                <a:solidFill>
                  <a:srgbClr val="B45309"/>
                </a:solidFill>
                <a:latin typeface="Calibri"/>
              </a:defRPr>
            </a:pPr>
            <a:r>
              <a:t>100% VERIFIED &amp; SIGNED</a:t>
            </a:r>
          </a:p>
          <a:p>
            <a:pPr>
              <a:spcAft>
                <a:spcPts val="400"/>
              </a:spcAft>
              <a:defRPr sz="1050" b="1">
                <a:solidFill>
                  <a:srgbClr val="15803D"/>
                </a:solidFill>
                <a:latin typeface="Calibri"/>
              </a:defRPr>
            </a:pPr>
            <a:r>
              <a:t>1. Review Diary (Dr. Rashmi Mothkur)</a:t>
            </a:r>
          </a:p>
          <a:p>
            <a:pPr>
              <a:spcAft>
                <a:spcPts val="250"/>
              </a:spcAft>
              <a:defRPr sz="850">
                <a:solidFill>
                  <a:srgbClr val="0F172A"/>
                </a:solidFill>
                <a:latin typeface="Calibri"/>
              </a:defRPr>
            </a:pPr>
            <a:r>
              <a:t>• Physical hardcopy bound and signed for Weeks 1 to 5.</a:t>
            </a:r>
          </a:p>
          <a:p>
            <a:pPr>
              <a:spcAft>
                <a:spcPts val="250"/>
              </a:spcAft>
              <a:defRPr sz="850">
                <a:solidFill>
                  <a:srgbClr val="0F172A"/>
                </a:solidFill>
                <a:latin typeface="Calibri"/>
              </a:defRPr>
            </a:pPr>
            <a:r>
              <a:t>• Contains detailed weekly engineering entries, mentor guidance notes, and Process Manual Section 1.5 table.</a:t>
            </a:r>
          </a:p>
          <a:p>
            <a:pPr>
              <a:spcAft>
                <a:spcPts val="250"/>
              </a:spcAft>
              <a:defRPr sz="850">
                <a:solidFill>
                  <a:srgbClr val="0F172A"/>
                </a:solidFill>
                <a:latin typeface="Calibri"/>
              </a:defRPr>
            </a:pPr>
            <a:r>
              <a:t>• Faculty Mentor: Dr. Rashmi Mothkur (Associate Professor, ASAC CSE).</a:t>
            </a:r>
          </a:p>
          <a:p>
            <a:pPr>
              <a:spcAft>
                <a:spcPts val="250"/>
              </a:spcAft>
              <a:defRPr sz="850">
                <a:solidFill>
                  <a:srgbClr val="0F172A"/>
                </a:solidFill>
                <a:latin typeface="Calibri"/>
              </a:defRPr>
            </a:pPr>
            <a:r>
              <a:t>• Verified compliant with Process Manual Section 4.1.</a:t>
            </a:r>
          </a:p>
        </p:txBody>
      </p:sp>
      <p:sp>
        <p:nvSpPr>
          <p:cNvPr id="11" name="Rounded Rectangle 10"/>
          <p:cNvSpPr/>
          <p:nvPr/>
        </p:nvSpPr>
        <p:spPr>
          <a:xfrm>
            <a:off x="6248095" y="1600200"/>
            <a:ext cx="5212080" cy="21031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4399" y="1728216"/>
            <a:ext cx="4919472" cy="1847087"/>
          </a:xfrm>
          <a:prstGeom prst="rect">
            <a:avLst/>
          </a:prstGeom>
          <a:noFill/>
        </p:spPr>
        <p:txBody>
          <a:bodyPr wrap="square" lIns="0" tIns="0" rIns="0" bIns="0">
            <a:spAutoFit/>
          </a:bodyPr>
          <a:lstStyle/>
          <a:p>
            <a:pPr>
              <a:spcAft>
                <a:spcPts val="200"/>
              </a:spcAft>
              <a:defRPr sz="800" b="1">
                <a:solidFill>
                  <a:srgbClr val="B45309"/>
                </a:solidFill>
                <a:latin typeface="Calibri"/>
              </a:defRPr>
            </a:pPr>
            <a:r>
              <a:t>100% COMPLIANT</a:t>
            </a:r>
          </a:p>
          <a:p>
            <a:pPr>
              <a:spcAft>
                <a:spcPts val="400"/>
              </a:spcAft>
              <a:defRPr sz="1050" b="1">
                <a:solidFill>
                  <a:srgbClr val="15803D"/>
                </a:solidFill>
                <a:latin typeface="Calibri"/>
              </a:defRPr>
            </a:pPr>
            <a:r>
              <a:t>2. Formal Slide Deck (16:9 Presentation)</a:t>
            </a:r>
          </a:p>
          <a:p>
            <a:pPr>
              <a:spcAft>
                <a:spcPts val="250"/>
              </a:spcAft>
              <a:defRPr sz="850">
                <a:solidFill>
                  <a:srgbClr val="0F172A"/>
                </a:solidFill>
                <a:latin typeface="Calibri"/>
              </a:defRPr>
            </a:pPr>
            <a:r>
              <a:t>• 16-Slide widescreen 16:9 presentation matching official template.</a:t>
            </a:r>
          </a:p>
          <a:p>
            <a:pPr>
              <a:spcAft>
                <a:spcPts val="250"/>
              </a:spcAft>
              <a:defRPr sz="850">
                <a:solidFill>
                  <a:srgbClr val="0F172A"/>
                </a:solidFill>
                <a:latin typeface="Calibri"/>
              </a:defRPr>
            </a:pPr>
            <a:r>
              <a:t>• Strictly structured across all 5 Review-1 evaluation rubric criteria.</a:t>
            </a:r>
          </a:p>
          <a:p>
            <a:pPr>
              <a:spcAft>
                <a:spcPts val="250"/>
              </a:spcAft>
              <a:defRPr sz="850">
                <a:solidFill>
                  <a:srgbClr val="0F172A"/>
                </a:solidFill>
                <a:latin typeface="Calibri"/>
              </a:defRPr>
            </a:pPr>
            <a:r>
              <a:t>• Zero AI boxes, zero slashes, zero emojis, executive styling.</a:t>
            </a:r>
          </a:p>
          <a:p>
            <a:pPr>
              <a:spcAft>
                <a:spcPts val="250"/>
              </a:spcAft>
              <a:defRPr sz="850">
                <a:solidFill>
                  <a:srgbClr val="0F172A"/>
                </a:solidFill>
                <a:latin typeface="Calibri"/>
              </a:defRPr>
            </a:pPr>
            <a:r>
              <a:t>• Pre-loaded on presentation laptop and backed up on USB drive.</a:t>
            </a:r>
          </a:p>
        </p:txBody>
      </p:sp>
      <p:sp>
        <p:nvSpPr>
          <p:cNvPr id="13" name="Rounded Rectangle 12"/>
          <p:cNvSpPr/>
          <p:nvPr/>
        </p:nvSpPr>
        <p:spPr>
          <a:xfrm>
            <a:off x="731520" y="3794760"/>
            <a:ext cx="5212080" cy="23774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922776"/>
            <a:ext cx="4919472" cy="2121408"/>
          </a:xfrm>
          <a:prstGeom prst="rect">
            <a:avLst/>
          </a:prstGeom>
          <a:noFill/>
        </p:spPr>
        <p:txBody>
          <a:bodyPr wrap="square" lIns="0" tIns="0" rIns="0" bIns="0">
            <a:spAutoFit/>
          </a:bodyPr>
          <a:lstStyle/>
          <a:p>
            <a:pPr>
              <a:spcAft>
                <a:spcPts val="200"/>
              </a:spcAft>
              <a:defRPr sz="800" b="1">
                <a:solidFill>
                  <a:srgbClr val="B45309"/>
                </a:solidFill>
                <a:latin typeface="Calibri"/>
              </a:defRPr>
            </a:pPr>
            <a:r>
              <a:t>INSPECTION READY</a:t>
            </a:r>
          </a:p>
          <a:p>
            <a:pPr>
              <a:spcAft>
                <a:spcPts val="400"/>
              </a:spcAft>
              <a:defRPr sz="1050" b="1">
                <a:solidFill>
                  <a:srgbClr val="15803D"/>
                </a:solidFill>
                <a:latin typeface="Calibri"/>
              </a:defRPr>
            </a:pPr>
            <a:r>
              <a:t>3. Technical Defense Guide (Dossier)</a:t>
            </a:r>
          </a:p>
          <a:p>
            <a:pPr>
              <a:spcAft>
                <a:spcPts val="250"/>
              </a:spcAft>
              <a:defRPr sz="850">
                <a:solidFill>
                  <a:srgbClr val="0F172A"/>
                </a:solidFill>
                <a:latin typeface="Calibri"/>
              </a:defRPr>
            </a:pPr>
            <a:r>
              <a:t>• Printed quick-reference dossier for panel examiners.</a:t>
            </a:r>
          </a:p>
          <a:p>
            <a:pPr>
              <a:spcAft>
                <a:spcPts val="250"/>
              </a:spcAft>
              <a:defRPr sz="850">
                <a:solidFill>
                  <a:srgbClr val="0F172A"/>
                </a:solidFill>
                <a:latin typeface="Calibri"/>
              </a:defRPr>
            </a:pPr>
            <a:r>
              <a:t>• Contains architectural proofs, mathematical formulas, and Pugh matrix.</a:t>
            </a:r>
          </a:p>
          <a:p>
            <a:pPr>
              <a:spcAft>
                <a:spcPts val="250"/>
              </a:spcAft>
              <a:defRPr sz="850">
                <a:solidFill>
                  <a:srgbClr val="0F172A"/>
                </a:solidFill>
                <a:latin typeface="Calibri"/>
              </a:defRPr>
            </a:pPr>
            <a:r>
              <a:t>• Includes 5-point risk register and viva technical defense cards.</a:t>
            </a:r>
          </a:p>
          <a:p>
            <a:pPr>
              <a:spcAft>
                <a:spcPts val="250"/>
              </a:spcAft>
              <a:defRPr sz="850">
                <a:solidFill>
                  <a:srgbClr val="0F172A"/>
                </a:solidFill>
                <a:latin typeface="Calibri"/>
              </a:defRPr>
            </a:pPr>
            <a:r>
              <a:t>• Placed before examiners prior to presentation commencement.</a:t>
            </a:r>
          </a:p>
        </p:txBody>
      </p:sp>
      <p:sp>
        <p:nvSpPr>
          <p:cNvPr id="15" name="Rounded Rectangle 14"/>
          <p:cNvSpPr/>
          <p:nvPr/>
        </p:nvSpPr>
        <p:spPr>
          <a:xfrm>
            <a:off x="6248095" y="3794760"/>
            <a:ext cx="5212080" cy="23774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4399" y="3922776"/>
            <a:ext cx="4919472" cy="2121408"/>
          </a:xfrm>
          <a:prstGeom prst="rect">
            <a:avLst/>
          </a:prstGeom>
          <a:noFill/>
        </p:spPr>
        <p:txBody>
          <a:bodyPr wrap="square" lIns="0" tIns="0" rIns="0" bIns="0">
            <a:spAutoFit/>
          </a:bodyPr>
          <a:lstStyle/>
          <a:p>
            <a:pPr>
              <a:spcAft>
                <a:spcPts val="200"/>
              </a:spcAft>
              <a:defRPr sz="800" b="1">
                <a:solidFill>
                  <a:srgbClr val="B45309"/>
                </a:solidFill>
                <a:latin typeface="Calibri"/>
              </a:defRPr>
            </a:pPr>
            <a:r>
              <a:t>PIPELINE ACTIVE</a:t>
            </a:r>
          </a:p>
          <a:p>
            <a:pPr>
              <a:spcAft>
                <a:spcPts val="400"/>
              </a:spcAft>
              <a:defRPr sz="1050" b="1">
                <a:solidFill>
                  <a:srgbClr val="15803D"/>
                </a:solidFill>
                <a:latin typeface="Calibri"/>
              </a:defRPr>
            </a:pPr>
            <a:r>
              <a:t>4. Live Prototype Demonstration</a:t>
            </a:r>
          </a:p>
          <a:p>
            <a:pPr>
              <a:spcAft>
                <a:spcPts val="250"/>
              </a:spcAft>
              <a:defRPr sz="850">
                <a:solidFill>
                  <a:srgbClr val="0F172A"/>
                </a:solidFill>
                <a:latin typeface="Calibri"/>
              </a:defRPr>
            </a:pPr>
            <a:r>
              <a:t>• Active FastAPI asynchronous backend with non-blocking ASGI loops.</a:t>
            </a:r>
          </a:p>
          <a:p>
            <a:pPr>
              <a:spcAft>
                <a:spcPts val="250"/>
              </a:spcAft>
              <a:defRPr sz="850">
                <a:solidFill>
                  <a:srgbClr val="0F172A"/>
                </a:solidFill>
                <a:latin typeface="Calibri"/>
              </a:defRPr>
            </a:pPr>
            <a:r>
              <a:t>• TimescaleDB schema with live synthetic telemetry injection.</a:t>
            </a:r>
          </a:p>
          <a:p>
            <a:pPr>
              <a:spcAft>
                <a:spcPts val="250"/>
              </a:spcAft>
              <a:defRPr sz="850">
                <a:solidFill>
                  <a:srgbClr val="0F172A"/>
                </a:solidFill>
                <a:latin typeface="Calibri"/>
              </a:defRPr>
            </a:pPr>
            <a:r>
              <a:t>• Responsive React 18 + Vite web dashboard displaying real-time metrics.</a:t>
            </a:r>
          </a:p>
          <a:p>
            <a:pPr>
              <a:spcAft>
                <a:spcPts val="250"/>
              </a:spcAft>
              <a:defRPr sz="850">
                <a:solidFill>
                  <a:srgbClr val="0F172A"/>
                </a:solidFill>
                <a:latin typeface="Calibri"/>
              </a:defRPr>
            </a:pPr>
            <a:r>
              <a:t>• Demonstrates end-to-end data pipeline viability during viva.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TECHNICAL DEFENSE PREPARATION: INDIVIDUAL ORAL VIVA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Viva Defense Protocols: Core Architecture &amp; Data Pipeline</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Anticipated panel challenges and direct model technical responses for individual module owners</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12 of 16</a:t>
            </a:r>
          </a:p>
        </p:txBody>
      </p:sp>
      <p:sp>
        <p:nvSpPr>
          <p:cNvPr id="9" name="Rounded Rectangle 8"/>
          <p:cNvSpPr/>
          <p:nvPr/>
        </p:nvSpPr>
        <p:spPr>
          <a:xfrm>
            <a:off x="731520"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LIKITH S</a:t>
            </a:r>
          </a:p>
          <a:p>
            <a:pPr>
              <a:spcAft>
                <a:spcPts val="400"/>
              </a:spcAft>
              <a:defRPr sz="1050" b="1">
                <a:solidFill>
                  <a:srgbClr val="0B2545"/>
                </a:solidFill>
                <a:latin typeface="Calibri"/>
              </a:defRPr>
            </a:pPr>
            <a:r>
              <a:t>Q1: Telemetry Data Collection</a:t>
            </a:r>
          </a:p>
          <a:p>
            <a:pPr>
              <a:spcAft>
                <a:spcPts val="250"/>
              </a:spcAft>
              <a:defRPr sz="850">
                <a:solidFill>
                  <a:srgbClr val="0F172A"/>
                </a:solidFill>
                <a:latin typeface="Calibri"/>
              </a:defRPr>
            </a:pPr>
            <a:r>
              <a:t>• Panel Challenge: 'How do you collect real-time data without physical hardware deployed in every Alliance classroom?'</a:t>
            </a:r>
          </a:p>
          <a:p>
            <a:pPr>
              <a:spcAft>
                <a:spcPts val="250"/>
              </a:spcAft>
              <a:defRPr sz="850">
                <a:solidFill>
                  <a:srgbClr val="0F172A"/>
                </a:solidFill>
                <a:latin typeface="Calibri"/>
              </a:defRPr>
            </a:pPr>
            <a:r>
              <a:t>• Model Defense: 'We implement a 3-tier hybrid validation strategy: First, we calibrate baseline energy and water consumption from Chintan Block historical utility audits. Second, we deploy physical ESP32 pilot nodes in selected classrooms to capture live variance. Third, we feed this empirical distribution into a stochastic simulator that models campus-wide occupancy and load matching the official master timetable.'</a:t>
            </a:r>
          </a:p>
          <a:p>
            <a:pPr>
              <a:spcAft>
                <a:spcPts val="250"/>
              </a:spcAft>
              <a:defRPr sz="850">
                <a:solidFill>
                  <a:srgbClr val="0F172A"/>
                </a:solidFill>
                <a:latin typeface="Calibri"/>
              </a:defRPr>
            </a:pPr>
            <a:r>
              <a:t>• Technical Grounding: Multi-source calibration; hardware-in-the-loop pilot testing.</a:t>
            </a:r>
          </a:p>
        </p:txBody>
      </p:sp>
      <p:sp>
        <p:nvSpPr>
          <p:cNvPr id="11" name="Rounded Rectangle 10"/>
          <p:cNvSpPr/>
          <p:nvPr/>
        </p:nvSpPr>
        <p:spPr>
          <a:xfrm>
            <a:off x="4398264"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LIKITH S</a:t>
            </a:r>
          </a:p>
          <a:p>
            <a:pPr>
              <a:spcAft>
                <a:spcPts val="400"/>
              </a:spcAft>
              <a:defRPr sz="1050" b="1">
                <a:solidFill>
                  <a:srgbClr val="0B2545"/>
                </a:solidFill>
                <a:latin typeface="Calibri"/>
              </a:defRPr>
            </a:pPr>
            <a:r>
              <a:t>Q2: Database Engine Justification</a:t>
            </a:r>
          </a:p>
          <a:p>
            <a:pPr>
              <a:spcAft>
                <a:spcPts val="250"/>
              </a:spcAft>
              <a:defRPr sz="850">
                <a:solidFill>
                  <a:srgbClr val="0F172A"/>
                </a:solidFill>
                <a:latin typeface="Calibri"/>
              </a:defRPr>
            </a:pPr>
            <a:r>
              <a:t>• Panel Challenge: 'Why choose TimescaleDB over a specialized NoSQL time-series engine like InfluxDB or MongoDB?'</a:t>
            </a:r>
          </a:p>
          <a:p>
            <a:pPr>
              <a:spcAft>
                <a:spcPts val="250"/>
              </a:spcAft>
              <a:defRPr sz="850">
                <a:solidFill>
                  <a:srgbClr val="0F172A"/>
                </a:solidFill>
                <a:latin typeface="Calibri"/>
              </a:defRPr>
            </a:pPr>
            <a:r>
              <a:t>• Model Defense: 'While InfluxDB is optimized for time-series metrics, it lacks relational capabilities. Our system requires complex relational joins between live sensor telemetry and relational student timetables, faculty assignments, and room capacities. TimescaleDB delivers automated hypertable partitioning and 90% zstd compression while retaining full PostgreSQL ACID compliance.'</a:t>
            </a:r>
          </a:p>
          <a:p>
            <a:pPr>
              <a:spcAft>
                <a:spcPts val="250"/>
              </a:spcAft>
              <a:defRPr sz="850">
                <a:solidFill>
                  <a:srgbClr val="0F172A"/>
                </a:solidFill>
                <a:latin typeface="Calibri"/>
              </a:defRPr>
            </a:pPr>
            <a:r>
              <a:t>• Technical Grounding: Relational SQL integrity; avoids dual-database maintenance overhead.</a:t>
            </a:r>
          </a:p>
        </p:txBody>
      </p:sp>
      <p:sp>
        <p:nvSpPr>
          <p:cNvPr id="13" name="Rounded Rectangle 12"/>
          <p:cNvSpPr/>
          <p:nvPr/>
        </p:nvSpPr>
        <p:spPr>
          <a:xfrm>
            <a:off x="8065008"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VINODKUMAR</a:t>
            </a:r>
          </a:p>
          <a:p>
            <a:pPr>
              <a:spcAft>
                <a:spcPts val="400"/>
              </a:spcAft>
              <a:defRPr sz="1050" b="1">
                <a:solidFill>
                  <a:srgbClr val="0B2545"/>
                </a:solidFill>
                <a:latin typeface="Calibri"/>
              </a:defRPr>
            </a:pPr>
            <a:r>
              <a:t>Q3: ML Generalization &amp; Overfitting</a:t>
            </a:r>
          </a:p>
          <a:p>
            <a:pPr>
              <a:spcAft>
                <a:spcPts val="250"/>
              </a:spcAft>
              <a:defRPr sz="850">
                <a:solidFill>
                  <a:srgbClr val="0F172A"/>
                </a:solidFill>
                <a:latin typeface="Calibri"/>
              </a:defRPr>
            </a:pPr>
            <a:r>
              <a:t>• Panel Challenge: 'How does your ML forecasting model avoid catastrophic overfitting on academic holiday periods?'</a:t>
            </a:r>
          </a:p>
          <a:p>
            <a:pPr>
              <a:spcAft>
                <a:spcPts val="250"/>
              </a:spcAft>
              <a:defRPr sz="850">
                <a:solidFill>
                  <a:srgbClr val="0F172A"/>
                </a:solidFill>
                <a:latin typeface="Calibri"/>
              </a:defRPr>
            </a:pPr>
            <a:r>
              <a:t>• Model Defense: 'We employ a purged walk-forward cross-validation protocol rather than standard k-fold splitting, preventing lookahead bias. We explicitly inject academic calendar exogenous features (semester exam dates, vacations, fest days) into our LightGBM model, and benchmark its performance against baseline seasonal ARIMA to guarantee generalization.'</a:t>
            </a:r>
          </a:p>
          <a:p>
            <a:pPr>
              <a:spcAft>
                <a:spcPts val="250"/>
              </a:spcAft>
              <a:defRPr sz="850">
                <a:solidFill>
                  <a:srgbClr val="0F172A"/>
                </a:solidFill>
                <a:latin typeface="Calibri"/>
              </a:defRPr>
            </a:pPr>
            <a:r>
              <a:t>• Technical Grounding: Temporal validation splitting; exogenous holiday regressors.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TECHNICAL DEFENSE PREPARATION: INDIVIDUAL ORAL VIVA (MAX 5 MARKS)</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Viva Defense Protocols: Optimization &amp; Edge Privacy</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Anticipated panel challenges and direct model technical responses for individual module owners</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13 of 16</a:t>
            </a:r>
          </a:p>
        </p:txBody>
      </p:sp>
      <p:sp>
        <p:nvSpPr>
          <p:cNvPr id="9" name="Rounded Rectangle 8"/>
          <p:cNvSpPr/>
          <p:nvPr/>
        </p:nvSpPr>
        <p:spPr>
          <a:xfrm>
            <a:off x="731520"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NIKHIL KUMAR V</a:t>
            </a:r>
          </a:p>
          <a:p>
            <a:pPr>
              <a:spcAft>
                <a:spcPts val="400"/>
              </a:spcAft>
              <a:defRPr sz="1050" b="1">
                <a:solidFill>
                  <a:srgbClr val="0B2545"/>
                </a:solidFill>
                <a:latin typeface="Calibri"/>
              </a:defRPr>
            </a:pPr>
            <a:r>
              <a:t>Q4: Room Scheduling Formulation</a:t>
            </a:r>
          </a:p>
          <a:p>
            <a:pPr>
              <a:spcAft>
                <a:spcPts val="250"/>
              </a:spcAft>
              <a:defRPr sz="850">
                <a:solidFill>
                  <a:srgbClr val="0F172A"/>
                </a:solidFill>
                <a:latin typeface="Calibri"/>
              </a:defRPr>
            </a:pPr>
            <a:r>
              <a:t>• Panel Challenge: 'What exact algorithmic formulation prevents classroom scheduling clashes?'</a:t>
            </a:r>
          </a:p>
          <a:p>
            <a:pPr>
              <a:spcAft>
                <a:spcPts val="250"/>
              </a:spcAft>
              <a:defRPr sz="850">
                <a:solidFill>
                  <a:srgbClr val="0F172A"/>
                </a:solidFill>
                <a:latin typeface="Calibri"/>
              </a:defRPr>
            </a:pPr>
            <a:r>
              <a:t>• Model Defense: 'We formulate classroom scheduling as a Constraint Satisfaction Problem (CSP) solved via Google OR-Tools using the Min-Conflicts local search heuristic. Hard constraints (zero overlapping professor schedules and room bookings) are assigned infinite penalty functions, while soft constraints (minimizing student inter-building walking distance and HVAC pre-cooling power) are minimized via Pareto optimization.'</a:t>
            </a:r>
          </a:p>
          <a:p>
            <a:pPr>
              <a:spcAft>
                <a:spcPts val="250"/>
              </a:spcAft>
              <a:defRPr sz="850">
                <a:solidFill>
                  <a:srgbClr val="0F172A"/>
                </a:solidFill>
                <a:latin typeface="Calibri"/>
              </a:defRPr>
            </a:pPr>
            <a:r>
              <a:t>• Technical Grounding: CSP mathematical formulation; 0 hard clashes guaranteed.</a:t>
            </a:r>
          </a:p>
        </p:txBody>
      </p:sp>
      <p:sp>
        <p:nvSpPr>
          <p:cNvPr id="11" name="Rounded Rectangle 10"/>
          <p:cNvSpPr/>
          <p:nvPr/>
        </p:nvSpPr>
        <p:spPr>
          <a:xfrm>
            <a:off x="4398264"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NIKHIL KUMAR V</a:t>
            </a:r>
          </a:p>
          <a:p>
            <a:pPr>
              <a:spcAft>
                <a:spcPts val="400"/>
              </a:spcAft>
              <a:defRPr sz="1050" b="1">
                <a:solidFill>
                  <a:srgbClr val="0B2545"/>
                </a:solidFill>
                <a:latin typeface="Calibri"/>
              </a:defRPr>
            </a:pPr>
            <a:r>
              <a:t>Q5: Privacy Under DPDP Act 2023</a:t>
            </a:r>
          </a:p>
          <a:p>
            <a:pPr>
              <a:spcAft>
                <a:spcPts val="250"/>
              </a:spcAft>
              <a:defRPr sz="850">
                <a:solidFill>
                  <a:srgbClr val="0F172A"/>
                </a:solidFill>
                <a:latin typeface="Calibri"/>
              </a:defRPr>
            </a:pPr>
            <a:r>
              <a:t>• Panel Challenge: 'How do you guarantee student and faculty privacy under the DPDP Act 2023?'</a:t>
            </a:r>
          </a:p>
          <a:p>
            <a:pPr>
              <a:spcAft>
                <a:spcPts val="250"/>
              </a:spcAft>
              <a:defRPr sz="850">
                <a:solidFill>
                  <a:srgbClr val="0F172A"/>
                </a:solidFill>
                <a:latin typeface="Calibri"/>
              </a:defRPr>
            </a:pPr>
            <a:r>
              <a:t>• Model Defense: 'Privacy by design is enforced at the edge hardware level. The camera feed is processed in volatile RAM by an edge-optimized YOLOv8 nano model that extracts only bounding boxes and numerical centroid coordinates. Raw frames are immediately flushed from memory within 200 milliseconds, and zero biometric or facial features are ever transmitted or written to storage.'</a:t>
            </a:r>
          </a:p>
          <a:p>
            <a:pPr>
              <a:spcAft>
                <a:spcPts val="250"/>
              </a:spcAft>
              <a:defRPr sz="850">
                <a:solidFill>
                  <a:srgbClr val="0F172A"/>
                </a:solidFill>
                <a:latin typeface="Calibri"/>
              </a:defRPr>
            </a:pPr>
            <a:r>
              <a:t>• Technical Grounding: DPDP Act 2023 compliance; zero facial biometric retention.</a:t>
            </a:r>
          </a:p>
        </p:txBody>
      </p:sp>
      <p:sp>
        <p:nvSpPr>
          <p:cNvPr id="13" name="Rounded Rectangle 12"/>
          <p:cNvSpPr/>
          <p:nvPr/>
        </p:nvSpPr>
        <p:spPr>
          <a:xfrm>
            <a:off x="8065008" y="1600200"/>
            <a:ext cx="3392424"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728216"/>
            <a:ext cx="3099816"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TARGETED TO: KALYAN KUMAR T</a:t>
            </a:r>
          </a:p>
          <a:p>
            <a:pPr>
              <a:spcAft>
                <a:spcPts val="400"/>
              </a:spcAft>
              <a:defRPr sz="1050" b="1">
                <a:solidFill>
                  <a:srgbClr val="0B2545"/>
                </a:solidFill>
                <a:latin typeface="Calibri"/>
              </a:defRPr>
            </a:pPr>
            <a:r>
              <a:t>Q6: Network Failure Resilience</a:t>
            </a:r>
          </a:p>
          <a:p>
            <a:pPr>
              <a:spcAft>
                <a:spcPts val="250"/>
              </a:spcAft>
              <a:defRPr sz="850">
                <a:solidFill>
                  <a:srgbClr val="0F172A"/>
                </a:solidFill>
                <a:latin typeface="Calibri"/>
              </a:defRPr>
            </a:pPr>
            <a:r>
              <a:t>• Panel Challenge: 'What occurs when network connectivity fails between campus IoT sensors and your server?'</a:t>
            </a:r>
          </a:p>
          <a:p>
            <a:pPr>
              <a:spcAft>
                <a:spcPts val="250"/>
              </a:spcAft>
              <a:defRPr sz="850">
                <a:solidFill>
                  <a:srgbClr val="0F172A"/>
                </a:solidFill>
                <a:latin typeface="Calibri"/>
              </a:defRPr>
            </a:pPr>
            <a:r>
              <a:t>• Model Defense: 'Each ESP32 edge microcontroller maintains a circular FIFO buffer in local non-volatile SPIFFS flash memory, capable of storing up to 72 hours of offline telemetry. Upon network restoration, an exponential backoff replay protocol resynchronizes cached packets to the MQTT broker without packet collisions or data loss.'</a:t>
            </a:r>
          </a:p>
          <a:p>
            <a:pPr>
              <a:spcAft>
                <a:spcPts val="250"/>
              </a:spcAft>
              <a:defRPr sz="850">
                <a:solidFill>
                  <a:srgbClr val="0F172A"/>
                </a:solidFill>
                <a:latin typeface="Calibri"/>
              </a:defRPr>
            </a:pPr>
            <a:r>
              <a:t>• Technical Grounding: Local edge resilience; exponential backoff packet recovery.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OPERATIONAL PROTOCOL &amp; PANEL ENGAGEMENT</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Review-1 Defense Day Execution Sequence &amp; Tactical Protocol</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Chronological step-by-step procedure for flawless panel engagement and formal scope locking</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14 of 16</a:t>
            </a:r>
          </a:p>
        </p:txBody>
      </p:sp>
      <p:sp>
        <p:nvSpPr>
          <p:cNvPr id="9" name="Rounded Rectangle 8"/>
          <p:cNvSpPr/>
          <p:nvPr/>
        </p:nvSpPr>
        <p:spPr>
          <a:xfrm>
            <a:off x="731520" y="1600200"/>
            <a:ext cx="2505456" cy="4572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T-MINUS 30 MINUTES</a:t>
            </a:r>
          </a:p>
          <a:p>
            <a:pPr>
              <a:spcAft>
                <a:spcPts val="400"/>
              </a:spcAft>
              <a:defRPr sz="1050" b="1">
                <a:solidFill>
                  <a:srgbClr val="0B2545"/>
                </a:solidFill>
                <a:latin typeface="Calibri"/>
              </a:defRPr>
            </a:pPr>
            <a:r>
              <a:t>Phase 1: Pre-Defense Setup</a:t>
            </a:r>
          </a:p>
          <a:p>
            <a:pPr>
              <a:spcAft>
                <a:spcPts val="250"/>
              </a:spcAft>
              <a:defRPr sz="850">
                <a:solidFill>
                  <a:srgbClr val="0F172A"/>
                </a:solidFill>
                <a:latin typeface="Calibri"/>
              </a:defRPr>
            </a:pPr>
            <a:r>
              <a:t>• Test HDMI display output and verify 16:9 widescreen presentation rendering.</a:t>
            </a:r>
          </a:p>
          <a:p>
            <a:pPr>
              <a:spcAft>
                <a:spcPts val="250"/>
              </a:spcAft>
              <a:defRPr sz="850">
                <a:solidFill>
                  <a:srgbClr val="0F172A"/>
                </a:solidFill>
                <a:latin typeface="Calibri"/>
              </a:defRPr>
            </a:pPr>
            <a:r>
              <a:t>• Start local FastAPI server and TimescaleDB Docker container on laptop.</a:t>
            </a:r>
          </a:p>
          <a:p>
            <a:pPr>
              <a:spcAft>
                <a:spcPts val="250"/>
              </a:spcAft>
              <a:defRPr sz="850">
                <a:solidFill>
                  <a:srgbClr val="0F172A"/>
                </a:solidFill>
                <a:latin typeface="Calibri"/>
              </a:defRPr>
            </a:pPr>
            <a:r>
              <a:t>• Place physical Review Diary (signed by Dr. Rashmi Mothkur) and printed Technical Defense Guide directly before panel examiners.</a:t>
            </a:r>
          </a:p>
          <a:p>
            <a:pPr>
              <a:spcAft>
                <a:spcPts val="250"/>
              </a:spcAft>
              <a:defRPr sz="850">
                <a:solidFill>
                  <a:srgbClr val="0F172A"/>
                </a:solidFill>
                <a:latin typeface="Calibri"/>
              </a:defRPr>
            </a:pPr>
            <a:r>
              <a:t>• Ensure backup presentation PDF is loaded on a secondary USB drive.</a:t>
            </a:r>
          </a:p>
        </p:txBody>
      </p:sp>
      <p:sp>
        <p:nvSpPr>
          <p:cNvPr id="11" name="Rounded Rectangle 10"/>
          <p:cNvSpPr/>
          <p:nvPr/>
        </p:nvSpPr>
        <p:spPr>
          <a:xfrm>
            <a:off x="3465576" y="1600200"/>
            <a:ext cx="2505456" cy="457200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00:00 – 12:00 (12 MINS)</a:t>
            </a:r>
          </a:p>
          <a:p>
            <a:pPr>
              <a:spcAft>
                <a:spcPts val="400"/>
              </a:spcAft>
              <a:defRPr sz="1050" b="1">
                <a:solidFill>
                  <a:srgbClr val="1D4ED8"/>
                </a:solidFill>
                <a:latin typeface="Calibri"/>
              </a:defRPr>
            </a:pPr>
            <a:r>
              <a:t>Phase 2: Formal Presentation</a:t>
            </a:r>
          </a:p>
          <a:p>
            <a:pPr>
              <a:spcAft>
                <a:spcPts val="250"/>
              </a:spcAft>
              <a:defRPr sz="850">
                <a:solidFill>
                  <a:srgbClr val="0F172A"/>
                </a:solidFill>
                <a:latin typeface="Calibri"/>
              </a:defRPr>
            </a:pPr>
            <a:r>
              <a:t>• Follow strict 3-minute speaking order per team member without interruption.</a:t>
            </a:r>
          </a:p>
          <a:p>
            <a:pPr>
              <a:spcAft>
                <a:spcPts val="250"/>
              </a:spcAft>
              <a:defRPr sz="850">
                <a:solidFill>
                  <a:srgbClr val="0F172A"/>
                </a:solidFill>
                <a:latin typeface="Calibri"/>
              </a:defRPr>
            </a:pPr>
            <a:r>
              <a:t>• Maintain executive, professional body language; project voice clearly to panel.</a:t>
            </a:r>
          </a:p>
          <a:p>
            <a:pPr>
              <a:spcAft>
                <a:spcPts val="250"/>
              </a:spcAft>
              <a:defRPr sz="850">
                <a:solidFill>
                  <a:srgbClr val="0F172A"/>
                </a:solidFill>
                <a:latin typeface="Calibri"/>
              </a:defRPr>
            </a:pPr>
            <a:r>
              <a:t>• Address the panel directly rather than reading bullet points from the screen.</a:t>
            </a:r>
          </a:p>
          <a:p>
            <a:pPr>
              <a:spcAft>
                <a:spcPts val="250"/>
              </a:spcAft>
              <a:defRPr sz="850">
                <a:solidFill>
                  <a:srgbClr val="0F172A"/>
                </a:solidFill>
                <a:latin typeface="Calibri"/>
              </a:defRPr>
            </a:pPr>
            <a:r>
              <a:t>• Conclude exactly at 12:00 with formal handoff to the viva examination.</a:t>
            </a:r>
          </a:p>
        </p:txBody>
      </p:sp>
      <p:sp>
        <p:nvSpPr>
          <p:cNvPr id="13" name="Rounded Rectangle 12"/>
          <p:cNvSpPr/>
          <p:nvPr/>
        </p:nvSpPr>
        <p:spPr>
          <a:xfrm>
            <a:off x="6199632" y="1600200"/>
            <a:ext cx="2505456" cy="457200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12:00 – 20:00 (8 MINS)</a:t>
            </a:r>
          </a:p>
          <a:p>
            <a:pPr>
              <a:spcAft>
                <a:spcPts val="400"/>
              </a:spcAft>
              <a:defRPr sz="1050" b="1">
                <a:solidFill>
                  <a:srgbClr val="B45309"/>
                </a:solidFill>
                <a:latin typeface="Calibri"/>
              </a:defRPr>
            </a:pPr>
            <a:r>
              <a:t>Phase 3: Technical Viva Defense</a:t>
            </a:r>
          </a:p>
          <a:p>
            <a:pPr>
              <a:spcAft>
                <a:spcPts val="250"/>
              </a:spcAft>
              <a:defRPr sz="850">
                <a:solidFill>
                  <a:srgbClr val="0F172A"/>
                </a:solidFill>
                <a:latin typeface="Calibri"/>
              </a:defRPr>
            </a:pPr>
            <a:r>
              <a:t>• Module owners answer questions directed to their respective engineering domain.</a:t>
            </a:r>
          </a:p>
          <a:p>
            <a:pPr>
              <a:spcAft>
                <a:spcPts val="250"/>
              </a:spcAft>
              <a:defRPr sz="850">
                <a:solidFill>
                  <a:srgbClr val="0F172A"/>
                </a:solidFill>
                <a:latin typeface="Calibri"/>
              </a:defRPr>
            </a:pPr>
            <a:r>
              <a:t>• Do not interrupt panel members; listen completely before responding.</a:t>
            </a:r>
          </a:p>
          <a:p>
            <a:pPr>
              <a:spcAft>
                <a:spcPts val="250"/>
              </a:spcAft>
              <a:defRPr sz="850">
                <a:solidFill>
                  <a:srgbClr val="0F172A"/>
                </a:solidFill>
                <a:latin typeface="Calibri"/>
              </a:defRPr>
            </a:pPr>
            <a:r>
              <a:t>• Ground all answers in mathematical formulations, empirical metrics, and trade-off tables.</a:t>
            </a:r>
          </a:p>
          <a:p>
            <a:pPr>
              <a:spcAft>
                <a:spcPts val="250"/>
              </a:spcAft>
              <a:defRPr sz="850">
                <a:solidFill>
                  <a:srgbClr val="0F172A"/>
                </a:solidFill>
                <a:latin typeface="Calibri"/>
              </a:defRPr>
            </a:pPr>
            <a:r>
              <a:t>• Never guess; cite empirical test parameters and the 5-point risk register.</a:t>
            </a:r>
          </a:p>
        </p:txBody>
      </p:sp>
      <p:sp>
        <p:nvSpPr>
          <p:cNvPr id="15" name="Rounded Rectangle 14"/>
          <p:cNvSpPr/>
          <p:nvPr/>
        </p:nvSpPr>
        <p:spPr>
          <a:xfrm>
            <a:off x="8933688" y="1600200"/>
            <a:ext cx="2505456" cy="457200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9992" y="1728216"/>
            <a:ext cx="2212848" cy="4315968"/>
          </a:xfrm>
          <a:prstGeom prst="rect">
            <a:avLst/>
          </a:prstGeom>
          <a:noFill/>
        </p:spPr>
        <p:txBody>
          <a:bodyPr wrap="square" lIns="0" tIns="0" rIns="0" bIns="0">
            <a:spAutoFit/>
          </a:bodyPr>
          <a:lstStyle/>
          <a:p>
            <a:pPr>
              <a:spcAft>
                <a:spcPts val="200"/>
              </a:spcAft>
              <a:defRPr sz="800" b="1">
                <a:solidFill>
                  <a:srgbClr val="B45309"/>
                </a:solidFill>
                <a:latin typeface="Calibri"/>
              </a:defRPr>
            </a:pPr>
            <a:r>
              <a:t>POST-DEFENSE</a:t>
            </a:r>
          </a:p>
          <a:p>
            <a:pPr>
              <a:spcAft>
                <a:spcPts val="400"/>
              </a:spcAft>
              <a:defRPr sz="1050" b="1">
                <a:solidFill>
                  <a:srgbClr val="15803D"/>
                </a:solidFill>
                <a:latin typeface="Calibri"/>
              </a:defRPr>
            </a:pPr>
            <a:r>
              <a:t>Phase 4: Scope Lock &amp; Sign-Off</a:t>
            </a:r>
          </a:p>
          <a:p>
            <a:pPr>
              <a:spcAft>
                <a:spcPts val="250"/>
              </a:spcAft>
              <a:defRPr sz="850">
                <a:solidFill>
                  <a:srgbClr val="0F172A"/>
                </a:solidFill>
                <a:latin typeface="Calibri"/>
              </a:defRPr>
            </a:pPr>
            <a:r>
              <a:t>• Transcribe panel recommendations and feedback verbatim into the Review Diary.</a:t>
            </a:r>
          </a:p>
          <a:p>
            <a:pPr>
              <a:spcAft>
                <a:spcPts val="250"/>
              </a:spcAft>
              <a:defRPr sz="850">
                <a:solidFill>
                  <a:srgbClr val="0F172A"/>
                </a:solidFill>
                <a:latin typeface="Calibri"/>
              </a:defRPr>
            </a:pPr>
            <a:r>
              <a:t>• Obtain physical signatures from Faculty Mentor Dr. Rashmi Mothkur and Panel Examiners.</a:t>
            </a:r>
          </a:p>
          <a:p>
            <a:pPr>
              <a:spcAft>
                <a:spcPts val="250"/>
              </a:spcAft>
              <a:defRPr sz="850">
                <a:solidFill>
                  <a:srgbClr val="0F172A"/>
                </a:solidFill>
                <a:latin typeface="Calibri"/>
              </a:defRPr>
            </a:pPr>
            <a:r>
              <a:t>• Formally lock the Semester V scope to protect against mid-semester scope creep.</a:t>
            </a:r>
          </a:p>
          <a:p>
            <a:pPr>
              <a:spcAft>
                <a:spcPts val="250"/>
              </a:spcAft>
              <a:defRPr sz="850">
                <a:solidFill>
                  <a:srgbClr val="0F172A"/>
                </a:solidFill>
                <a:latin typeface="Calibri"/>
              </a:defRPr>
            </a:pPr>
            <a:r>
              <a:t>• Archive digital logs and update GitHub repository milestone tags.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00" b="1">
                <a:solidFill>
                  <a:srgbClr val="B45309"/>
                </a:solidFill>
                <a:latin typeface="Calibri"/>
              </a:defRPr>
            </a:pPr>
            <a:r>
              <a:t>PROJECT MANAGEMENT &amp; MILESTONE PROGRESSION</a:t>
            </a:r>
          </a:p>
        </p:txBody>
      </p:sp>
      <p:sp>
        <p:nvSpPr>
          <p:cNvPr id="3" name="TextBox 2"/>
          <p:cNvSpPr txBox="1"/>
          <p:nvPr/>
        </p:nvSpPr>
        <p:spPr>
          <a:xfrm>
            <a:off x="731520" y="594360"/>
            <a:ext cx="10698480" cy="502920"/>
          </a:xfrm>
          <a:prstGeom prst="rect">
            <a:avLst/>
          </a:prstGeom>
          <a:noFill/>
        </p:spPr>
        <p:txBody>
          <a:bodyPr wrap="square" lIns="0" tIns="0" rIns="0" bIns="0">
            <a:spAutoFit/>
          </a:bodyPr>
          <a:lstStyle/>
          <a:p>
            <a:pPr>
              <a:defRPr sz="1900" b="1">
                <a:solidFill>
                  <a:srgbClr val="0B2545"/>
                </a:solidFill>
                <a:latin typeface="Calibri"/>
              </a:defRPr>
            </a:pPr>
            <a:r>
              <a:t>Semester V Implementation Roadmap &amp; Review-2 Milestones</a:t>
            </a:r>
          </a:p>
        </p:txBody>
      </p:sp>
      <p:sp>
        <p:nvSpPr>
          <p:cNvPr id="4" name="TextBox 3"/>
          <p:cNvSpPr txBox="1"/>
          <p:nvPr/>
        </p:nvSpPr>
        <p:spPr>
          <a:xfrm>
            <a:off x="731520" y="1115568"/>
            <a:ext cx="10698480" cy="292608"/>
          </a:xfrm>
          <a:prstGeom prst="rect">
            <a:avLst/>
          </a:prstGeom>
          <a:noFill/>
        </p:spPr>
        <p:txBody>
          <a:bodyPr wrap="square" lIns="0" tIns="0" rIns="0" bIns="0">
            <a:spAutoFit/>
          </a:bodyPr>
          <a:lstStyle/>
          <a:p>
            <a:pPr>
              <a:defRPr sz="1000">
                <a:solidFill>
                  <a:srgbClr val="475569"/>
                </a:solidFill>
                <a:latin typeface="Calibri"/>
              </a:defRPr>
            </a:pPr>
            <a:r>
              <a:t>Phased engineering deliverables bridging Review-1 baseline to final Semester V project completion</a:t>
            </a:r>
          </a:p>
        </p:txBody>
      </p:sp>
      <p:sp>
        <p:nvSpPr>
          <p:cNvPr id="5" name="Rectangle 4"/>
          <p:cNvSpPr/>
          <p:nvPr/>
        </p:nvSpPr>
        <p:spPr>
          <a:xfrm>
            <a:off x="731520" y="1444752"/>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64224"/>
            <a:ext cx="7772400" cy="256032"/>
          </a:xfrm>
          <a:prstGeom prst="rect">
            <a:avLst/>
          </a:prstGeom>
          <a:noFill/>
        </p:spPr>
        <p:txBody>
          <a:bodyPr wrap="none" lIns="0" tIns="0" rIns="0" bIns="0">
            <a:spAutoFit/>
          </a:bodyPr>
          <a:lstStyle/>
          <a:p>
            <a:pPr>
              <a:defRPr sz="850">
                <a:solidFill>
                  <a:srgbClr val="475569"/>
                </a:solidFill>
                <a:latin typeface="Calibri"/>
              </a:defRPr>
            </a:pPr>
            <a:r>
              <a:t>Alliance University — ASAC CSE | Design Project – I (E1CSA313) | AI-Powered Smart Campus Resource Management System</a:t>
            </a:r>
          </a:p>
        </p:txBody>
      </p:sp>
      <p:sp>
        <p:nvSpPr>
          <p:cNvPr id="8" name="TextBox 7"/>
          <p:cNvSpPr txBox="1"/>
          <p:nvPr/>
        </p:nvSpPr>
        <p:spPr>
          <a:xfrm>
            <a:off x="8686800" y="6364224"/>
            <a:ext cx="2773375" cy="256032"/>
          </a:xfrm>
          <a:prstGeom prst="rect">
            <a:avLst/>
          </a:prstGeom>
          <a:noFill/>
        </p:spPr>
        <p:txBody>
          <a:bodyPr wrap="none" lIns="0" tIns="0" rIns="0" bIns="0">
            <a:spAutoFit/>
          </a:bodyPr>
          <a:lstStyle/>
          <a:p>
            <a:pPr algn="r">
              <a:defRPr sz="850" b="1">
                <a:solidFill>
                  <a:srgbClr val="0B2545"/>
                </a:solidFill>
                <a:latin typeface="Calibri"/>
              </a:defRPr>
            </a:pPr>
            <a:r>
              <a:t>Review-I Defense | Slide 15 of 16</a:t>
            </a:r>
          </a:p>
        </p:txBody>
      </p:sp>
      <p:sp>
        <p:nvSpPr>
          <p:cNvPr id="9" name="Rounded Rectangle 8"/>
          <p:cNvSpPr/>
          <p:nvPr/>
        </p:nvSpPr>
        <p:spPr>
          <a:xfrm>
            <a:off x="731520" y="1600200"/>
            <a:ext cx="10728655" cy="841248"/>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28216"/>
            <a:ext cx="10436047" cy="585216"/>
          </a:xfrm>
          <a:prstGeom prst="rect">
            <a:avLst/>
          </a:prstGeom>
          <a:noFill/>
        </p:spPr>
        <p:txBody>
          <a:bodyPr wrap="square" lIns="0" tIns="0" rIns="0" bIns="0">
            <a:spAutoFit/>
          </a:bodyPr>
          <a:lstStyle/>
          <a:p>
            <a:pPr>
              <a:spcAft>
                <a:spcPts val="200"/>
              </a:spcAft>
              <a:defRPr sz="800" b="1">
                <a:solidFill>
                  <a:srgbClr val="B45309"/>
                </a:solidFill>
                <a:latin typeface="Calibri"/>
              </a:defRPr>
            </a:pPr>
            <a:r>
              <a:t>MILESTONE 1: COMPLETED</a:t>
            </a:r>
          </a:p>
          <a:p>
            <a:pPr>
              <a:spcAft>
                <a:spcPts val="400"/>
              </a:spcAft>
              <a:defRPr sz="1050" b="1">
                <a:solidFill>
                  <a:srgbClr val="15803D"/>
                </a:solidFill>
                <a:latin typeface="Calibri"/>
              </a:defRPr>
            </a:pPr>
            <a:r>
              <a:t>Phase 1 (Weeks 1–5)</a:t>
            </a:r>
          </a:p>
          <a:p>
            <a:pPr>
              <a:spcAft>
                <a:spcPts val="250"/>
              </a:spcAft>
              <a:defRPr sz="850">
                <a:solidFill>
                  <a:srgbClr val="0F172A"/>
                </a:solidFill>
                <a:latin typeface="Calibri"/>
              </a:defRPr>
            </a:pPr>
            <a:r>
              <a:t>• Review 1 Scope Lock, Literature Survey of 15 Papers, 4-Tier Architecture Specification, Section 1.5 Complex Problems Analysis, and Deliverables Verification.</a:t>
            </a:r>
          </a:p>
          <a:p>
            <a:pPr>
              <a:spcAft>
                <a:spcPts val="250"/>
              </a:spcAft>
              <a:defRPr sz="850">
                <a:solidFill>
                  <a:srgbClr val="0F172A"/>
                </a:solidFill>
                <a:latin typeface="Calibri"/>
              </a:defRPr>
            </a:pPr>
            <a:r>
              <a:t>• Deliverable: Review Diary signed, Review 1 Technical Defense Guide, 14-PDF document suite.</a:t>
            </a:r>
          </a:p>
        </p:txBody>
      </p:sp>
      <p:sp>
        <p:nvSpPr>
          <p:cNvPr id="11" name="Rounded Rectangle 10"/>
          <p:cNvSpPr/>
          <p:nvPr/>
        </p:nvSpPr>
        <p:spPr>
          <a:xfrm>
            <a:off x="731520" y="2496312"/>
            <a:ext cx="10728655" cy="841248"/>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624328"/>
            <a:ext cx="10436047" cy="585216"/>
          </a:xfrm>
          <a:prstGeom prst="rect">
            <a:avLst/>
          </a:prstGeom>
          <a:noFill/>
        </p:spPr>
        <p:txBody>
          <a:bodyPr wrap="square" lIns="0" tIns="0" rIns="0" bIns="0">
            <a:spAutoFit/>
          </a:bodyPr>
          <a:lstStyle/>
          <a:p>
            <a:pPr>
              <a:spcAft>
                <a:spcPts val="200"/>
              </a:spcAft>
              <a:defRPr sz="800" b="1">
                <a:solidFill>
                  <a:srgbClr val="B45309"/>
                </a:solidFill>
                <a:latin typeface="Calibri"/>
              </a:defRPr>
            </a:pPr>
            <a:r>
              <a:t>MILESTONE 2: IN PROGRESS</a:t>
            </a:r>
          </a:p>
          <a:p>
            <a:pPr>
              <a:spcAft>
                <a:spcPts val="400"/>
              </a:spcAft>
              <a:defRPr sz="1050" b="1">
                <a:solidFill>
                  <a:srgbClr val="B45309"/>
                </a:solidFill>
                <a:latin typeface="Calibri"/>
              </a:defRPr>
            </a:pPr>
            <a:r>
              <a:t>Phase 2 (Weeks 6–8)</a:t>
            </a:r>
          </a:p>
          <a:p>
            <a:pPr>
              <a:spcAft>
                <a:spcPts val="250"/>
              </a:spcAft>
              <a:defRPr sz="850">
                <a:solidFill>
                  <a:srgbClr val="0F172A"/>
                </a:solidFill>
                <a:latin typeface="Calibri"/>
              </a:defRPr>
            </a:pPr>
            <a:r>
              <a:t>• Machine Learning Pipeline Training (LightGBM/LSTM), Hyperparameter Optimization, Synthetic Ingestion Calibration, and Edge Firmware Flashing.</a:t>
            </a:r>
          </a:p>
          <a:p>
            <a:pPr>
              <a:spcAft>
                <a:spcPts val="250"/>
              </a:spcAft>
              <a:defRPr sz="850">
                <a:solidFill>
                  <a:srgbClr val="0F172A"/>
                </a:solidFill>
                <a:latin typeface="Calibri"/>
              </a:defRPr>
            </a:pPr>
            <a:r>
              <a:t>• Deliverable: Calibrated model weights, Dockerized ingestion service, and baseline inference benchmarks.</a:t>
            </a:r>
          </a:p>
        </p:txBody>
      </p:sp>
      <p:sp>
        <p:nvSpPr>
          <p:cNvPr id="13" name="Rounded Rectangle 12"/>
          <p:cNvSpPr/>
          <p:nvPr/>
        </p:nvSpPr>
        <p:spPr>
          <a:xfrm>
            <a:off x="731520" y="3392424"/>
            <a:ext cx="10728655" cy="841248"/>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520440"/>
            <a:ext cx="10436047" cy="585216"/>
          </a:xfrm>
          <a:prstGeom prst="rect">
            <a:avLst/>
          </a:prstGeom>
          <a:noFill/>
        </p:spPr>
        <p:txBody>
          <a:bodyPr wrap="square" lIns="0" tIns="0" rIns="0" bIns="0">
            <a:spAutoFit/>
          </a:bodyPr>
          <a:lstStyle/>
          <a:p>
            <a:pPr>
              <a:spcAft>
                <a:spcPts val="200"/>
              </a:spcAft>
              <a:defRPr sz="800" b="1">
                <a:solidFill>
                  <a:srgbClr val="B45309"/>
                </a:solidFill>
                <a:latin typeface="Calibri"/>
              </a:defRPr>
            </a:pPr>
            <a:r>
              <a:t>MILESTONE 3: UPCOMING (WEEK 10)</a:t>
            </a:r>
          </a:p>
          <a:p>
            <a:pPr>
              <a:spcAft>
                <a:spcPts val="400"/>
              </a:spcAft>
              <a:defRPr sz="1050" b="1">
                <a:solidFill>
                  <a:srgbClr val="1D4ED8"/>
                </a:solidFill>
                <a:latin typeface="Calibri"/>
              </a:defRPr>
            </a:pPr>
            <a:r>
              <a:t>Phase 3 (Weeks 9–10)</a:t>
            </a:r>
          </a:p>
          <a:p>
            <a:pPr>
              <a:spcAft>
                <a:spcPts val="250"/>
              </a:spcAft>
              <a:defRPr sz="850">
                <a:solidFill>
                  <a:srgbClr val="0F172A"/>
                </a:solidFill>
                <a:latin typeface="Calibri"/>
              </a:defRPr>
            </a:pPr>
            <a:r>
              <a:t>• Review-2 Mid-Term Evaluation: Demonstration of 50% functional prototype, live API telemetry streaming, and intermediate model benchmark validation.</a:t>
            </a:r>
          </a:p>
          <a:p>
            <a:pPr>
              <a:spcAft>
                <a:spcPts val="250"/>
              </a:spcAft>
              <a:defRPr sz="850">
                <a:solidFill>
                  <a:srgbClr val="0F172A"/>
                </a:solidFill>
                <a:latin typeface="Calibri"/>
              </a:defRPr>
            </a:pPr>
            <a:r>
              <a:t>• Deliverable: Working prototype demo, Review Diary Review-2 sign-off, and draft Conference Paper.</a:t>
            </a:r>
          </a:p>
        </p:txBody>
      </p:sp>
      <p:sp>
        <p:nvSpPr>
          <p:cNvPr id="15" name="Rounded Rectangle 14"/>
          <p:cNvSpPr/>
          <p:nvPr/>
        </p:nvSpPr>
        <p:spPr>
          <a:xfrm>
            <a:off x="731520" y="4288536"/>
            <a:ext cx="10728655"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416551"/>
            <a:ext cx="10436047" cy="585216"/>
          </a:xfrm>
          <a:prstGeom prst="rect">
            <a:avLst/>
          </a:prstGeom>
          <a:noFill/>
        </p:spPr>
        <p:txBody>
          <a:bodyPr wrap="square" lIns="0" tIns="0" rIns="0" bIns="0">
            <a:spAutoFit/>
          </a:bodyPr>
          <a:lstStyle/>
          <a:p>
            <a:pPr>
              <a:spcAft>
                <a:spcPts val="200"/>
              </a:spcAft>
              <a:defRPr sz="800" b="1">
                <a:solidFill>
                  <a:srgbClr val="B45309"/>
                </a:solidFill>
                <a:latin typeface="Calibri"/>
              </a:defRPr>
            </a:pPr>
            <a:r>
              <a:t>MILESTONE 4: SCHEDULED</a:t>
            </a:r>
          </a:p>
          <a:p>
            <a:pPr>
              <a:spcAft>
                <a:spcPts val="400"/>
              </a:spcAft>
              <a:defRPr sz="1050" b="1">
                <a:solidFill>
                  <a:srgbClr val="0B2545"/>
                </a:solidFill>
                <a:latin typeface="Calibri"/>
              </a:defRPr>
            </a:pPr>
            <a:r>
              <a:t>Phase 4 (Weeks 11–13)</a:t>
            </a:r>
          </a:p>
          <a:p>
            <a:pPr>
              <a:spcAft>
                <a:spcPts val="250"/>
              </a:spcAft>
              <a:defRPr sz="850">
                <a:solidFill>
                  <a:srgbClr val="0F172A"/>
                </a:solidFill>
                <a:latin typeface="Calibri"/>
              </a:defRPr>
            </a:pPr>
            <a:r>
              <a:t>• Multi-Modal System Integration: Coupling predictive energy models with dynamic CSP timetable solver, end-to-end stress testing, and Conference Paper submission.</a:t>
            </a:r>
          </a:p>
          <a:p>
            <a:pPr>
              <a:spcAft>
                <a:spcPts val="250"/>
              </a:spcAft>
              <a:defRPr sz="850">
                <a:solidFill>
                  <a:srgbClr val="0F172A"/>
                </a:solidFill>
                <a:latin typeface="Calibri"/>
              </a:defRPr>
            </a:pPr>
            <a:r>
              <a:t>• Deliverable: Unified co-optimization engine, load test reports, and IEEE conference paper submission.</a:t>
            </a:r>
          </a:p>
        </p:txBody>
      </p:sp>
      <p:sp>
        <p:nvSpPr>
          <p:cNvPr id="17" name="Rounded Rectangle 16"/>
          <p:cNvSpPr/>
          <p:nvPr/>
        </p:nvSpPr>
        <p:spPr>
          <a:xfrm>
            <a:off x="731520" y="5184648"/>
            <a:ext cx="10728655"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312664"/>
            <a:ext cx="10436047" cy="585216"/>
          </a:xfrm>
          <a:prstGeom prst="rect">
            <a:avLst/>
          </a:prstGeom>
          <a:noFill/>
        </p:spPr>
        <p:txBody>
          <a:bodyPr wrap="square" lIns="0" tIns="0" rIns="0" bIns="0">
            <a:spAutoFit/>
          </a:bodyPr>
          <a:lstStyle/>
          <a:p>
            <a:pPr>
              <a:spcAft>
                <a:spcPts val="200"/>
              </a:spcAft>
              <a:defRPr sz="800" b="1">
                <a:solidFill>
                  <a:srgbClr val="B45309"/>
                </a:solidFill>
                <a:latin typeface="Calibri"/>
              </a:defRPr>
            </a:pPr>
            <a:r>
              <a:t>MILESTONE 5: FINAL EVALUATION</a:t>
            </a:r>
          </a:p>
          <a:p>
            <a:pPr>
              <a:spcAft>
                <a:spcPts val="400"/>
              </a:spcAft>
              <a:defRPr sz="1050" b="1">
                <a:solidFill>
                  <a:srgbClr val="0B2545"/>
                </a:solidFill>
                <a:latin typeface="Calibri"/>
              </a:defRPr>
            </a:pPr>
            <a:r>
              <a:t>Phase 5 (Weeks 14–15)</a:t>
            </a:r>
          </a:p>
          <a:p>
            <a:pPr>
              <a:spcAft>
                <a:spcPts val="250"/>
              </a:spcAft>
              <a:defRPr sz="850">
                <a:solidFill>
                  <a:srgbClr val="0F172A"/>
                </a:solidFill>
                <a:latin typeface="Calibri"/>
              </a:defRPr>
            </a:pPr>
            <a:r>
              <a:t>• Final Project Review &amp; Defense: Complete Term Paper Report submission, 100% functional live demonstration, and production deployment packaging.</a:t>
            </a:r>
          </a:p>
          <a:p>
            <a:pPr>
              <a:spcAft>
                <a:spcPts val="250"/>
              </a:spcAft>
              <a:defRPr sz="850">
                <a:solidFill>
                  <a:srgbClr val="0F172A"/>
                </a:solidFill>
                <a:latin typeface="Calibri"/>
              </a:defRPr>
            </a:pPr>
            <a:r>
              <a:t>• Deliverable: Complete Term Paper Report, signed Review Diary, GitHub release v1.0.0, final viva defense.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solidFill>
              <a:srgbClr val="0B2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457200"/>
          </a:xfrm>
          <a:prstGeom prst="rect">
            <a:avLst/>
          </a:prstGeom>
          <a:noFill/>
        </p:spPr>
        <p:txBody>
          <a:bodyPr wrap="none" lIns="0" tIns="0" rIns="0" bIns="0">
            <a:spAutoFit/>
          </a:bodyPr>
          <a:lstStyle/>
          <a:p>
            <a:pPr>
              <a:defRPr sz="1100" b="1">
                <a:solidFill>
                  <a:srgbClr val="D97706"/>
                </a:solidFill>
                <a:latin typeface="Calibri"/>
              </a:defRPr>
            </a:pPr>
            <a:r>
              <a:t>ALLIANCE UNIVERSITY — ALLIANCE SCHOOL OF ADVANCED COMPUTING</a:t>
            </a:r>
          </a:p>
          <a:p>
            <a:pPr>
              <a:defRPr sz="950">
                <a:solidFill>
                  <a:srgbClr val="CBD5E1"/>
                </a:solidFill>
                <a:latin typeface="Calibri"/>
              </a:defRPr>
            </a:pPr>
            <a:r>
              <a:t>DEPARTMENT OF COMPUTER SCIENCE AND ENGINEERING | B.TECH CSE SEMESTER V</a:t>
            </a:r>
          </a:p>
        </p:txBody>
      </p:sp>
      <p:sp>
        <p:nvSpPr>
          <p:cNvPr id="5" name="TextBox 4"/>
          <p:cNvSpPr txBox="1"/>
          <p:nvPr/>
        </p:nvSpPr>
        <p:spPr>
          <a:xfrm>
            <a:off x="731520" y="1188720"/>
            <a:ext cx="10728655" cy="1097280"/>
          </a:xfrm>
          <a:prstGeom prst="rect">
            <a:avLst/>
          </a:prstGeom>
          <a:noFill/>
        </p:spPr>
        <p:txBody>
          <a:bodyPr wrap="square" lIns="0" tIns="0" rIns="0" bIns="0">
            <a:spAutoFit/>
          </a:bodyPr>
          <a:lstStyle/>
          <a:p>
            <a:pPr>
              <a:spcAft>
                <a:spcPts val="400"/>
              </a:spcAft>
              <a:defRPr sz="2400" b="1">
                <a:solidFill>
                  <a:srgbClr val="FFFFFF"/>
                </a:solidFill>
                <a:latin typeface="Calibri"/>
              </a:defRPr>
            </a:pPr>
            <a:r>
              <a:t>Project Baseline Formally Locked &amp; Ready for Review-1 Defense</a:t>
            </a:r>
          </a:p>
          <a:p>
            <a:pPr>
              <a:defRPr sz="1200">
                <a:solidFill>
                  <a:srgbClr val="BFDBFE"/>
                </a:solidFill>
                <a:latin typeface="Calibri"/>
              </a:defRPr>
            </a:pPr>
            <a:r>
              <a:t>AI-Powered Smart Campus Resource Management System | Commitment to Engineering Rigor and Academic Excellence</a:t>
            </a:r>
          </a:p>
        </p:txBody>
      </p:sp>
      <p:sp>
        <p:nvSpPr>
          <p:cNvPr id="6" name="Rounded Rectangle 5"/>
          <p:cNvSpPr/>
          <p:nvPr/>
        </p:nvSpPr>
        <p:spPr>
          <a:xfrm>
            <a:off x="731520" y="2468880"/>
            <a:ext cx="3392424" cy="2103120"/>
          </a:xfrm>
          <a:prstGeom prst="roundRect">
            <a:avLst/>
          </a:prstGeom>
          <a:solidFill>
            <a:srgbClr val="0F1E36"/>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lIns="164592" tIns="146304"/>
          <a:lstStyle/>
          <a:p>
            <a:pPr algn="ctr">
              <a:spcAft>
                <a:spcPts val="200"/>
              </a:spcAft>
              <a:defRPr sz="800" b="1">
                <a:solidFill>
                  <a:srgbClr val="D97706"/>
                </a:solidFill>
                <a:latin typeface="Calibri"/>
              </a:defRPr>
            </a:pPr>
            <a:r>
              <a:t>ENGINEERING VALIDATION</a:t>
            </a:r>
          </a:p>
          <a:p>
            <a:pPr>
              <a:spcAft>
                <a:spcPts val="600"/>
              </a:spcAft>
              <a:defRPr sz="1100" b="1">
                <a:solidFill>
                  <a:srgbClr val="FFFFFF"/>
                </a:solidFill>
                <a:latin typeface="Calibri"/>
              </a:defRPr>
            </a:pPr>
            <a:r>
              <a:t>Technical Rigor Confirmed</a:t>
            </a:r>
          </a:p>
          <a:p>
            <a:pPr>
              <a:spcAft>
                <a:spcPts val="300"/>
              </a:spcAft>
              <a:defRPr sz="850">
                <a:solidFill>
                  <a:srgbClr val="CBD5E1"/>
                </a:solidFill>
                <a:latin typeface="Calibri"/>
              </a:defRPr>
            </a:pPr>
            <a:r>
              <a:t>• 4-Tier enterprise microservices architecture validated against empirical telemetry baselines (14,200 kWh/day peak energy, 380,000 L/day water).</a:t>
            </a:r>
          </a:p>
          <a:p>
            <a:pPr>
              <a:spcAft>
                <a:spcPts val="300"/>
              </a:spcAft>
              <a:defRPr sz="850">
                <a:solidFill>
                  <a:srgbClr val="CBD5E1"/>
                </a:solidFill>
                <a:latin typeface="Calibri"/>
              </a:defRPr>
            </a:pPr>
            <a:r>
              <a:t>• Sub-second inference and 90% data compression verified.</a:t>
            </a:r>
          </a:p>
        </p:txBody>
      </p:sp>
      <p:sp>
        <p:nvSpPr>
          <p:cNvPr id="7" name="Rounded Rectangle 6"/>
          <p:cNvSpPr/>
          <p:nvPr/>
        </p:nvSpPr>
        <p:spPr>
          <a:xfrm>
            <a:off x="4398264" y="2468880"/>
            <a:ext cx="3392424" cy="2103120"/>
          </a:xfrm>
          <a:prstGeom prst="roundRect">
            <a:avLst/>
          </a:prstGeom>
          <a:solidFill>
            <a:srgbClr val="0F1E36"/>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lIns="164592" tIns="146304"/>
          <a:lstStyle/>
          <a:p>
            <a:pPr algn="ctr">
              <a:spcAft>
                <a:spcPts val="200"/>
              </a:spcAft>
              <a:defRPr sz="800" b="1">
                <a:solidFill>
                  <a:srgbClr val="D97706"/>
                </a:solidFill>
                <a:latin typeface="Calibri"/>
              </a:defRPr>
            </a:pPr>
            <a:r>
              <a:t>PROCESS MANUAL ALIGNMENT</a:t>
            </a:r>
          </a:p>
          <a:p>
            <a:pPr>
              <a:spcAft>
                <a:spcPts val="600"/>
              </a:spcAft>
              <a:defRPr sz="1100" b="1">
                <a:solidFill>
                  <a:srgbClr val="FFFFFF"/>
                </a:solidFill>
                <a:latin typeface="Calibri"/>
              </a:defRPr>
            </a:pPr>
            <a:r>
              <a:t>100% Institutional Compliance</a:t>
            </a:r>
          </a:p>
          <a:p>
            <a:pPr>
              <a:spcAft>
                <a:spcPts val="300"/>
              </a:spcAft>
              <a:defRPr sz="850">
                <a:solidFill>
                  <a:srgbClr val="CBD5E1"/>
                </a:solidFill>
                <a:latin typeface="Calibri"/>
              </a:defRPr>
            </a:pPr>
            <a:r>
              <a:t>• Strict adherence to Alliance University Design Project Process Manual &amp; Evaluation Rubrics v2.4.</a:t>
            </a:r>
          </a:p>
          <a:p>
            <a:pPr>
              <a:spcAft>
                <a:spcPts val="300"/>
              </a:spcAft>
              <a:defRPr sz="850">
                <a:solidFill>
                  <a:srgbClr val="CBD5E1"/>
                </a:solidFill>
                <a:latin typeface="Calibri"/>
              </a:defRPr>
            </a:pPr>
            <a:r>
              <a:t>• All 14 specialized documents, Review Diary, and technical defense dossiers inspection-ready.</a:t>
            </a:r>
          </a:p>
        </p:txBody>
      </p:sp>
      <p:sp>
        <p:nvSpPr>
          <p:cNvPr id="8" name="Rounded Rectangle 7"/>
          <p:cNvSpPr/>
          <p:nvPr/>
        </p:nvSpPr>
        <p:spPr>
          <a:xfrm>
            <a:off x="8065008" y="2468880"/>
            <a:ext cx="3392424" cy="2103120"/>
          </a:xfrm>
          <a:prstGeom prst="roundRect">
            <a:avLst/>
          </a:prstGeom>
          <a:solidFill>
            <a:srgbClr val="0F1E36"/>
          </a:solidFill>
          <a:ln>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lIns="164592" tIns="146304"/>
          <a:lstStyle/>
          <a:p>
            <a:pPr algn="ctr">
              <a:spcAft>
                <a:spcPts val="200"/>
              </a:spcAft>
              <a:defRPr sz="800" b="1">
                <a:solidFill>
                  <a:srgbClr val="D97706"/>
                </a:solidFill>
                <a:latin typeface="Calibri"/>
              </a:defRPr>
            </a:pPr>
            <a:r>
              <a:t>ACADEMIC GUIDANCE</a:t>
            </a:r>
          </a:p>
          <a:p>
            <a:pPr>
              <a:spcAft>
                <a:spcPts val="600"/>
              </a:spcAft>
              <a:defRPr sz="1100" b="1">
                <a:solidFill>
                  <a:srgbClr val="FFFFFF"/>
                </a:solidFill>
                <a:latin typeface="Calibri"/>
              </a:defRPr>
            </a:pPr>
            <a:r>
              <a:t>Dedicated Faculty Mentorship</a:t>
            </a:r>
          </a:p>
          <a:p>
            <a:pPr>
              <a:spcAft>
                <a:spcPts val="300"/>
              </a:spcAft>
              <a:defRPr sz="850">
                <a:solidFill>
                  <a:srgbClr val="CBD5E1"/>
                </a:solidFill>
                <a:latin typeface="Calibri"/>
              </a:defRPr>
            </a:pPr>
            <a:r>
              <a:t>• Supervised and reviewed by Faculty Mentor Dr. Rashmi Mothkur (Associate Professor, Dept. of CSE, ASAC).</a:t>
            </a:r>
          </a:p>
          <a:p>
            <a:pPr>
              <a:spcAft>
                <a:spcPts val="300"/>
              </a:spcAft>
              <a:defRPr sz="850">
                <a:solidFill>
                  <a:srgbClr val="CBD5E1"/>
                </a:solidFill>
                <a:latin typeface="Calibri"/>
              </a:defRPr>
            </a:pPr>
            <a:r>
              <a:t>• Course coordinated by Dr. M. Selvam (Associate Professor, ASAC).</a:t>
            </a:r>
          </a:p>
        </p:txBody>
      </p:sp>
      <p:sp>
        <p:nvSpPr>
          <p:cNvPr id="9" name="Rounded Rectangle 8"/>
          <p:cNvSpPr/>
          <p:nvPr/>
        </p:nvSpPr>
        <p:spPr>
          <a:xfrm>
            <a:off x="731520" y="4754880"/>
            <a:ext cx="10728655" cy="1371600"/>
          </a:xfrm>
          <a:prstGeom prst="roundRect">
            <a:avLst/>
          </a:prstGeom>
          <a:solidFill>
            <a:srgbClr val="134074"/>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tIns="164592"/>
          <a:lstStyle/>
          <a:p>
            <a:pPr algn="ctr">
              <a:spcAft>
                <a:spcPts val="400"/>
              </a:spcAft>
              <a:defRPr sz="1050" b="1">
                <a:solidFill>
                  <a:srgbClr val="D97706"/>
                </a:solidFill>
                <a:latin typeface="Calibri"/>
              </a:defRPr>
            </a:pPr>
            <a:r>
              <a:t>FORMAL SCOPE LOCKING DECLARATION (WEEK 5 MILESTONE)</a:t>
            </a:r>
          </a:p>
          <a:p>
            <a:pPr>
              <a:spcAft>
                <a:spcPts val="400"/>
              </a:spcAft>
              <a:defRPr sz="950">
                <a:solidFill>
                  <a:srgbClr val="FFFFFF"/>
                </a:solidFill>
                <a:latin typeface="Calibri"/>
              </a:defRPr>
            </a:pPr>
            <a:r>
              <a:t>The project scope, 6 SMART objectives, and engineering methodology are formally baselined for Semester V. The team commits to rigorous execution and prototype delivery for Review 2 under the guidance of Faculty Mentor Dr. Rashmi Mothkur and Course Coordinator Dr. M. Selvam.</a:t>
            </a:r>
          </a:p>
          <a:p>
            <a:pPr>
              <a:defRPr sz="850" b="1">
                <a:solidFill>
                  <a:srgbClr val="BFDBFE"/>
                </a:solidFill>
                <a:latin typeface="Calibri"/>
              </a:defRPr>
            </a:pPr>
            <a:r>
              <a:t>Team Members: Likith S (Lead Architect) | Vinodkumar (ML Lead) | Nikhil kumar V (CV &amp; Solver Lead) | Kalyan kumar T (IoT &amp; UI Lead)</a:t>
            </a:r>
          </a:p>
        </p:txBody>
      </p:sp>
      <p:sp>
        <p:nvSpPr>
          <p:cNvPr id="10" name="Rectangle 9"/>
          <p:cNvSpPr/>
          <p:nvPr/>
        </p:nvSpPr>
        <p:spPr>
          <a:xfrm>
            <a:off x="0" y="6537960"/>
            <a:ext cx="12191695" cy="320040"/>
          </a:xfrm>
          <a:prstGeom prst="rect">
            <a:avLst/>
          </a:prstGeom>
          <a:solidFill>
            <a:srgbClr val="081A30"/>
          </a:solidFill>
          <a:ln>
            <a:solidFill>
              <a:srgbClr val="081A30"/>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850">
                <a:solidFill>
                  <a:srgbClr val="94A3B8"/>
                </a:solidFill>
                <a:latin typeface="Calibri"/>
              </a:defRPr>
            </a:pPr>
            <a:r>
              <a:t>Alliance University — School of Advanced Computing | Department of Computer Science &amp; Engineering | Academic Year 2024–2025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