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1371600"/>
            <a:ext cx="10515600" cy="1645920"/>
          </a:xfrm>
          <a:prstGeom prst="rect">
            <a:avLst/>
          </a:prstGeom>
          <a:noFill/>
        </p:spPr>
        <p:txBody>
          <a:bodyPr wrap="square">
            <a:spAutoFit/>
          </a:bodyPr>
          <a:lstStyle/>
          <a:p>
            <a:pPr>
              <a:defRPr sz="3200" b="1">
                <a:solidFill>
                  <a:srgbClr val="0F172A"/>
                </a:solidFill>
                <a:latin typeface="Arial"/>
              </a:defRPr>
            </a:pPr>
            <a:r>
              <a:t>Title of the Project: AI-Powered Smart Campus</a:t>
            </a:r>
            <a:br/>
            <a:r>
              <a:t>Resource Management System</a:t>
            </a:r>
          </a:p>
        </p:txBody>
      </p:sp>
      <p:sp>
        <p:nvSpPr>
          <p:cNvPr id="4" name="TextBox 3"/>
          <p:cNvSpPr txBox="1"/>
          <p:nvPr/>
        </p:nvSpPr>
        <p:spPr>
          <a:xfrm>
            <a:off x="731520" y="3291840"/>
            <a:ext cx="10515600" cy="2011680"/>
          </a:xfrm>
          <a:prstGeom prst="rect">
            <a:avLst/>
          </a:prstGeom>
          <a:noFill/>
        </p:spPr>
        <p:txBody>
          <a:bodyPr wrap="square">
            <a:spAutoFit/>
          </a:bodyPr>
          <a:lstStyle/>
          <a:p>
            <a:pPr>
              <a:defRPr sz="2000" b="1">
                <a:solidFill>
                  <a:srgbClr val="1E293B"/>
                </a:solidFill>
              </a:defRPr>
            </a:pPr>
            <a:r>
              <a:t>Team Members:</a:t>
            </a:r>
          </a:p>
          <a:p>
            <a:pPr>
              <a:defRPr sz="1800">
                <a:solidFill>
                  <a:srgbClr val="334155"/>
                </a:solidFill>
              </a:defRPr>
            </a:pPr>
            <a:r>
              <a:t>1. Likith S – 2411021061437</a:t>
            </a:r>
          </a:p>
          <a:p>
            <a:pPr>
              <a:defRPr sz="1800">
                <a:solidFill>
                  <a:srgbClr val="334155"/>
                </a:solidFill>
              </a:defRPr>
            </a:pPr>
            <a:r>
              <a:t>2. Vinodkumar – 2411021061425</a:t>
            </a:r>
          </a:p>
          <a:p>
            <a:pPr>
              <a:defRPr sz="1800">
                <a:solidFill>
                  <a:srgbClr val="334155"/>
                </a:solidFill>
              </a:defRPr>
            </a:pPr>
            <a:r>
              <a:t>3. Nikhil Kumar V – 2411021061427</a:t>
            </a:r>
          </a:p>
          <a:p>
            <a:pPr>
              <a:defRPr sz="1800">
                <a:solidFill>
                  <a:srgbClr val="334155"/>
                </a:solidFill>
              </a:defRPr>
            </a:pPr>
            <a:r>
              <a:t>4. Kalyan Kumar T – 2411021061421</a:t>
            </a:r>
          </a:p>
        </p:txBody>
      </p:sp>
      <p:sp>
        <p:nvSpPr>
          <p:cNvPr id="5" name="TextBox 4"/>
          <p:cNvSpPr txBox="1"/>
          <p:nvPr/>
        </p:nvSpPr>
        <p:spPr>
          <a:xfrm>
            <a:off x="731520" y="5394960"/>
            <a:ext cx="10515600" cy="914400"/>
          </a:xfrm>
          <a:prstGeom prst="rect">
            <a:avLst/>
          </a:prstGeom>
          <a:noFill/>
        </p:spPr>
        <p:txBody>
          <a:bodyPr wrap="none">
            <a:spAutoFit/>
          </a:bodyPr>
          <a:lstStyle/>
          <a:p>
            <a:pPr>
              <a:defRPr sz="1900" b="1">
                <a:solidFill>
                  <a:srgbClr val="0F172A"/>
                </a:solidFill>
              </a:defRPr>
            </a:pPr>
            <a:r>
              <a:t>Name of the Mentor: Dr. Rashmi Mothkur</a:t>
            </a:r>
          </a:p>
          <a:p>
            <a:pPr>
              <a:defRPr sz="1800" b="1">
                <a:solidFill>
                  <a:srgbClr val="475569"/>
                </a:solidFill>
              </a:defRPr>
            </a:pPr>
            <a:r>
              <a:t>E1CSA313 Design Project -1</a:t>
            </a:r>
          </a:p>
        </p:txBody>
      </p:sp>
      <p:sp>
        <p:nvSpPr>
          <p:cNvPr id="6" name="TextBox 5"/>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Agenda</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2</a:t>
            </a:r>
          </a:p>
        </p:txBody>
      </p:sp>
      <p:sp>
        <p:nvSpPr>
          <p:cNvPr id="5" name="TextBox 4"/>
          <p:cNvSpPr txBox="1"/>
          <p:nvPr/>
        </p:nvSpPr>
        <p:spPr>
          <a:xfrm>
            <a:off x="731520" y="1463040"/>
            <a:ext cx="10515600" cy="4754880"/>
          </a:xfrm>
          <a:prstGeom prst="rect">
            <a:avLst/>
          </a:prstGeom>
          <a:noFill/>
        </p:spPr>
        <p:txBody>
          <a:bodyPr wrap="none">
            <a:spAutoFit/>
          </a:bodyPr>
          <a:lstStyle/>
          <a:p>
            <a:pPr>
              <a:spcAft>
                <a:spcPts val="800"/>
              </a:spcAft>
              <a:defRPr sz="1800">
                <a:solidFill>
                  <a:srgbClr val="1E293B"/>
                </a:solidFill>
              </a:defRPr>
            </a:pPr>
            <a:r>
              <a:t>1. Introduction</a:t>
            </a:r>
          </a:p>
          <a:p>
            <a:pPr>
              <a:spcAft>
                <a:spcPts val="800"/>
              </a:spcAft>
              <a:defRPr sz="1800">
                <a:solidFill>
                  <a:srgbClr val="1E293B"/>
                </a:solidFill>
              </a:defRPr>
            </a:pPr>
            <a:r>
              <a:t>2. Review of Literature</a:t>
            </a:r>
          </a:p>
          <a:p>
            <a:pPr>
              <a:spcAft>
                <a:spcPts val="800"/>
              </a:spcAft>
              <a:defRPr sz="1800">
                <a:solidFill>
                  <a:srgbClr val="1E293B"/>
                </a:solidFill>
              </a:defRPr>
            </a:pPr>
            <a:r>
              <a:t>3. Observations from Literature</a:t>
            </a:r>
          </a:p>
          <a:p>
            <a:pPr>
              <a:spcAft>
                <a:spcPts val="800"/>
              </a:spcAft>
              <a:defRPr sz="1800">
                <a:solidFill>
                  <a:srgbClr val="1E293B"/>
                </a:solidFill>
              </a:defRPr>
            </a:pPr>
            <a:r>
              <a:t>4. Limitations</a:t>
            </a:r>
          </a:p>
          <a:p>
            <a:pPr>
              <a:spcAft>
                <a:spcPts val="800"/>
              </a:spcAft>
              <a:defRPr sz="1800">
                <a:solidFill>
                  <a:srgbClr val="1E293B"/>
                </a:solidFill>
              </a:defRPr>
            </a:pPr>
            <a:r>
              <a:t>5. Problem Statement and Scope</a:t>
            </a:r>
          </a:p>
          <a:p>
            <a:pPr>
              <a:spcAft>
                <a:spcPts val="800"/>
              </a:spcAft>
              <a:defRPr sz="1800">
                <a:solidFill>
                  <a:srgbClr val="1E293B"/>
                </a:solidFill>
              </a:defRPr>
            </a:pPr>
            <a:r>
              <a:t>6. Proposed Solution and Objectives</a:t>
            </a:r>
          </a:p>
          <a:p>
            <a:pPr>
              <a:spcAft>
                <a:spcPts val="800"/>
              </a:spcAft>
              <a:defRPr sz="1800">
                <a:solidFill>
                  <a:srgbClr val="1E293B"/>
                </a:solidFill>
              </a:defRPr>
            </a:pPr>
            <a:r>
              <a:t>7. Methodology and System Modules</a:t>
            </a:r>
          </a:p>
          <a:p>
            <a:pPr>
              <a:spcAft>
                <a:spcPts val="800"/>
              </a:spcAft>
              <a:defRPr sz="1800">
                <a:solidFill>
                  <a:srgbClr val="1E293B"/>
                </a:solidFill>
              </a:defRPr>
            </a:pPr>
            <a:r>
              <a:t>8. Implementation Progress</a:t>
            </a:r>
          </a:p>
          <a:p>
            <a:pPr>
              <a:spcAft>
                <a:spcPts val="800"/>
              </a:spcAft>
              <a:defRPr sz="1800">
                <a:solidFill>
                  <a:srgbClr val="1E293B"/>
                </a:solidFill>
              </a:defRPr>
            </a:pPr>
            <a:r>
              <a:t>9. Results and Testing</a:t>
            </a:r>
          </a:p>
          <a:p>
            <a:pPr>
              <a:spcAft>
                <a:spcPts val="800"/>
              </a:spcAft>
              <a:defRPr sz="1800">
                <a:solidFill>
                  <a:srgbClr val="1E293B"/>
                </a:solidFill>
              </a:defRPr>
            </a:pPr>
            <a:r>
              <a:t>10. Conclusion and Future Work</a:t>
            </a:r>
          </a:p>
          <a:p>
            <a:pPr>
              <a:spcAft>
                <a:spcPts val="800"/>
              </a:spcAft>
              <a:defRPr sz="1800">
                <a:solidFill>
                  <a:srgbClr val="1E293B"/>
                </a:solidFill>
              </a:defRPr>
            </a:pPr>
            <a:r>
              <a:t>11.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Introduction</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3</a:t>
            </a:r>
          </a:p>
        </p:txBody>
      </p:sp>
      <p:sp>
        <p:nvSpPr>
          <p:cNvPr id="5" name="TextBox 4"/>
          <p:cNvSpPr txBox="1"/>
          <p:nvPr/>
        </p:nvSpPr>
        <p:spPr>
          <a:xfrm>
            <a:off x="731520" y="1645920"/>
            <a:ext cx="10515600" cy="4389120"/>
          </a:xfrm>
          <a:prstGeom prst="rect">
            <a:avLst/>
          </a:prstGeom>
          <a:noFill/>
        </p:spPr>
        <p:txBody>
          <a:bodyPr wrap="square">
            <a:spAutoFit/>
          </a:bodyPr>
          <a:lstStyle/>
          <a:p>
            <a:pPr>
              <a:spcAft>
                <a:spcPts val="2000"/>
              </a:spcAft>
              <a:defRPr sz="1900">
                <a:solidFill>
                  <a:srgbClr val="1E293B"/>
                </a:solidFill>
              </a:defRPr>
            </a:pPr>
            <a:r>
              <a:t>Educational campuses need effective resource management to coordinate classrooms, laboratories, utilities and infrastructure. Conventional campus management depends on administrative personnel manually handling timetables and utility schedules, which can make it difficult to prevent clashes and eliminate energy waste promptly.</a:t>
            </a:r>
          </a:p>
          <a:p>
            <a:pPr>
              <a:defRPr sz="1900">
                <a:solidFill>
                  <a:srgbClr val="1E293B"/>
                </a:solidFill>
              </a:defRPr>
            </a:pPr>
            <a:r>
              <a:t>This project develops a software-based management prototype that visualizes campus spaces in 3D, monitors room occupancy schedules and optimizes electricity and water consumption thresholds. Operating metrics are displayed on a web dashboard to help facility personnel review allocations and support timely decisions.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Review of literature</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4</a:t>
            </a:r>
          </a:p>
        </p:txBody>
      </p:sp>
      <p:graphicFrame>
        <p:nvGraphicFramePr>
          <p:cNvPr id="5" name="Table 4"/>
          <p:cNvGraphicFramePr>
            <a:graphicFrameLocks noGrp="1"/>
          </p:cNvGraphicFramePr>
          <p:nvPr/>
        </p:nvGraphicFramePr>
        <p:xfrm>
          <a:off x="548640" y="1371600"/>
          <a:ext cx="11091671" cy="4754880"/>
        </p:xfrm>
        <a:graphic>
          <a:graphicData uri="http://schemas.openxmlformats.org/drawingml/2006/table">
            <a:tbl>
              <a:tblPr firstRow="1" bandRow="1">
                <a:tableStyleId>{5C22544A-7EE6-4342-B048-85BDC9FD1C3A}</a:tableStyleId>
              </a:tblPr>
              <a:tblGrid>
                <a:gridCol w="731520"/>
                <a:gridCol w="2377440"/>
                <a:gridCol w="2560320"/>
                <a:gridCol w="1645920"/>
                <a:gridCol w="1920240"/>
                <a:gridCol w="1856231"/>
              </a:tblGrid>
              <a:tr h="1188720">
                <a:tc>
                  <a:txBody>
                    <a:bodyPr/>
                    <a:lstStyle/>
                    <a:p>
                      <a:pPr algn="ctr">
                        <a:defRPr b="1" sz="1100">
                          <a:solidFill>
                            <a:srgbClr val="FFFFFF"/>
                          </a:solidFill>
                        </a:defRPr>
                      </a:pPr>
                      <a:r>
                        <a:t>S.No</a:t>
                      </a:r>
                    </a:p>
                  </a:txBody>
                  <a:tcPr>
                    <a:solidFill>
                      <a:srgbClr val="2962AF"/>
                    </a:solidFill>
                  </a:tcPr>
                </a:tc>
                <a:tc>
                  <a:txBody>
                    <a:bodyPr/>
                    <a:lstStyle/>
                    <a:p>
                      <a:pPr algn="ctr">
                        <a:defRPr b="1" sz="1100">
                          <a:solidFill>
                            <a:srgbClr val="FFFFFF"/>
                          </a:solidFill>
                        </a:defRPr>
                      </a:pPr>
                      <a:r>
                        <a:t>Author Name, Journal,</a:t>
                      </a:r>
                      <a:br/>
                      <a:r>
                        <a:t>Publication Year</a:t>
                      </a:r>
                    </a:p>
                  </a:txBody>
                  <a:tcPr>
                    <a:solidFill>
                      <a:srgbClr val="2962AF"/>
                    </a:solidFill>
                  </a:tcPr>
                </a:tc>
                <a:tc>
                  <a:txBody>
                    <a:bodyPr/>
                    <a:lstStyle/>
                    <a:p>
                      <a:pPr algn="ctr">
                        <a:defRPr b="1" sz="1100">
                          <a:solidFill>
                            <a:srgbClr val="FFFFFF"/>
                          </a:solidFill>
                        </a:defRPr>
                      </a:pPr>
                      <a:r>
                        <a:t>Research/</a:t>
                      </a:r>
                      <a:br/>
                      <a:r>
                        <a:t>Methodology</a:t>
                      </a:r>
                    </a:p>
                  </a:txBody>
                  <a:tcPr>
                    <a:solidFill>
                      <a:srgbClr val="2962AF"/>
                    </a:solidFill>
                  </a:tcPr>
                </a:tc>
                <a:tc>
                  <a:txBody>
                    <a:bodyPr/>
                    <a:lstStyle/>
                    <a:p>
                      <a:pPr algn="ctr">
                        <a:defRPr b="1" sz="1100">
                          <a:solidFill>
                            <a:srgbClr val="FFFFFF"/>
                          </a:solidFill>
                        </a:defRPr>
                      </a:pPr>
                      <a:r>
                        <a:t>Performance</a:t>
                      </a:r>
                      <a:br/>
                      <a:r>
                        <a:t>Metrics</a:t>
                      </a:r>
                    </a:p>
                  </a:txBody>
                  <a:tcPr>
                    <a:solidFill>
                      <a:srgbClr val="2962AF"/>
                    </a:solidFill>
                  </a:tcPr>
                </a:tc>
                <a:tc>
                  <a:txBody>
                    <a:bodyPr/>
                    <a:lstStyle/>
                    <a:p>
                      <a:pPr algn="ctr">
                        <a:defRPr b="1" sz="1100">
                          <a:solidFill>
                            <a:srgbClr val="FFFFFF"/>
                          </a:solidFill>
                        </a:defRPr>
                      </a:pPr>
                      <a:r>
                        <a:t>Advantages</a:t>
                      </a:r>
                    </a:p>
                  </a:txBody>
                  <a:tcPr>
                    <a:solidFill>
                      <a:srgbClr val="2962AF"/>
                    </a:solidFill>
                  </a:tcPr>
                </a:tc>
                <a:tc>
                  <a:txBody>
                    <a:bodyPr/>
                    <a:lstStyle/>
                    <a:p>
                      <a:pPr algn="ctr">
                        <a:defRPr b="1" sz="1100">
                          <a:solidFill>
                            <a:srgbClr val="FFFFFF"/>
                          </a:solidFill>
                        </a:defRPr>
                      </a:pPr>
                      <a:r>
                        <a:t>Disadvantages</a:t>
                      </a:r>
                    </a:p>
                  </a:txBody>
                  <a:tcPr>
                    <a:solidFill>
                      <a:srgbClr val="2962AF"/>
                    </a:solidFill>
                  </a:tcPr>
                </a:tc>
              </a:tr>
              <a:tr h="1188720">
                <a:tc>
                  <a:txBody>
                    <a:bodyPr/>
                    <a:lstStyle/>
                    <a:p>
                      <a:pPr algn="ctr">
                        <a:defRPr sz="1000">
                          <a:solidFill>
                            <a:srgbClr val="0F172A"/>
                          </a:solidFill>
                        </a:defRPr>
                      </a:pPr>
                      <a:r>
                        <a:t>1</a:t>
                      </a:r>
                    </a:p>
                  </a:txBody>
                  <a:tcPr>
                    <a:solidFill>
                      <a:srgbClr val="E6EEFA"/>
                    </a:solidFill>
                  </a:tcPr>
                </a:tc>
                <a:tc>
                  <a:txBody>
                    <a:bodyPr/>
                    <a:lstStyle/>
                    <a:p>
                      <a:pPr>
                        <a:defRPr sz="1000">
                          <a:solidFill>
                            <a:srgbClr val="0F172A"/>
                          </a:solidFill>
                        </a:defRPr>
                      </a:pPr>
                      <a:r>
                        <a:t>Roda-Sanchez, Cirillo et al., Computer Networks, 2024</a:t>
                      </a:r>
                    </a:p>
                  </a:txBody>
                  <a:tcPr>
                    <a:solidFill>
                      <a:srgbClr val="E6EEFA"/>
                    </a:solidFill>
                  </a:tcPr>
                </a:tc>
                <a:tc>
                  <a:txBody>
                    <a:bodyPr/>
                    <a:lstStyle/>
                    <a:p>
                      <a:pPr>
                        <a:defRPr sz="1000">
                          <a:solidFill>
                            <a:srgbClr val="0F172A"/>
                          </a:solidFill>
                        </a:defRPr>
                      </a:pPr>
                      <a:r>
                        <a:t>CPS with FIWARE broker; ZigBee/LoRaWAN sensor grid in 4 buildings.</a:t>
                      </a:r>
                    </a:p>
                  </a:txBody>
                  <a:tcPr>
                    <a:solidFill>
                      <a:srgbClr val="E6EEFA"/>
                    </a:solidFill>
                  </a:tcPr>
                </a:tc>
                <a:tc>
                  <a:txBody>
                    <a:bodyPr/>
                    <a:lstStyle/>
                    <a:p>
                      <a:pPr>
                        <a:defRPr sz="1000">
                          <a:solidFill>
                            <a:srgbClr val="0F172A"/>
                          </a:solidFill>
                        </a:defRPr>
                      </a:pPr>
                      <a:r>
                        <a:t>34% reduction in data-collection latency</a:t>
                      </a:r>
                    </a:p>
                  </a:txBody>
                  <a:tcPr>
                    <a:solidFill>
                      <a:srgbClr val="E6EEFA"/>
                    </a:solidFill>
                  </a:tcPr>
                </a:tc>
                <a:tc>
                  <a:txBody>
                    <a:bodyPr/>
                    <a:lstStyle/>
                    <a:p>
                      <a:pPr>
                        <a:defRPr sz="1000">
                          <a:solidFill>
                            <a:srgbClr val="0F172A"/>
                          </a:solidFill>
                        </a:defRPr>
                      </a:pPr>
                      <a:r>
                        <a:t>Open-API, interoperable IoT reference architecture.</a:t>
                      </a:r>
                    </a:p>
                  </a:txBody>
                  <a:tcPr>
                    <a:solidFill>
                      <a:srgbClr val="E6EEFA"/>
                    </a:solidFill>
                  </a:tcPr>
                </a:tc>
                <a:tc>
                  <a:txBody>
                    <a:bodyPr/>
                    <a:lstStyle/>
                    <a:p>
                      <a:pPr>
                        <a:defRPr sz="1000">
                          <a:solidFill>
                            <a:srgbClr val="0F172A"/>
                          </a:solidFill>
                        </a:defRPr>
                      </a:pPr>
                      <a:r>
                        <a:t>Static 2D visualization; lacks real-time energy link.</a:t>
                      </a:r>
                    </a:p>
                  </a:txBody>
                  <a:tcPr>
                    <a:solidFill>
                      <a:srgbClr val="E6EEFA"/>
                    </a:solidFill>
                  </a:tcPr>
                </a:tc>
              </a:tr>
              <a:tr h="1188720">
                <a:tc>
                  <a:txBody>
                    <a:bodyPr/>
                    <a:lstStyle/>
                    <a:p>
                      <a:pPr algn="ctr">
                        <a:defRPr sz="1000">
                          <a:solidFill>
                            <a:srgbClr val="0F172A"/>
                          </a:solidFill>
                        </a:defRPr>
                      </a:pPr>
                      <a:r>
                        <a:t>2</a:t>
                      </a:r>
                    </a:p>
                  </a:txBody>
                  <a:tcPr>
                    <a:solidFill>
                      <a:srgbClr val="FFFFFF"/>
                    </a:solidFill>
                  </a:tcPr>
                </a:tc>
                <a:tc>
                  <a:txBody>
                    <a:bodyPr/>
                    <a:lstStyle/>
                    <a:p>
                      <a:pPr>
                        <a:defRPr sz="1000">
                          <a:solidFill>
                            <a:srgbClr val="0F172A"/>
                          </a:solidFill>
                        </a:defRPr>
                      </a:pPr>
                      <a:r>
                        <a:t>Pexyean, Saraubon et al., IEEE Access, 2024</a:t>
                      </a:r>
                    </a:p>
                  </a:txBody>
                  <a:tcPr>
                    <a:solidFill>
                      <a:srgbClr val="FFFFFF"/>
                    </a:solidFill>
                  </a:tcPr>
                </a:tc>
                <a:tc>
                  <a:txBody>
                    <a:bodyPr/>
                    <a:lstStyle/>
                    <a:p>
                      <a:pPr>
                        <a:defRPr sz="1000">
                          <a:solidFill>
                            <a:srgbClr val="0F172A"/>
                          </a:solidFill>
                        </a:defRPr>
                      </a:pPr>
                      <a:r>
                        <a:t>LSTM neural network + discrete-event simulation on smart-meter data.</a:t>
                      </a:r>
                    </a:p>
                  </a:txBody>
                  <a:tcPr>
                    <a:solidFill>
                      <a:srgbClr val="FFFFFF"/>
                    </a:solidFill>
                  </a:tcPr>
                </a:tc>
                <a:tc>
                  <a:txBody>
                    <a:bodyPr/>
                    <a:lstStyle/>
                    <a:p>
                      <a:pPr>
                        <a:defRPr sz="1000">
                          <a:solidFill>
                            <a:srgbClr val="0F172A"/>
                          </a:solidFill>
                        </a:defRPr>
                      </a:pPr>
                      <a:r>
                        <a:t>91.2% load accuracy; 12.5% peak shaving</a:t>
                      </a:r>
                    </a:p>
                  </a:txBody>
                  <a:tcPr>
                    <a:solidFill>
                      <a:srgbClr val="FFFFFF"/>
                    </a:solidFill>
                  </a:tcPr>
                </a:tc>
                <a:tc>
                  <a:txBody>
                    <a:bodyPr/>
                    <a:lstStyle/>
                    <a:p>
                      <a:pPr>
                        <a:defRPr sz="1000">
                          <a:solidFill>
                            <a:srgbClr val="0F172A"/>
                          </a:solidFill>
                        </a:defRPr>
                      </a:pPr>
                      <a:r>
                        <a:t>Validated LSTM load forecasting for campus blocks.</a:t>
                      </a:r>
                    </a:p>
                  </a:txBody>
                  <a:tcPr>
                    <a:solidFill>
                      <a:srgbClr val="FFFFFF"/>
                    </a:solidFill>
                  </a:tcPr>
                </a:tc>
                <a:tc>
                  <a:txBody>
                    <a:bodyPr/>
                    <a:lstStyle/>
                    <a:p>
                      <a:pPr>
                        <a:defRPr sz="1000">
                          <a:solidFill>
                            <a:srgbClr val="0F172A"/>
                          </a:solidFill>
                        </a:defRPr>
                      </a:pPr>
                      <a:r>
                        <a:t>High GPU overhead; no live solar feedback.</a:t>
                      </a:r>
                    </a:p>
                  </a:txBody>
                  <a:tcPr>
                    <a:solidFill>
                      <a:srgbClr val="FFFFFF"/>
                    </a:solidFill>
                  </a:tcPr>
                </a:tc>
              </a:tr>
              <a:tr h="1188720">
                <a:tc>
                  <a:txBody>
                    <a:bodyPr/>
                    <a:lstStyle/>
                    <a:p>
                      <a:pPr algn="ctr">
                        <a:defRPr sz="1000">
                          <a:solidFill>
                            <a:srgbClr val="0F172A"/>
                          </a:solidFill>
                        </a:defRPr>
                      </a:pPr>
                      <a:r>
                        <a:t>3</a:t>
                      </a:r>
                    </a:p>
                  </a:txBody>
                  <a:tcPr>
                    <a:solidFill>
                      <a:srgbClr val="E6EEFA"/>
                    </a:solidFill>
                  </a:tcPr>
                </a:tc>
                <a:tc>
                  <a:txBody>
                    <a:bodyPr/>
                    <a:lstStyle/>
                    <a:p>
                      <a:pPr>
                        <a:defRPr sz="1000">
                          <a:solidFill>
                            <a:srgbClr val="0F172A"/>
                          </a:solidFill>
                        </a:defRPr>
                      </a:pPr>
                      <a:r>
                        <a:t>SIT Research Team, Applied Energy, 2024</a:t>
                      </a:r>
                    </a:p>
                  </a:txBody>
                  <a:tcPr>
                    <a:solidFill>
                      <a:srgbClr val="E6EEFA"/>
                    </a:solidFill>
                  </a:tcPr>
                </a:tc>
                <a:tc>
                  <a:txBody>
                    <a:bodyPr/>
                    <a:lstStyle/>
                    <a:p>
                      <a:pPr>
                        <a:defRPr sz="1000">
                          <a:solidFill>
                            <a:srgbClr val="0F172A"/>
                          </a:solidFill>
                        </a:defRPr>
                      </a:pPr>
                      <a:r>
                        <a:t>Model predictive control + multi-agent dispatch on SCADA/BESS telemetry.</a:t>
                      </a:r>
                    </a:p>
                  </a:txBody>
                  <a:tcPr>
                    <a:solidFill>
                      <a:srgbClr val="E6EEFA"/>
                    </a:solidFill>
                  </a:tcPr>
                </a:tc>
                <a:tc>
                  <a:txBody>
                    <a:bodyPr/>
                    <a:lstStyle/>
                    <a:p>
                      <a:pPr>
                        <a:defRPr sz="1000">
                          <a:solidFill>
                            <a:srgbClr val="0F172A"/>
                          </a:solidFill>
                        </a:defRPr>
                      </a:pPr>
                      <a:r>
                        <a:t>16.2% peak-import reduction; lower degradation</a:t>
                      </a:r>
                    </a:p>
                  </a:txBody>
                  <a:tcPr>
                    <a:solidFill>
                      <a:srgbClr val="E6EEFA"/>
                    </a:solidFill>
                  </a:tcPr>
                </a:tc>
                <a:tc>
                  <a:txBody>
                    <a:bodyPr/>
                    <a:lstStyle/>
                    <a:p>
                      <a:pPr>
                        <a:defRPr sz="1000">
                          <a:solidFill>
                            <a:srgbClr val="0F172A"/>
                          </a:solidFill>
                        </a:defRPr>
                      </a:pPr>
                      <a:r>
                        <a:t>Formal MPC dispatch algorithm for microgrids.</a:t>
                      </a:r>
                    </a:p>
                  </a:txBody>
                  <a:tcPr>
                    <a:solidFill>
                      <a:srgbClr val="E6EEFA"/>
                    </a:solidFill>
                  </a:tcPr>
                </a:tc>
                <a:tc>
                  <a:txBody>
                    <a:bodyPr/>
                    <a:lstStyle/>
                    <a:p>
                      <a:pPr>
                        <a:defRPr sz="1000">
                          <a:solidFill>
                            <a:srgbClr val="0F172A"/>
                          </a:solidFill>
                        </a:defRPr>
                      </a:pPr>
                      <a:r>
                        <a:t>Requires dedicated SCADA; no 3D campus context.</a:t>
                      </a:r>
                    </a:p>
                  </a:txBody>
                  <a:tcPr>
                    <a:solidFill>
                      <a:srgbClr val="E6EE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Review of literature</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5</a:t>
            </a:r>
          </a:p>
        </p:txBody>
      </p:sp>
      <p:graphicFrame>
        <p:nvGraphicFramePr>
          <p:cNvPr id="5" name="Table 4"/>
          <p:cNvGraphicFramePr>
            <a:graphicFrameLocks noGrp="1"/>
          </p:cNvGraphicFramePr>
          <p:nvPr/>
        </p:nvGraphicFramePr>
        <p:xfrm>
          <a:off x="548640" y="1371600"/>
          <a:ext cx="11091671" cy="4754880"/>
        </p:xfrm>
        <a:graphic>
          <a:graphicData uri="http://schemas.openxmlformats.org/drawingml/2006/table">
            <a:tbl>
              <a:tblPr firstRow="1" bandRow="1">
                <a:tableStyleId>{5C22544A-7EE6-4342-B048-85BDC9FD1C3A}</a:tableStyleId>
              </a:tblPr>
              <a:tblGrid>
                <a:gridCol w="731520"/>
                <a:gridCol w="2377440"/>
                <a:gridCol w="2560320"/>
                <a:gridCol w="1645920"/>
                <a:gridCol w="1920240"/>
                <a:gridCol w="1856231"/>
              </a:tblGrid>
              <a:tr h="1188720">
                <a:tc>
                  <a:txBody>
                    <a:bodyPr/>
                    <a:lstStyle/>
                    <a:p>
                      <a:pPr algn="ctr">
                        <a:defRPr b="1" sz="1100">
                          <a:solidFill>
                            <a:srgbClr val="FFFFFF"/>
                          </a:solidFill>
                        </a:defRPr>
                      </a:pPr>
                      <a:r>
                        <a:t>S.No</a:t>
                      </a:r>
                    </a:p>
                  </a:txBody>
                  <a:tcPr>
                    <a:solidFill>
                      <a:srgbClr val="2962AF"/>
                    </a:solidFill>
                  </a:tcPr>
                </a:tc>
                <a:tc>
                  <a:txBody>
                    <a:bodyPr/>
                    <a:lstStyle/>
                    <a:p>
                      <a:pPr algn="ctr">
                        <a:defRPr b="1" sz="1100">
                          <a:solidFill>
                            <a:srgbClr val="FFFFFF"/>
                          </a:solidFill>
                        </a:defRPr>
                      </a:pPr>
                      <a:r>
                        <a:t>Author Name, Journal,</a:t>
                      </a:r>
                      <a:br/>
                      <a:r>
                        <a:t>Publication Year</a:t>
                      </a:r>
                    </a:p>
                  </a:txBody>
                  <a:tcPr>
                    <a:solidFill>
                      <a:srgbClr val="2962AF"/>
                    </a:solidFill>
                  </a:tcPr>
                </a:tc>
                <a:tc>
                  <a:txBody>
                    <a:bodyPr/>
                    <a:lstStyle/>
                    <a:p>
                      <a:pPr algn="ctr">
                        <a:defRPr b="1" sz="1100">
                          <a:solidFill>
                            <a:srgbClr val="FFFFFF"/>
                          </a:solidFill>
                        </a:defRPr>
                      </a:pPr>
                      <a:r>
                        <a:t>Research/</a:t>
                      </a:r>
                      <a:br/>
                      <a:r>
                        <a:t>Methodology</a:t>
                      </a:r>
                    </a:p>
                  </a:txBody>
                  <a:tcPr>
                    <a:solidFill>
                      <a:srgbClr val="2962AF"/>
                    </a:solidFill>
                  </a:tcPr>
                </a:tc>
                <a:tc>
                  <a:txBody>
                    <a:bodyPr/>
                    <a:lstStyle/>
                    <a:p>
                      <a:pPr algn="ctr">
                        <a:defRPr b="1" sz="1100">
                          <a:solidFill>
                            <a:srgbClr val="FFFFFF"/>
                          </a:solidFill>
                        </a:defRPr>
                      </a:pPr>
                      <a:r>
                        <a:t>Performance</a:t>
                      </a:r>
                      <a:br/>
                      <a:r>
                        <a:t>Metrics</a:t>
                      </a:r>
                    </a:p>
                  </a:txBody>
                  <a:tcPr>
                    <a:solidFill>
                      <a:srgbClr val="2962AF"/>
                    </a:solidFill>
                  </a:tcPr>
                </a:tc>
                <a:tc>
                  <a:txBody>
                    <a:bodyPr/>
                    <a:lstStyle/>
                    <a:p>
                      <a:pPr algn="ctr">
                        <a:defRPr b="1" sz="1100">
                          <a:solidFill>
                            <a:srgbClr val="FFFFFF"/>
                          </a:solidFill>
                        </a:defRPr>
                      </a:pPr>
                      <a:r>
                        <a:t>Advantages</a:t>
                      </a:r>
                    </a:p>
                  </a:txBody>
                  <a:tcPr>
                    <a:solidFill>
                      <a:srgbClr val="2962AF"/>
                    </a:solidFill>
                  </a:tcPr>
                </a:tc>
                <a:tc>
                  <a:txBody>
                    <a:bodyPr/>
                    <a:lstStyle/>
                    <a:p>
                      <a:pPr algn="ctr">
                        <a:defRPr b="1" sz="1100">
                          <a:solidFill>
                            <a:srgbClr val="FFFFFF"/>
                          </a:solidFill>
                        </a:defRPr>
                      </a:pPr>
                      <a:r>
                        <a:t>Disadvantages</a:t>
                      </a:r>
                    </a:p>
                  </a:txBody>
                  <a:tcPr>
                    <a:solidFill>
                      <a:srgbClr val="2962AF"/>
                    </a:solidFill>
                  </a:tcPr>
                </a:tc>
              </a:tr>
              <a:tr h="1188720">
                <a:tc>
                  <a:txBody>
                    <a:bodyPr/>
                    <a:lstStyle/>
                    <a:p>
                      <a:pPr algn="ctr">
                        <a:defRPr sz="1000">
                          <a:solidFill>
                            <a:srgbClr val="0F172A"/>
                          </a:solidFill>
                        </a:defRPr>
                      </a:pPr>
                      <a:r>
                        <a:t>4</a:t>
                      </a:r>
                    </a:p>
                  </a:txBody>
                  <a:tcPr>
                    <a:solidFill>
                      <a:srgbClr val="E6EEFA"/>
                    </a:solidFill>
                  </a:tcPr>
                </a:tc>
                <a:tc>
                  <a:txBody>
                    <a:bodyPr/>
                    <a:lstStyle/>
                    <a:p>
                      <a:pPr>
                        <a:defRPr sz="1000">
                          <a:solidFill>
                            <a:srgbClr val="0F172A"/>
                          </a:solidFill>
                        </a:defRPr>
                      </a:pPr>
                      <a:r>
                        <a:t>Chen, Martinez et al., Automation in Construction, 2024</a:t>
                      </a:r>
                    </a:p>
                  </a:txBody>
                  <a:tcPr>
                    <a:solidFill>
                      <a:srgbClr val="E6EEFA"/>
                    </a:solidFill>
                  </a:tcPr>
                </a:tc>
                <a:tc>
                  <a:txBody>
                    <a:bodyPr/>
                    <a:lstStyle/>
                    <a:p>
                      <a:pPr>
                        <a:defRPr sz="1000">
                          <a:solidFill>
                            <a:srgbClr val="0F172A"/>
                          </a:solidFill>
                        </a:defRPr>
                      </a:pPr>
                      <a:r>
                        <a:t>BIM/IFC spatial data with Revit models + PIR occupancy sensors.</a:t>
                      </a:r>
                    </a:p>
                  </a:txBody>
                  <a:tcPr>
                    <a:solidFill>
                      <a:srgbClr val="E6EEFA"/>
                    </a:solidFill>
                  </a:tcPr>
                </a:tc>
                <a:tc>
                  <a:txBody>
                    <a:bodyPr/>
                    <a:lstStyle/>
                    <a:p>
                      <a:pPr>
                        <a:defRPr sz="1000">
                          <a:solidFill>
                            <a:srgbClr val="0F172A"/>
                          </a:solidFill>
                        </a:defRPr>
                      </a:pPr>
                      <a:r>
                        <a:t>24% booking discrepancy detected</a:t>
                      </a:r>
                    </a:p>
                  </a:txBody>
                  <a:tcPr>
                    <a:solidFill>
                      <a:srgbClr val="E6EEFA"/>
                    </a:solidFill>
                  </a:tcPr>
                </a:tc>
                <a:tc>
                  <a:txBody>
                    <a:bodyPr/>
                    <a:lstStyle/>
                    <a:p>
                      <a:pPr>
                        <a:defRPr sz="1000">
                          <a:solidFill>
                            <a:srgbClr val="0F172A"/>
                          </a:solidFill>
                        </a:defRPr>
                      </a:pPr>
                      <a:r>
                        <a:t>Directly links academic timetables with 3D geometry.</a:t>
                      </a:r>
                    </a:p>
                  </a:txBody>
                  <a:tcPr>
                    <a:solidFill>
                      <a:srgbClr val="E6EEFA"/>
                    </a:solidFill>
                  </a:tcPr>
                </a:tc>
                <a:tc>
                  <a:txBody>
                    <a:bodyPr/>
                    <a:lstStyle/>
                    <a:p>
                      <a:pPr>
                        <a:defRPr sz="1000">
                          <a:solidFill>
                            <a:srgbClr val="0F172A"/>
                          </a:solidFill>
                        </a:defRPr>
                      </a:pPr>
                      <a:r>
                        <a:t>Proprietary BIM format; not web-deployable.</a:t>
                      </a:r>
                    </a:p>
                  </a:txBody>
                  <a:tcPr>
                    <a:solidFill>
                      <a:srgbClr val="E6EEFA"/>
                    </a:solidFill>
                  </a:tcPr>
                </a:tc>
              </a:tr>
              <a:tr h="1188720">
                <a:tc>
                  <a:txBody>
                    <a:bodyPr/>
                    <a:lstStyle/>
                    <a:p>
                      <a:pPr algn="ctr">
                        <a:defRPr sz="1000">
                          <a:solidFill>
                            <a:srgbClr val="0F172A"/>
                          </a:solidFill>
                        </a:defRPr>
                      </a:pPr>
                      <a:r>
                        <a:t>5</a:t>
                      </a:r>
                    </a:p>
                  </a:txBody>
                  <a:tcPr>
                    <a:solidFill>
                      <a:srgbClr val="FFFFFF"/>
                    </a:solidFill>
                  </a:tcPr>
                </a:tc>
                <a:tc>
                  <a:txBody>
                    <a:bodyPr/>
                    <a:lstStyle/>
                    <a:p>
                      <a:pPr>
                        <a:defRPr sz="1000">
                          <a:solidFill>
                            <a:srgbClr val="0F172A"/>
                          </a:solidFill>
                        </a:defRPr>
                      </a:pPr>
                      <a:r>
                        <a:t>Testasecca, Stamatopoulos et al., Energy &amp; Buildings, 2024</a:t>
                      </a:r>
                    </a:p>
                  </a:txBody>
                  <a:tcPr>
                    <a:solidFill>
                      <a:srgbClr val="FFFFFF"/>
                    </a:solidFill>
                  </a:tcPr>
                </a:tc>
                <a:tc>
                  <a:txBody>
                    <a:bodyPr/>
                    <a:lstStyle/>
                    <a:p>
                      <a:pPr>
                        <a:defRPr sz="1000">
                          <a:solidFill>
                            <a:srgbClr val="0F172A"/>
                          </a:solidFill>
                        </a:defRPr>
                      </a:pPr>
                      <a:r>
                        <a:t>EnergyPlus thermodynamic simulation across 48 thermal zones.</a:t>
                      </a:r>
                    </a:p>
                  </a:txBody>
                  <a:tcPr>
                    <a:solidFill>
                      <a:srgbClr val="FFFFFF"/>
                    </a:solidFill>
                  </a:tcPr>
                </a:tc>
                <a:tc>
                  <a:txBody>
                    <a:bodyPr/>
                    <a:lstStyle/>
                    <a:p>
                      <a:pPr>
                        <a:defRPr sz="1000">
                          <a:solidFill>
                            <a:srgbClr val="0F172A"/>
                          </a:solidFill>
                        </a:defRPr>
                      </a:pPr>
                      <a:r>
                        <a:t>14.8% HVAC energy reduction achieved</a:t>
                      </a:r>
                    </a:p>
                  </a:txBody>
                  <a:tcPr>
                    <a:solidFill>
                      <a:srgbClr val="FFFFFF"/>
                    </a:solidFill>
                  </a:tcPr>
                </a:tc>
                <a:tc>
                  <a:txBody>
                    <a:bodyPr/>
                    <a:lstStyle/>
                    <a:p>
                      <a:pPr>
                        <a:defRPr sz="1000">
                          <a:solidFill>
                            <a:srgbClr val="0F172A"/>
                          </a:solidFill>
                        </a:defRPr>
                      </a:pPr>
                      <a:r>
                        <a:t>Calibrated thermodynamic thermal setpoint model.</a:t>
                      </a:r>
                    </a:p>
                  </a:txBody>
                  <a:tcPr>
                    <a:solidFill>
                      <a:srgbClr val="FFFFFF"/>
                    </a:solidFill>
                  </a:tcPr>
                </a:tc>
                <a:tc>
                  <a:txBody>
                    <a:bodyPr/>
                    <a:lstStyle/>
                    <a:p>
                      <a:pPr>
                        <a:defRPr sz="1000">
                          <a:solidFill>
                            <a:srgbClr val="0F172A"/>
                          </a:solidFill>
                        </a:defRPr>
                      </a:pPr>
                      <a:r>
                        <a:t>Single-building only; lacks campus-wide grid view.</a:t>
                      </a:r>
                    </a:p>
                  </a:txBody>
                  <a:tcPr>
                    <a:solidFill>
                      <a:srgbClr val="FFFFFF"/>
                    </a:solidFill>
                  </a:tcPr>
                </a:tc>
              </a:tr>
              <a:tr h="1188720">
                <a:tc>
                  <a:txBody>
                    <a:bodyPr/>
                    <a:lstStyle/>
                    <a:p>
                      <a:pPr algn="ctr">
                        <a:defRPr sz="1000">
                          <a:solidFill>
                            <a:srgbClr val="0F172A"/>
                          </a:solidFill>
                        </a:defRPr>
                      </a:pPr>
                      <a:r>
                        <a:t>6</a:t>
                      </a:r>
                    </a:p>
                  </a:txBody>
                  <a:tcPr>
                    <a:solidFill>
                      <a:srgbClr val="E6EEFA"/>
                    </a:solidFill>
                  </a:tcPr>
                </a:tc>
                <a:tc>
                  <a:txBody>
                    <a:bodyPr/>
                    <a:lstStyle/>
                    <a:p>
                      <a:pPr>
                        <a:defRPr sz="1000">
                          <a:solidFill>
                            <a:srgbClr val="0F172A"/>
                          </a:solidFill>
                        </a:defRPr>
                      </a:pPr>
                      <a:r>
                        <a:t>Saraubon, Pexyean et al., Sensors, 2024</a:t>
                      </a:r>
                    </a:p>
                  </a:txBody>
                  <a:tcPr>
                    <a:solidFill>
                      <a:srgbClr val="E6EEFA"/>
                    </a:solidFill>
                  </a:tcPr>
                </a:tc>
                <a:tc>
                  <a:txBody>
                    <a:bodyPr/>
                    <a:lstStyle/>
                    <a:p>
                      <a:pPr>
                        <a:defRPr sz="1000">
                          <a:solidFill>
                            <a:srgbClr val="0F172A"/>
                          </a:solidFill>
                        </a:defRPr>
                      </a:pPr>
                      <a:r>
                        <a:t>AIoT edge gateways (ESP32/Raspberry Pi) + Modbus telemetry.</a:t>
                      </a:r>
                    </a:p>
                  </a:txBody>
                  <a:tcPr>
                    <a:solidFill>
                      <a:srgbClr val="E6EEFA"/>
                    </a:solidFill>
                  </a:tcPr>
                </a:tc>
                <a:tc>
                  <a:txBody>
                    <a:bodyPr/>
                    <a:lstStyle/>
                    <a:p>
                      <a:pPr>
                        <a:defRPr sz="1000">
                          <a:solidFill>
                            <a:srgbClr val="0F172A"/>
                          </a:solidFill>
                        </a:defRPr>
                      </a:pPr>
                      <a:r>
                        <a:t>94.6% anomaly recall; sub-second alerts</a:t>
                      </a:r>
                    </a:p>
                  </a:txBody>
                  <a:tcPr>
                    <a:solidFill>
                      <a:srgbClr val="E6EEFA"/>
                    </a:solidFill>
                  </a:tcPr>
                </a:tc>
                <a:tc>
                  <a:txBody>
                    <a:bodyPr/>
                    <a:lstStyle/>
                    <a:p>
                      <a:pPr>
                        <a:defRPr sz="1000">
                          <a:solidFill>
                            <a:srgbClr val="0F172A"/>
                          </a:solidFill>
                        </a:defRPr>
                      </a:pPr>
                      <a:r>
                        <a:t>Low-cost open-source edge hardware blueprint.</a:t>
                      </a:r>
                    </a:p>
                  </a:txBody>
                  <a:tcPr>
                    <a:solidFill>
                      <a:srgbClr val="E6EEFA"/>
                    </a:solidFill>
                  </a:tcPr>
                </a:tc>
                <a:tc>
                  <a:txBody>
                    <a:bodyPr/>
                    <a:lstStyle/>
                    <a:p>
                      <a:pPr>
                        <a:defRPr sz="1000">
                          <a:solidFill>
                            <a:srgbClr val="0F172A"/>
                          </a:solidFill>
                        </a:defRPr>
                      </a:pPr>
                      <a:r>
                        <a:t>Offline simulation only; lacks interactive 3D UI.</a:t>
                      </a:r>
                    </a:p>
                  </a:txBody>
                  <a:tcPr>
                    <a:solidFill>
                      <a:srgbClr val="E6EEF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Review of literature</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6</a:t>
            </a:r>
          </a:p>
        </p:txBody>
      </p:sp>
      <p:graphicFrame>
        <p:nvGraphicFramePr>
          <p:cNvPr id="5" name="Table 4"/>
          <p:cNvGraphicFramePr>
            <a:graphicFrameLocks noGrp="1"/>
          </p:cNvGraphicFramePr>
          <p:nvPr/>
        </p:nvGraphicFramePr>
        <p:xfrm>
          <a:off x="548640" y="1371600"/>
          <a:ext cx="11091671" cy="4754880"/>
        </p:xfrm>
        <a:graphic>
          <a:graphicData uri="http://schemas.openxmlformats.org/drawingml/2006/table">
            <a:tbl>
              <a:tblPr firstRow="1" bandRow="1">
                <a:tableStyleId>{5C22544A-7EE6-4342-B048-85BDC9FD1C3A}</a:tableStyleId>
              </a:tblPr>
              <a:tblGrid>
                <a:gridCol w="731520"/>
                <a:gridCol w="2377440"/>
                <a:gridCol w="2560320"/>
                <a:gridCol w="1645920"/>
                <a:gridCol w="1920240"/>
                <a:gridCol w="1856231"/>
              </a:tblGrid>
              <a:tr h="1188720">
                <a:tc>
                  <a:txBody>
                    <a:bodyPr/>
                    <a:lstStyle/>
                    <a:p>
                      <a:pPr algn="ctr">
                        <a:defRPr b="1" sz="1100">
                          <a:solidFill>
                            <a:srgbClr val="FFFFFF"/>
                          </a:solidFill>
                        </a:defRPr>
                      </a:pPr>
                      <a:r>
                        <a:t>S.No</a:t>
                      </a:r>
                    </a:p>
                  </a:txBody>
                  <a:tcPr>
                    <a:solidFill>
                      <a:srgbClr val="2962AF"/>
                    </a:solidFill>
                  </a:tcPr>
                </a:tc>
                <a:tc>
                  <a:txBody>
                    <a:bodyPr/>
                    <a:lstStyle/>
                    <a:p>
                      <a:pPr algn="ctr">
                        <a:defRPr b="1" sz="1100">
                          <a:solidFill>
                            <a:srgbClr val="FFFFFF"/>
                          </a:solidFill>
                        </a:defRPr>
                      </a:pPr>
                      <a:r>
                        <a:t>Author Name, Journal,</a:t>
                      </a:r>
                      <a:br/>
                      <a:r>
                        <a:t>Publication Year</a:t>
                      </a:r>
                    </a:p>
                  </a:txBody>
                  <a:tcPr>
                    <a:solidFill>
                      <a:srgbClr val="2962AF"/>
                    </a:solidFill>
                  </a:tcPr>
                </a:tc>
                <a:tc>
                  <a:txBody>
                    <a:bodyPr/>
                    <a:lstStyle/>
                    <a:p>
                      <a:pPr algn="ctr">
                        <a:defRPr b="1" sz="1100">
                          <a:solidFill>
                            <a:srgbClr val="FFFFFF"/>
                          </a:solidFill>
                        </a:defRPr>
                      </a:pPr>
                      <a:r>
                        <a:t>Research/</a:t>
                      </a:r>
                      <a:br/>
                      <a:r>
                        <a:t>Methodology</a:t>
                      </a:r>
                    </a:p>
                  </a:txBody>
                  <a:tcPr>
                    <a:solidFill>
                      <a:srgbClr val="2962AF"/>
                    </a:solidFill>
                  </a:tcPr>
                </a:tc>
                <a:tc>
                  <a:txBody>
                    <a:bodyPr/>
                    <a:lstStyle/>
                    <a:p>
                      <a:pPr algn="ctr">
                        <a:defRPr b="1" sz="1100">
                          <a:solidFill>
                            <a:srgbClr val="FFFFFF"/>
                          </a:solidFill>
                        </a:defRPr>
                      </a:pPr>
                      <a:r>
                        <a:t>Performance</a:t>
                      </a:r>
                      <a:br/>
                      <a:r>
                        <a:t>Metrics</a:t>
                      </a:r>
                    </a:p>
                  </a:txBody>
                  <a:tcPr>
                    <a:solidFill>
                      <a:srgbClr val="2962AF"/>
                    </a:solidFill>
                  </a:tcPr>
                </a:tc>
                <a:tc>
                  <a:txBody>
                    <a:bodyPr/>
                    <a:lstStyle/>
                    <a:p>
                      <a:pPr algn="ctr">
                        <a:defRPr b="1" sz="1100">
                          <a:solidFill>
                            <a:srgbClr val="FFFFFF"/>
                          </a:solidFill>
                        </a:defRPr>
                      </a:pPr>
                      <a:r>
                        <a:t>Advantages</a:t>
                      </a:r>
                    </a:p>
                  </a:txBody>
                  <a:tcPr>
                    <a:solidFill>
                      <a:srgbClr val="2962AF"/>
                    </a:solidFill>
                  </a:tcPr>
                </a:tc>
                <a:tc>
                  <a:txBody>
                    <a:bodyPr/>
                    <a:lstStyle/>
                    <a:p>
                      <a:pPr algn="ctr">
                        <a:defRPr b="1" sz="1100">
                          <a:solidFill>
                            <a:srgbClr val="FFFFFF"/>
                          </a:solidFill>
                        </a:defRPr>
                      </a:pPr>
                      <a:r>
                        <a:t>Disadvantages</a:t>
                      </a:r>
                    </a:p>
                  </a:txBody>
                  <a:tcPr>
                    <a:solidFill>
                      <a:srgbClr val="2962AF"/>
                    </a:solidFill>
                  </a:tcPr>
                </a:tc>
              </a:tr>
              <a:tr h="1188720">
                <a:tc>
                  <a:txBody>
                    <a:bodyPr/>
                    <a:lstStyle/>
                    <a:p>
                      <a:pPr algn="ctr">
                        <a:defRPr sz="1000">
                          <a:solidFill>
                            <a:srgbClr val="0F172A"/>
                          </a:solidFill>
                        </a:defRPr>
                      </a:pPr>
                      <a:r>
                        <a:t>7</a:t>
                      </a:r>
                    </a:p>
                  </a:txBody>
                  <a:tcPr>
                    <a:solidFill>
                      <a:srgbClr val="E6EEFA"/>
                    </a:solidFill>
                  </a:tcPr>
                </a:tc>
                <a:tc>
                  <a:txBody>
                    <a:bodyPr/>
                    <a:lstStyle/>
                    <a:p>
                      <a:pPr>
                        <a:defRPr sz="1000">
                          <a:solidFill>
                            <a:srgbClr val="0F172A"/>
                          </a:solidFill>
                        </a:defRPr>
                      </a:pPr>
                      <a:r>
                        <a:t>TalTech Energy Group / Campulse, Sust. Cities &amp; Soc., 2024</a:t>
                      </a:r>
                    </a:p>
                  </a:txBody>
                  <a:tcPr>
                    <a:solidFill>
                      <a:srgbClr val="E6EEFA"/>
                    </a:solidFill>
                  </a:tcPr>
                </a:tc>
                <a:tc>
                  <a:txBody>
                    <a:bodyPr/>
                    <a:lstStyle/>
                    <a:p>
                      <a:pPr>
                        <a:defRPr sz="1000">
                          <a:solidFill>
                            <a:srgbClr val="0F172A"/>
                          </a:solidFill>
                        </a:defRPr>
                      </a:pPr>
                      <a:r>
                        <a:t>Power-flow analysis + market bidding across 50+ campus buildings.</a:t>
                      </a:r>
                    </a:p>
                  </a:txBody>
                  <a:tcPr>
                    <a:solidFill>
                      <a:srgbClr val="E6EEFA"/>
                    </a:solidFill>
                  </a:tcPr>
                </a:tc>
                <a:tc>
                  <a:txBody>
                    <a:bodyPr/>
                    <a:lstStyle/>
                    <a:p>
                      <a:pPr>
                        <a:defRPr sz="1000">
                          <a:solidFill>
                            <a:srgbClr val="0F172A"/>
                          </a:solidFill>
                        </a:defRPr>
                      </a:pPr>
                      <a:r>
                        <a:t>19.5% peak shaving via coordinated battery scheduling</a:t>
                      </a:r>
                    </a:p>
                  </a:txBody>
                  <a:tcPr>
                    <a:solidFill>
                      <a:srgbClr val="E6EEFA"/>
                    </a:solidFill>
                  </a:tcPr>
                </a:tc>
                <a:tc>
                  <a:txBody>
                    <a:bodyPr/>
                    <a:lstStyle/>
                    <a:p>
                      <a:pPr>
                        <a:defRPr sz="1000">
                          <a:solidFill>
                            <a:srgbClr val="0F172A"/>
                          </a:solidFill>
                        </a:defRPr>
                      </a:pPr>
                      <a:r>
                        <a:t>Multi-year empirical dataset proving flexibility.</a:t>
                      </a:r>
                    </a:p>
                  </a:txBody>
                  <a:tcPr>
                    <a:solidFill>
                      <a:srgbClr val="E6EEFA"/>
                    </a:solidFill>
                  </a:tcPr>
                </a:tc>
                <a:tc>
                  <a:txBody>
                    <a:bodyPr/>
                    <a:lstStyle/>
                    <a:p>
                      <a:pPr>
                        <a:defRPr sz="1000">
                          <a:solidFill>
                            <a:srgbClr val="0F172A"/>
                          </a:solidFill>
                        </a:defRPr>
                      </a:pPr>
                      <a:r>
                        <a:t>Substation-level only; no occupant spatial link.</a:t>
                      </a:r>
                    </a:p>
                  </a:txBody>
                  <a:tcPr>
                    <a:solidFill>
                      <a:srgbClr val="E6EEFA"/>
                    </a:solidFill>
                  </a:tcPr>
                </a:tc>
              </a:tr>
              <a:tr h="1188720">
                <a:tc>
                  <a:txBody>
                    <a:bodyPr/>
                    <a:lstStyle/>
                    <a:p>
                      <a:pPr algn="ctr">
                        <a:defRPr sz="1000">
                          <a:solidFill>
                            <a:srgbClr val="0F172A"/>
                          </a:solidFill>
                        </a:defRPr>
                      </a:pPr>
                      <a:r>
                        <a:t>8</a:t>
                      </a:r>
                    </a:p>
                  </a:txBody>
                  <a:tcPr>
                    <a:solidFill>
                      <a:srgbClr val="FFFFFF"/>
                    </a:solidFill>
                  </a:tcPr>
                </a:tc>
                <a:tc>
                  <a:txBody>
                    <a:bodyPr/>
                    <a:lstStyle/>
                    <a:p>
                      <a:pPr>
                        <a:defRPr sz="1000">
                          <a:solidFill>
                            <a:srgbClr val="0F172A"/>
                          </a:solidFill>
                        </a:defRPr>
                      </a:pPr>
                      <a:r>
                        <a:t>Scilit / IEEE CSIT Team, IEEE Trans. Smart Systems, 2024</a:t>
                      </a:r>
                    </a:p>
                  </a:txBody>
                  <a:tcPr>
                    <a:solidFill>
                      <a:srgbClr val="FFFFFF"/>
                    </a:solidFill>
                  </a:tcPr>
                </a:tc>
                <a:tc>
                  <a:txBody>
                    <a:bodyPr/>
                    <a:lstStyle/>
                    <a:p>
                      <a:pPr>
                        <a:defRPr sz="1000">
                          <a:solidFill>
                            <a:srgbClr val="0F172A"/>
                          </a:solidFill>
                        </a:defRPr>
                      </a:pPr>
                      <a:r>
                        <a:t>SOA microservices architecture integrating 12 campus services.</a:t>
                      </a:r>
                    </a:p>
                  </a:txBody>
                  <a:tcPr>
                    <a:solidFill>
                      <a:srgbClr val="FFFFFF"/>
                    </a:solidFill>
                  </a:tcPr>
                </a:tc>
                <a:tc>
                  <a:txBody>
                    <a:bodyPr/>
                    <a:lstStyle/>
                    <a:p>
                      <a:pPr>
                        <a:defRPr sz="1000">
                          <a:solidFill>
                            <a:srgbClr val="0F172A"/>
                          </a:solidFill>
                        </a:defRPr>
                      </a:pPr>
                      <a:r>
                        <a:t>28% faster ticket resolution; 8 services unified</a:t>
                      </a:r>
                    </a:p>
                  </a:txBody>
                  <a:tcPr>
                    <a:solidFill>
                      <a:srgbClr val="FFFFFF"/>
                    </a:solidFill>
                  </a:tcPr>
                </a:tc>
                <a:tc>
                  <a:txBody>
                    <a:bodyPr/>
                    <a:lstStyle/>
                    <a:p>
                      <a:pPr>
                        <a:defRPr sz="1000">
                          <a:solidFill>
                            <a:srgbClr val="0F172A"/>
                          </a:solidFill>
                        </a:defRPr>
                      </a:pPr>
                      <a:r>
                        <a:t>Resilient architectural pattern for large universities.</a:t>
                      </a:r>
                    </a:p>
                  </a:txBody>
                  <a:tcPr>
                    <a:solidFill>
                      <a:srgbClr val="FFFFFF"/>
                    </a:solidFill>
                  </a:tcPr>
                </a:tc>
                <a:tc>
                  <a:txBody>
                    <a:bodyPr/>
                    <a:lstStyle/>
                    <a:p>
                      <a:pPr>
                        <a:defRPr sz="1000">
                          <a:solidFill>
                            <a:srgbClr val="0F172A"/>
                          </a:solidFill>
                        </a:defRPr>
                      </a:pPr>
                      <a:r>
                        <a:t>Monolithic backend; latency under concurrent load.</a:t>
                      </a:r>
                    </a:p>
                  </a:txBody>
                  <a:tcPr>
                    <a:solidFill>
                      <a:srgbClr val="FFFFFF"/>
                    </a:solidFill>
                  </a:tcPr>
                </a:tc>
              </a:tr>
              <a:tr h="1188720">
                <a:tc>
                  <a:txBody>
                    <a:bodyPr/>
                    <a:lstStyle/>
                    <a:p>
                      <a:pPr algn="ctr">
                        <a:defRPr sz="1000">
                          <a:solidFill>
                            <a:srgbClr val="0F172A"/>
                          </a:solidFill>
                        </a:defRPr>
                      </a:pPr>
                      <a:r>
                        <a:t>9</a:t>
                      </a:r>
                    </a:p>
                  </a:txBody>
                  <a:tcPr>
                    <a:solidFill>
                      <a:srgbClr val="E6EEFA"/>
                    </a:solidFill>
                  </a:tcPr>
                </a:tc>
                <a:tc>
                  <a:txBody>
                    <a:bodyPr/>
                    <a:lstStyle/>
                    <a:p>
                      <a:pPr>
                        <a:defRPr sz="1000">
                          <a:solidFill>
                            <a:srgbClr val="0F172A"/>
                          </a:solidFill>
                        </a:defRPr>
                      </a:pPr>
                      <a:r>
                        <a:t>Taylor &amp; Francis / Spatial Science, Int. J. Digital Earth, 2024</a:t>
                      </a:r>
                    </a:p>
                  </a:txBody>
                  <a:tcPr>
                    <a:solidFill>
                      <a:srgbClr val="E6EEFA"/>
                    </a:solidFill>
                  </a:tcPr>
                </a:tc>
                <a:tc>
                  <a:txBody>
                    <a:bodyPr/>
                    <a:lstStyle/>
                    <a:p>
                      <a:pPr>
                        <a:defRPr sz="1000">
                          <a:solidFill>
                            <a:srgbClr val="0F172A"/>
                          </a:solidFill>
                        </a:defRPr>
                      </a:pPr>
                      <a:r>
                        <a:t>Drone photogrammetry + LiDAR + WebGL rendering on 40-ha campus.</a:t>
                      </a:r>
                    </a:p>
                  </a:txBody>
                  <a:tcPr>
                    <a:solidFill>
                      <a:srgbClr val="E6EEFA"/>
                    </a:solidFill>
                  </a:tcPr>
                </a:tc>
                <a:tc>
                  <a:txBody>
                    <a:bodyPr/>
                    <a:lstStyle/>
                    <a:p>
                      <a:pPr>
                        <a:defRPr sz="1000">
                          <a:solidFill>
                            <a:srgbClr val="0F172A"/>
                          </a:solidFill>
                        </a:defRPr>
                      </a:pPr>
                      <a:r>
                        <a:t>Millimetre-accurate mesh; interactive browser query</a:t>
                      </a:r>
                    </a:p>
                  </a:txBody>
                  <a:tcPr>
                    <a:solidFill>
                      <a:srgbClr val="E6EEFA"/>
                    </a:solidFill>
                  </a:tcPr>
                </a:tc>
                <a:tc>
                  <a:txBody>
                    <a:bodyPr/>
                    <a:lstStyle/>
                    <a:p>
                      <a:pPr>
                        <a:defRPr sz="1000">
                          <a:solidFill>
                            <a:srgbClr val="0F172A"/>
                          </a:solidFill>
                        </a:defRPr>
                      </a:pPr>
                      <a:r>
                        <a:t>Robust photogrammetry-to-WebGL asset pipeline.</a:t>
                      </a:r>
                    </a:p>
                  </a:txBody>
                  <a:tcPr>
                    <a:solidFill>
                      <a:srgbClr val="E6EEFA"/>
                    </a:solidFill>
                  </a:tcPr>
                </a:tc>
                <a:tc>
                  <a:txBody>
                    <a:bodyPr/>
                    <a:lstStyle/>
                    <a:p>
                      <a:pPr>
                        <a:defRPr sz="1000">
                          <a:solidFill>
                            <a:srgbClr val="0F172A"/>
                          </a:solidFill>
                        </a:defRPr>
                      </a:pPr>
                      <a:r>
                        <a:t>50GB+ dataset; frame drops at high polygon counts.</a:t>
                      </a:r>
                    </a:p>
                  </a:txBody>
                  <a:tcPr>
                    <a:solidFill>
                      <a:srgbClr val="E6EEF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Review of literature</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7</a:t>
            </a:r>
          </a:p>
        </p:txBody>
      </p:sp>
      <p:graphicFrame>
        <p:nvGraphicFramePr>
          <p:cNvPr id="5" name="Table 4"/>
          <p:cNvGraphicFramePr>
            <a:graphicFrameLocks noGrp="1"/>
          </p:cNvGraphicFramePr>
          <p:nvPr/>
        </p:nvGraphicFramePr>
        <p:xfrm>
          <a:off x="548640" y="1371600"/>
          <a:ext cx="11091671" cy="4754880"/>
        </p:xfrm>
        <a:graphic>
          <a:graphicData uri="http://schemas.openxmlformats.org/drawingml/2006/table">
            <a:tbl>
              <a:tblPr firstRow="1" bandRow="1">
                <a:tableStyleId>{5C22544A-7EE6-4342-B048-85BDC9FD1C3A}</a:tableStyleId>
              </a:tblPr>
              <a:tblGrid>
                <a:gridCol w="731520"/>
                <a:gridCol w="2377440"/>
                <a:gridCol w="2560320"/>
                <a:gridCol w="1645920"/>
                <a:gridCol w="1920240"/>
                <a:gridCol w="1856231"/>
              </a:tblGrid>
              <a:tr h="2377440">
                <a:tc>
                  <a:txBody>
                    <a:bodyPr/>
                    <a:lstStyle/>
                    <a:p>
                      <a:pPr algn="ctr">
                        <a:defRPr b="1" sz="1100">
                          <a:solidFill>
                            <a:srgbClr val="FFFFFF"/>
                          </a:solidFill>
                        </a:defRPr>
                      </a:pPr>
                      <a:r>
                        <a:t>S.No</a:t>
                      </a:r>
                    </a:p>
                  </a:txBody>
                  <a:tcPr>
                    <a:solidFill>
                      <a:srgbClr val="2962AF"/>
                    </a:solidFill>
                  </a:tcPr>
                </a:tc>
                <a:tc>
                  <a:txBody>
                    <a:bodyPr/>
                    <a:lstStyle/>
                    <a:p>
                      <a:pPr algn="ctr">
                        <a:defRPr b="1" sz="1100">
                          <a:solidFill>
                            <a:srgbClr val="FFFFFF"/>
                          </a:solidFill>
                        </a:defRPr>
                      </a:pPr>
                      <a:r>
                        <a:t>Author Name, Journal,</a:t>
                      </a:r>
                      <a:br/>
                      <a:r>
                        <a:t>Publication Year</a:t>
                      </a:r>
                    </a:p>
                  </a:txBody>
                  <a:tcPr>
                    <a:solidFill>
                      <a:srgbClr val="2962AF"/>
                    </a:solidFill>
                  </a:tcPr>
                </a:tc>
                <a:tc>
                  <a:txBody>
                    <a:bodyPr/>
                    <a:lstStyle/>
                    <a:p>
                      <a:pPr algn="ctr">
                        <a:defRPr b="1" sz="1100">
                          <a:solidFill>
                            <a:srgbClr val="FFFFFF"/>
                          </a:solidFill>
                        </a:defRPr>
                      </a:pPr>
                      <a:r>
                        <a:t>Research/</a:t>
                      </a:r>
                      <a:br/>
                      <a:r>
                        <a:t>Methodology</a:t>
                      </a:r>
                    </a:p>
                  </a:txBody>
                  <a:tcPr>
                    <a:solidFill>
                      <a:srgbClr val="2962AF"/>
                    </a:solidFill>
                  </a:tcPr>
                </a:tc>
                <a:tc>
                  <a:txBody>
                    <a:bodyPr/>
                    <a:lstStyle/>
                    <a:p>
                      <a:pPr algn="ctr">
                        <a:defRPr b="1" sz="1100">
                          <a:solidFill>
                            <a:srgbClr val="FFFFFF"/>
                          </a:solidFill>
                        </a:defRPr>
                      </a:pPr>
                      <a:r>
                        <a:t>Performance</a:t>
                      </a:r>
                      <a:br/>
                      <a:r>
                        <a:t>Metrics</a:t>
                      </a:r>
                    </a:p>
                  </a:txBody>
                  <a:tcPr>
                    <a:solidFill>
                      <a:srgbClr val="2962AF"/>
                    </a:solidFill>
                  </a:tcPr>
                </a:tc>
                <a:tc>
                  <a:txBody>
                    <a:bodyPr/>
                    <a:lstStyle/>
                    <a:p>
                      <a:pPr algn="ctr">
                        <a:defRPr b="1" sz="1100">
                          <a:solidFill>
                            <a:srgbClr val="FFFFFF"/>
                          </a:solidFill>
                        </a:defRPr>
                      </a:pPr>
                      <a:r>
                        <a:t>Advantages</a:t>
                      </a:r>
                    </a:p>
                  </a:txBody>
                  <a:tcPr>
                    <a:solidFill>
                      <a:srgbClr val="2962AF"/>
                    </a:solidFill>
                  </a:tcPr>
                </a:tc>
                <a:tc>
                  <a:txBody>
                    <a:bodyPr/>
                    <a:lstStyle/>
                    <a:p>
                      <a:pPr algn="ctr">
                        <a:defRPr b="1" sz="1100">
                          <a:solidFill>
                            <a:srgbClr val="FFFFFF"/>
                          </a:solidFill>
                        </a:defRPr>
                      </a:pPr>
                      <a:r>
                        <a:t>Disadvantages</a:t>
                      </a:r>
                    </a:p>
                  </a:txBody>
                  <a:tcPr>
                    <a:solidFill>
                      <a:srgbClr val="2962AF"/>
                    </a:solidFill>
                  </a:tcPr>
                </a:tc>
              </a:tr>
              <a:tr h="2377440">
                <a:tc>
                  <a:txBody>
                    <a:bodyPr/>
                    <a:lstStyle/>
                    <a:p>
                      <a:pPr algn="ctr">
                        <a:defRPr sz="1000">
                          <a:solidFill>
                            <a:srgbClr val="0F172A"/>
                          </a:solidFill>
                        </a:defRPr>
                      </a:pPr>
                      <a:r>
                        <a:t>10</a:t>
                      </a:r>
                    </a:p>
                  </a:txBody>
                  <a:tcPr>
                    <a:solidFill>
                      <a:srgbClr val="E6EEFA"/>
                    </a:solidFill>
                  </a:tcPr>
                </a:tc>
                <a:tc>
                  <a:txBody>
                    <a:bodyPr/>
                    <a:lstStyle/>
                    <a:p>
                      <a:pPr>
                        <a:defRPr sz="1000">
                          <a:solidFill>
                            <a:srgbClr val="0F172A"/>
                          </a:solidFill>
                        </a:defRPr>
                      </a:pPr>
                      <a:r>
                        <a:t>Frontiers / IEEE PES Review, Front. Clean Energy, 2025–2026</a:t>
                      </a:r>
                    </a:p>
                  </a:txBody>
                  <a:tcPr>
                    <a:solidFill>
                      <a:srgbClr val="E6EEFA"/>
                    </a:solidFill>
                  </a:tcPr>
                </a:tc>
                <a:tc>
                  <a:txBody>
                    <a:bodyPr/>
                    <a:lstStyle/>
                    <a:p>
                      <a:pPr>
                        <a:defRPr sz="1000">
                          <a:solidFill>
                            <a:srgbClr val="0F172A"/>
                          </a:solidFill>
                        </a:defRPr>
                      </a:pPr>
                      <a:r>
                        <a:t>PRISMA systematic literature review of 148 papers across 24 nations.</a:t>
                      </a:r>
                    </a:p>
                  </a:txBody>
                  <a:tcPr>
                    <a:solidFill>
                      <a:srgbClr val="E6EEFA"/>
                    </a:solidFill>
                  </a:tcPr>
                </a:tc>
                <a:tc>
                  <a:txBody>
                    <a:bodyPr/>
                    <a:lstStyle/>
                    <a:p>
                      <a:pPr>
                        <a:defRPr sz="1000">
                          <a:solidFill>
                            <a:srgbClr val="0F172A"/>
                          </a:solidFill>
                        </a:defRPr>
                      </a:pPr>
                      <a:r>
                        <a:t>&lt;8% of studies unify 3D spatial view with microgrids</a:t>
                      </a:r>
                    </a:p>
                  </a:txBody>
                  <a:tcPr>
                    <a:solidFill>
                      <a:srgbClr val="E6EEFA"/>
                    </a:solidFill>
                  </a:tcPr>
                </a:tc>
                <a:tc>
                  <a:txBody>
                    <a:bodyPr/>
                    <a:lstStyle/>
                    <a:p>
                      <a:pPr>
                        <a:defRPr sz="1000">
                          <a:solidFill>
                            <a:srgbClr val="0F172A"/>
                          </a:solidFill>
                        </a:defRPr>
                      </a:pPr>
                      <a:r>
                        <a:t>Comprehensive taxonomy of digital-twin frameworks.</a:t>
                      </a:r>
                    </a:p>
                  </a:txBody>
                  <a:tcPr>
                    <a:solidFill>
                      <a:srgbClr val="E6EEFA"/>
                    </a:solidFill>
                  </a:tcPr>
                </a:tc>
                <a:tc>
                  <a:txBody>
                    <a:bodyPr/>
                    <a:lstStyle/>
                    <a:p>
                      <a:pPr>
                        <a:defRPr sz="1000">
                          <a:solidFill>
                            <a:srgbClr val="0F172A"/>
                          </a:solidFill>
                        </a:defRPr>
                      </a:pPr>
                      <a:r>
                        <a:t>Review-based; lacks unified live implementation.</a:t>
                      </a:r>
                    </a:p>
                  </a:txBody>
                  <a:tcPr>
                    <a:solidFill>
                      <a:srgbClr val="E6EE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Observations from Literature Review</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8</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1600"/>
              </a:spcAft>
              <a:defRPr sz="1800">
                <a:solidFill>
                  <a:srgbClr val="1E293B"/>
                </a:solidFill>
              </a:defRPr>
            </a:pPr>
            <a:r>
              <a:t>1. Video and telemetry analysis methods can automate parts of campus resource monitoring and reduce the need for continuous manual observation.</a:t>
            </a:r>
          </a:p>
          <a:p>
            <a:pPr>
              <a:spcAft>
                <a:spcPts val="1600"/>
              </a:spcAft>
              <a:defRPr sz="1800">
                <a:solidFill>
                  <a:srgbClr val="1E293B"/>
                </a:solidFill>
              </a:defRPr>
            </a:pPr>
            <a:r>
              <a:t>2. Spatial occupancy tracking and schedule analysis are useful for coordinating activities across multi-floor academic areas.</a:t>
            </a:r>
          </a:p>
          <a:p>
            <a:pPr>
              <a:spcAft>
                <a:spcPts val="1600"/>
              </a:spcAft>
              <a:defRPr sz="1800">
                <a:solidFill>
                  <a:srgbClr val="1E293B"/>
                </a:solidFill>
              </a:defRPr>
            </a:pPr>
            <a:r>
              <a:t>3. Demand monitoring can identify situations where power draw or room vacancy exceeds a predefined operational threshold.</a:t>
            </a:r>
          </a:p>
          <a:p>
            <a:pPr>
              <a:spcAft>
                <a:spcPts val="1600"/>
              </a:spcAft>
              <a:defRPr sz="1800">
                <a:solidFill>
                  <a:srgbClr val="1E293B"/>
                </a:solidFill>
              </a:defRPr>
            </a:pPr>
            <a:r>
              <a:t>4. Optimization performance depends on data quality, schedule adherence, thermal inertia and campus layout complexity.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LIMITATIONS FROM THE LITERATURE REVIEW</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9</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1600"/>
              </a:spcAft>
              <a:defRPr sz="1800">
                <a:solidFill>
                  <a:srgbClr val="1E293B"/>
                </a:solidFill>
              </a:defRPr>
            </a:pPr>
            <a:r>
              <a:t>1. Models trained on isolated benchmark datasets may not perform equally well in every real campus environment.</a:t>
            </a:r>
          </a:p>
          <a:p>
            <a:pPr>
              <a:spcAft>
                <a:spcPts val="1600"/>
              </a:spcAft>
              <a:defRPr sz="1800">
                <a:solidFill>
                  <a:srgbClr val="1E293B"/>
                </a:solidFill>
              </a:defRPr>
            </a:pPr>
            <a:r>
              <a:t>2. Crowded halls, schedule changes and unrecorded cancellations can affect utilization detection.</a:t>
            </a:r>
          </a:p>
          <a:p>
            <a:pPr>
              <a:spcAft>
                <a:spcPts val="1600"/>
              </a:spcAft>
              <a:defRPr sz="1800">
                <a:solidFill>
                  <a:srgbClr val="1E293B"/>
                </a:solidFill>
              </a:defRPr>
            </a:pPr>
            <a:r>
              <a:t>3. Temporary room absence does not always indicate a vacant class and requires appropriate time context.</a:t>
            </a:r>
          </a:p>
          <a:p>
            <a:pPr>
              <a:spcAft>
                <a:spcPts val="1600"/>
              </a:spcAft>
              <a:defRPr sz="1800">
                <a:solidFill>
                  <a:srgbClr val="1E293B"/>
                </a:solidFill>
              </a:defRPr>
            </a:pPr>
            <a:r>
              <a:t>4. Continuous 3D spatial rendering and telemetry processing may require considerable computing resources.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Problem Statement / Scope of the Project</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10</a:t>
            </a: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600"/>
              </a:spcAft>
              <a:defRPr b="1" sz="2000">
                <a:solidFill>
                  <a:srgbClr val="0F172A"/>
                </a:solidFill>
              </a:defRPr>
            </a:pPr>
            <a:r>
              <a:t>PROBLEM STATEMENT</a:t>
            </a:r>
          </a:p>
          <a:p>
            <a:pPr>
              <a:spcAft>
                <a:spcPts val="1600"/>
              </a:spcAft>
              <a:defRPr sz="1700">
                <a:solidFill>
                  <a:srgbClr val="1E293B"/>
                </a:solidFill>
              </a:defRPr>
            </a:pPr>
            <a:r>
              <a:t>Conventional manual facility tracking places a significant workload on administrative personnel who must coordinate several academic blocks simultaneously. This can delay the identification of vacant classrooms, timetable clashes and other potential utility inefficiencies.</a:t>
            </a:r>
          </a:p>
          <a:p>
            <a:pPr>
              <a:spcAft>
                <a:spcPts val="600"/>
              </a:spcAft>
              <a:defRPr b="1" sz="2000">
                <a:solidFill>
                  <a:srgbClr val="0F172A"/>
                </a:solidFill>
              </a:defRPr>
            </a:pPr>
            <a:r>
              <a:t>Project Scope</a:t>
            </a:r>
          </a:p>
          <a:p>
            <a:pPr>
              <a:spcAft>
                <a:spcPts val="400"/>
              </a:spcAft>
              <a:defRPr sz="1700">
                <a:solidFill>
                  <a:srgbClr val="1E293B"/>
                </a:solidFill>
              </a:defRPr>
            </a:pPr>
            <a:r>
              <a:t>1. Classroom and facility visualization from 3D model input.</a:t>
            </a:r>
          </a:p>
          <a:p>
            <a:pPr>
              <a:spcAft>
                <a:spcPts val="400"/>
              </a:spcAft>
              <a:defRPr sz="1700">
                <a:solidFill>
                  <a:srgbClr val="1E293B"/>
                </a:solidFill>
              </a:defRPr>
            </a:pPr>
            <a:r>
              <a:t>2. Monitoring occupancy schedules across predefined academic zones.</a:t>
            </a:r>
          </a:p>
          <a:p>
            <a:pPr>
              <a:spcAft>
                <a:spcPts val="400"/>
              </a:spcAft>
              <a:defRPr sz="1700">
                <a:solidFill>
                  <a:srgbClr val="1E293B"/>
                </a:solidFill>
              </a:defRPr>
            </a:pPr>
            <a:r>
              <a:t>3. Energy threshold and vacancy setback alerts.</a:t>
            </a:r>
          </a:p>
          <a:p>
            <a:pPr>
              <a:spcAft>
                <a:spcPts val="400"/>
              </a:spcAft>
              <a:defRPr sz="1700">
                <a:solidFill>
                  <a:srgbClr val="1E293B"/>
                </a:solidFill>
              </a:defRPr>
            </a:pPr>
            <a:r>
              <a:t>4. Schedule optimization and dashboard-based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Proposed Idea / Solution</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11</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1200"/>
              </a:spcAft>
              <a:defRPr sz="1800">
                <a:solidFill>
                  <a:srgbClr val="1E293B"/>
                </a:solidFill>
              </a:defRPr>
            </a:pPr>
            <a:r>
              <a:t>The proposed system combines 3D spatial visualization, detection rules and a centralized dashboard to support campus resource management.</a:t>
            </a:r>
          </a:p>
          <a:p>
            <a:pPr>
              <a:spcAft>
                <a:spcPts val="1200"/>
              </a:spcAft>
              <a:defRPr sz="1800">
                <a:solidFill>
                  <a:srgbClr val="1E293B"/>
                </a:solidFill>
              </a:defRPr>
            </a:pPr>
            <a:r>
              <a:t>Campus data is processed to identify utilization in the monitored area. Configurable rules check vacant-room conditioning and peak energy thresholds. When a rule is triggered, the event is recorded with its timestamp and resource metric. The dashboard presents utilization history for review.</a:t>
            </a:r>
          </a:p>
          <a:p>
            <a:pPr>
              <a:defRPr sz="1800">
                <a:solidFill>
                  <a:srgbClr val="1E293B"/>
                </a:solidFill>
              </a:defRPr>
            </a:pPr>
            <a:r>
              <a:t>The initial prototype runs on a computer using web technologies, without requiring dedicated IoT hardware.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Objectives of the Idea / Solution as Design Project</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12</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1800"/>
              </a:spcAft>
              <a:defRPr sz="1800">
                <a:solidFill>
                  <a:srgbClr val="1E293B"/>
                </a:solidFill>
              </a:defRPr>
            </a:pPr>
            <a:r>
              <a:t>1. Develop a software prototype for campus resource management using web input.</a:t>
            </a:r>
          </a:p>
          <a:p>
            <a:pPr>
              <a:spcAft>
                <a:spcPts val="1800"/>
              </a:spcAft>
              <a:defRPr sz="1800">
                <a:solidFill>
                  <a:srgbClr val="1E293B"/>
                </a:solidFill>
              </a:defRPr>
            </a:pPr>
            <a:r>
              <a:t>2. Monitor classrooms and facilities in the interactive campus view.</a:t>
            </a:r>
          </a:p>
          <a:p>
            <a:pPr>
              <a:spcAft>
                <a:spcPts val="1800"/>
              </a:spcAft>
              <a:defRPr sz="1800">
                <a:solidFill>
                  <a:srgbClr val="1E293B"/>
                </a:solidFill>
              </a:defRPr>
            </a:pPr>
            <a:r>
              <a:t>3. Automate scheduling to eliminate classroom timetable clashes.</a:t>
            </a:r>
          </a:p>
          <a:p>
            <a:pPr>
              <a:spcAft>
                <a:spcPts val="1800"/>
              </a:spcAft>
              <a:defRPr sz="1800">
                <a:solidFill>
                  <a:srgbClr val="1E293B"/>
                </a:solidFill>
              </a:defRPr>
            </a:pPr>
            <a:r>
              <a:t>4. Generate alerts when the detected vacancy reaches a configured threshold.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Proposed Research / Methodology</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13</a:t>
            </a:r>
          </a:p>
        </p:txBody>
      </p:sp>
      <p:sp>
        <p:nvSpPr>
          <p:cNvPr id="5" name="TextBox 4"/>
          <p:cNvSpPr txBox="1"/>
          <p:nvPr/>
        </p:nvSpPr>
        <p:spPr>
          <a:xfrm>
            <a:off x="731520" y="1463040"/>
            <a:ext cx="10515600" cy="4937760"/>
          </a:xfrm>
          <a:prstGeom prst="rect">
            <a:avLst/>
          </a:prstGeom>
          <a:noFill/>
        </p:spPr>
        <p:txBody>
          <a:bodyPr wrap="square">
            <a:spAutoFit/>
          </a:bodyPr>
          <a:lstStyle/>
          <a:p>
            <a:pPr>
              <a:spcAft>
                <a:spcPts val="800"/>
              </a:spcAft>
              <a:defRPr sz="1650">
                <a:solidFill>
                  <a:srgbClr val="1E293B"/>
                </a:solidFill>
              </a:defRPr>
            </a:pPr>
            <a:r>
              <a:t>1. Data Input: Ingest timetables and utility records through portal dumps or simulated data.</a:t>
            </a:r>
          </a:p>
          <a:p>
            <a:pPr>
              <a:spcAft>
                <a:spcPts val="800"/>
              </a:spcAft>
              <a:defRPr sz="1650">
                <a:solidFill>
                  <a:srgbClr val="1E293B"/>
                </a:solidFill>
              </a:defRPr>
            </a:pPr>
            <a:r>
              <a:t>2. Data Processing: Use Python and Pandas to prepare records for analysis.</a:t>
            </a:r>
          </a:p>
          <a:p>
            <a:pPr>
              <a:spcAft>
                <a:spcPts val="800"/>
              </a:spcAft>
              <a:defRPr sz="1650">
                <a:solidFill>
                  <a:srgbClr val="1E293B"/>
                </a:solidFill>
              </a:defRPr>
            </a:pPr>
            <a:r>
              <a:t>3. Space Optimization: Apply constraint satisfaction logic to allocate rooms without clashes.</a:t>
            </a:r>
          </a:p>
          <a:p>
            <a:pPr>
              <a:spcAft>
                <a:spcPts val="800"/>
              </a:spcAft>
              <a:defRPr sz="1650">
                <a:solidFill>
                  <a:srgbClr val="1E293B"/>
                </a:solidFill>
              </a:defRPr>
            </a:pPr>
            <a:r>
              <a:t>4. Event Rules: Check room allocations against the schedule boundary and vacancy threshold.</a:t>
            </a:r>
          </a:p>
          <a:p>
            <a:pPr>
              <a:spcAft>
                <a:spcPts val="800"/>
              </a:spcAft>
              <a:defRPr sz="1650">
                <a:solidFill>
                  <a:srgbClr val="1E293B"/>
                </a:solidFill>
              </a:defRPr>
            </a:pPr>
            <a:r>
              <a:t>5. Telemetry Logging: Record the timestamp, event type and power metric in a CSV file.</a:t>
            </a:r>
          </a:p>
          <a:p>
            <a:pPr>
              <a:spcAft>
                <a:spcPts val="800"/>
              </a:spcAft>
              <a:defRPr sz="1650">
                <a:solidFill>
                  <a:srgbClr val="1E293B"/>
                </a:solidFill>
              </a:defRPr>
            </a:pPr>
            <a:r>
              <a:t>6. Dashboard: Use React and Three.js to display event summaries and utilization history.</a:t>
            </a:r>
          </a:p>
          <a:p>
            <a:pPr>
              <a:spcAft>
                <a:spcPts val="800"/>
              </a:spcAft>
              <a:defRPr sz="1650">
                <a:solidFill>
                  <a:srgbClr val="1E293B"/>
                </a:solidFill>
              </a:defRPr>
            </a:pPr>
            <a:r>
              <a:t>7. Testing: Verify allocation generation, logging and dashboard behaviour under different conditions.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HARDWARE REQUIREMENTS</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14</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1200"/>
              </a:spcAft>
              <a:defRPr sz="1800">
                <a:solidFill>
                  <a:srgbClr val="1E293B"/>
                </a:solidFill>
              </a:defRPr>
            </a:pPr>
            <a:r>
              <a:t>• Laptop or desktop computer for running the application.</a:t>
            </a:r>
          </a:p>
          <a:p>
            <a:pPr>
              <a:spcAft>
                <a:spcPts val="1200"/>
              </a:spcAft>
              <a:defRPr sz="1800">
                <a:solidFill>
                  <a:srgbClr val="1E293B"/>
                </a:solidFill>
              </a:defRPr>
            </a:pPr>
            <a:r>
              <a:t>• Standard web browser with WebGL support for 3D model rendering.</a:t>
            </a:r>
          </a:p>
          <a:p>
            <a:pPr>
              <a:spcAft>
                <a:spcPts val="1200"/>
              </a:spcAft>
              <a:defRPr sz="1800">
                <a:solidFill>
                  <a:srgbClr val="1E293B"/>
                </a:solidFill>
              </a:defRPr>
            </a:pPr>
            <a:r>
              <a:t>• Minimum 8 GB RAM recommended for development and testing.</a:t>
            </a:r>
          </a:p>
          <a:p>
            <a:pPr>
              <a:spcAft>
                <a:spcPts val="1200"/>
              </a:spcAft>
              <a:defRPr sz="1800">
                <a:solidFill>
                  <a:srgbClr val="1E293B"/>
                </a:solidFill>
              </a:defRPr>
            </a:pPr>
            <a:r>
              <a:t>• Adequate storage for software, model files and campus records.</a:t>
            </a:r>
          </a:p>
          <a:p>
            <a:pPr>
              <a:spcBef>
                <a:spcPts val="1600"/>
              </a:spcBef>
              <a:defRPr sz="1800">
                <a:solidFill>
                  <a:srgbClr val="334155"/>
                </a:solidFill>
              </a:defRPr>
            </a:pPr>
            <a:r>
              <a:t>The current prototype uses a computer and browser. Dedicated IoT devices are not required for the implemented modules.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Results and Discussion</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15</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1600"/>
              </a:spcAft>
              <a:defRPr sz="1800">
                <a:solidFill>
                  <a:srgbClr val="1E293B"/>
                </a:solidFill>
              </a:defRPr>
            </a:pPr>
            <a:r>
              <a:t>The proposed system provides an automated and intelligent approach to campus resource management by analyzing spatial occupancy to identify vacancies, track load curves, and detect unusual or wasteful operations. When an idle conditioned hall is detected, the system generates alerts and stores the telemetry details for facility personnel.</a:t>
            </a:r>
          </a:p>
          <a:p>
            <a:pPr>
              <a:defRPr sz="1800">
                <a:solidFill>
                  <a:srgbClr val="1E293B"/>
                </a:solidFill>
              </a:defRPr>
            </a:pPr>
            <a:r>
              <a:t>This helps reduce continuous manual monitoring, improve situational awareness, and support a faster response to campus utility anomalies. Further testing can help improve its forecasting and scheduling in real campus environments.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SOFTWARE REQUIREMENTS</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16</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750">
                <a:solidFill>
                  <a:srgbClr val="1E293B"/>
                </a:solidFill>
              </a:defRPr>
            </a:pPr>
            <a:r>
              <a:t>1. Python: Application logic and event processing.</a:t>
            </a:r>
          </a:p>
          <a:p>
            <a:pPr>
              <a:spcAft>
                <a:spcPts val="800"/>
              </a:spcAft>
              <a:defRPr sz="1750">
                <a:solidFill>
                  <a:srgbClr val="1E293B"/>
                </a:solidFill>
              </a:defRPr>
            </a:pPr>
            <a:r>
              <a:t>2. Three.js: WebGL 3D graphics engine for interactive campus model.</a:t>
            </a:r>
          </a:p>
          <a:p>
            <a:pPr>
              <a:spcAft>
                <a:spcPts val="800"/>
              </a:spcAft>
              <a:defRPr sz="1750">
                <a:solidFill>
                  <a:srgbClr val="1E293B"/>
                </a:solidFill>
              </a:defRPr>
            </a:pPr>
            <a:r>
              <a:t>3. React.js: Web frontend for the resource dashboard.</a:t>
            </a:r>
          </a:p>
          <a:p>
            <a:pPr>
              <a:spcAft>
                <a:spcPts val="800"/>
              </a:spcAft>
              <a:defRPr sz="1750">
                <a:solidFill>
                  <a:srgbClr val="1E293B"/>
                </a:solidFill>
              </a:defRPr>
            </a:pPr>
            <a:r>
              <a:t>4. Google OR-Tools: Constraint satisfaction timetable optimization.</a:t>
            </a:r>
          </a:p>
          <a:p>
            <a:pPr>
              <a:spcAft>
                <a:spcPts val="800"/>
              </a:spcAft>
              <a:defRPr sz="1750">
                <a:solidFill>
                  <a:srgbClr val="1E293B"/>
                </a:solidFill>
              </a:defRPr>
            </a:pPr>
            <a:r>
              <a:t>5. HTML/CSS: Dashboard layout and presentation.</a:t>
            </a:r>
          </a:p>
          <a:p>
            <a:pPr>
              <a:spcAft>
                <a:spcPts val="800"/>
              </a:spcAft>
              <a:defRPr sz="1750">
                <a:solidFill>
                  <a:srgbClr val="1E293B"/>
                </a:solidFill>
              </a:defRPr>
            </a:pPr>
            <a:r>
              <a:t>6. CSV: Storage and export of campus utilization records.</a:t>
            </a:r>
          </a:p>
          <a:p>
            <a:pPr>
              <a:spcAft>
                <a:spcPts val="800"/>
              </a:spcAft>
              <a:defRPr sz="1750">
                <a:solidFill>
                  <a:srgbClr val="1E293B"/>
                </a:solidFill>
              </a:defRPr>
            </a:pPr>
            <a:r>
              <a:t>7. Visual Studio Code: Application development and code editing.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Proposed Modules</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17</a:t>
            </a:r>
          </a:p>
        </p:txBody>
      </p:sp>
      <p:sp>
        <p:nvSpPr>
          <p:cNvPr id="5" name="TextBox 4"/>
          <p:cNvSpPr txBox="1"/>
          <p:nvPr/>
        </p:nvSpPr>
        <p:spPr>
          <a:xfrm>
            <a:off x="731520" y="1463040"/>
            <a:ext cx="10515600" cy="4937760"/>
          </a:xfrm>
          <a:prstGeom prst="rect">
            <a:avLst/>
          </a:prstGeom>
          <a:noFill/>
        </p:spPr>
        <p:txBody>
          <a:bodyPr wrap="square">
            <a:spAutoFit/>
          </a:bodyPr>
          <a:lstStyle/>
          <a:p>
            <a:pPr>
              <a:defRPr b="1" sz="1650">
                <a:solidFill>
                  <a:srgbClr val="0F172A"/>
                </a:solidFill>
              </a:defRPr>
            </a:pPr>
            <a:r>
              <a:t>1. 3D Model Input and Room Inspection</a:t>
            </a:r>
          </a:p>
          <a:p>
            <a:pPr>
              <a:spcAft>
                <a:spcPts val="600"/>
              </a:spcAft>
              <a:defRPr sz="1550">
                <a:solidFill>
                  <a:srgbClr val="334155"/>
                </a:solidFill>
              </a:defRPr>
            </a:pPr>
            <a:r>
              <a:t>Loads campus geometry and visualizes classrooms in the scene.</a:t>
            </a:r>
          </a:p>
          <a:p>
            <a:pPr>
              <a:defRPr b="1" sz="1650">
                <a:solidFill>
                  <a:srgbClr val="0F172A"/>
                </a:solidFill>
              </a:defRPr>
            </a:pPr>
            <a:r>
              <a:t>2. Space Occupancy Monitoring</a:t>
            </a:r>
          </a:p>
          <a:p>
            <a:pPr>
              <a:spcAft>
                <a:spcPts val="600"/>
              </a:spcAft>
              <a:defRPr sz="1550">
                <a:solidFill>
                  <a:srgbClr val="334155"/>
                </a:solidFill>
              </a:defRPr>
            </a:pPr>
            <a:r>
              <a:t>Checks whether scheduled classrooms are occupied during lecture hours.</a:t>
            </a:r>
          </a:p>
          <a:p>
            <a:pPr>
              <a:defRPr b="1" sz="1650">
                <a:solidFill>
                  <a:srgbClr val="0F172A"/>
                </a:solidFill>
              </a:defRPr>
            </a:pPr>
            <a:r>
              <a:t>3. Energy Threshold Monitoring</a:t>
            </a:r>
          </a:p>
          <a:p>
            <a:pPr>
              <a:spcAft>
                <a:spcPts val="600"/>
              </a:spcAft>
              <a:defRPr sz="1550">
                <a:solidFill>
                  <a:srgbClr val="334155"/>
                </a:solidFill>
              </a:defRPr>
            </a:pPr>
            <a:r>
              <a:t>Triggers an event when empty rooms remain conditioned past the threshold.</a:t>
            </a:r>
          </a:p>
          <a:p>
            <a:pPr>
              <a:defRPr b="1" sz="1650">
                <a:solidFill>
                  <a:srgbClr val="0F172A"/>
                </a:solidFill>
              </a:defRPr>
            </a:pPr>
            <a:r>
              <a:t>4. Utilization Management</a:t>
            </a:r>
          </a:p>
          <a:p>
            <a:pPr>
              <a:spcAft>
                <a:spcPts val="600"/>
              </a:spcAft>
              <a:defRPr sz="1550">
                <a:solidFill>
                  <a:srgbClr val="334155"/>
                </a:solidFill>
              </a:defRPr>
            </a:pPr>
            <a:r>
              <a:t>Stores event timestamps, event types and power metrics in a CSV file.</a:t>
            </a:r>
          </a:p>
          <a:p>
            <a:pPr>
              <a:defRPr b="1" sz="1650">
                <a:solidFill>
                  <a:srgbClr val="0F172A"/>
                </a:solidFill>
              </a:defRPr>
            </a:pPr>
            <a:r>
              <a:t>5. Web Dashboard</a:t>
            </a:r>
          </a:p>
          <a:p>
            <a:pPr>
              <a:spcAft>
                <a:spcPts val="600"/>
              </a:spcAft>
              <a:defRPr sz="1550">
                <a:solidFill>
                  <a:srgbClr val="334155"/>
                </a:solidFill>
              </a:defRPr>
            </a:pPr>
            <a:r>
              <a:t>Displays allocation totals, event categories and telemetry history, with a CSV download option.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IMPLEMENTATION PROGRESS</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18</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1000"/>
              </a:spcAft>
              <a:defRPr sz="1800">
                <a:solidFill>
                  <a:srgbClr val="1E293B"/>
                </a:solidFill>
              </a:defRPr>
            </a:pPr>
            <a:r>
              <a:t>The initial working prototype has been developed using Python and web technologies.</a:t>
            </a:r>
          </a:p>
          <a:p>
            <a:pPr>
              <a:spcAft>
                <a:spcPts val="600"/>
              </a:spcAft>
              <a:defRPr sz="1700">
                <a:solidFill>
                  <a:srgbClr val="1E293B"/>
                </a:solidFill>
              </a:defRPr>
            </a:pPr>
            <a:r>
              <a:t>1. 3D campus visualization runs using a WebGL Three.js model.</a:t>
            </a:r>
          </a:p>
          <a:p>
            <a:pPr>
              <a:spcAft>
                <a:spcPts val="600"/>
              </a:spcAft>
              <a:defRPr sz="1700">
                <a:solidFill>
                  <a:srgbClr val="1E293B"/>
                </a:solidFill>
              </a:defRPr>
            </a:pPr>
            <a:r>
              <a:t>2. Timetable scheduling allocations are generated and recorded.</a:t>
            </a:r>
          </a:p>
          <a:p>
            <a:pPr>
              <a:spcAft>
                <a:spcPts val="600"/>
              </a:spcAft>
              <a:defRPr sz="1700">
                <a:solidFill>
                  <a:srgbClr val="1E293B"/>
                </a:solidFill>
              </a:defRPr>
            </a:pPr>
            <a:r>
              <a:t>3. Energy alerts are triggered at a configured threshold of fifteen minutes.</a:t>
            </a:r>
          </a:p>
          <a:p>
            <a:pPr>
              <a:spcAft>
                <a:spcPts val="600"/>
              </a:spcAft>
              <a:defRPr sz="1700">
                <a:solidFill>
                  <a:srgbClr val="1E293B"/>
                </a:solidFill>
              </a:defRPr>
            </a:pPr>
            <a:r>
              <a:t>4. Telemetry details are stored in `campus_records.csv`.</a:t>
            </a:r>
          </a:p>
          <a:p>
            <a:pPr>
              <a:spcAft>
                <a:spcPts val="600"/>
              </a:spcAft>
              <a:defRPr sz="1700">
                <a:solidFill>
                  <a:srgbClr val="1E293B"/>
                </a:solidFill>
              </a:defRPr>
            </a:pPr>
            <a:r>
              <a:t>5. A web dashboard displays resource summaries and schedule history.</a:t>
            </a:r>
          </a:p>
          <a:p>
            <a:pPr>
              <a:spcAft>
                <a:spcPts val="600"/>
              </a:spcAft>
              <a:defRPr sz="1700">
                <a:solidFill>
                  <a:srgbClr val="1E293B"/>
                </a:solidFill>
              </a:defRPr>
            </a:pPr>
            <a:r>
              <a:t>6. CSV export functionality has been added.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RESULTS AND TESTING</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19</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1000"/>
              </a:spcAft>
              <a:defRPr sz="1800">
                <a:solidFill>
                  <a:srgbClr val="1E293B"/>
                </a:solidFill>
              </a:defRPr>
            </a:pPr>
            <a:r>
              <a:t>Initial functional tests confirm that the prototype can process campus data and record timetable allocations and energy threshold events.</a:t>
            </a:r>
          </a:p>
          <a:p>
            <a:pPr>
              <a:spcAft>
                <a:spcPts val="600"/>
              </a:spcAft>
              <a:defRPr sz="1700">
                <a:solidFill>
                  <a:srgbClr val="1E293B"/>
                </a:solidFill>
              </a:defRPr>
            </a:pPr>
            <a:r>
              <a:t>1. 3D Visualization: Successfully run using a web browser.</a:t>
            </a:r>
          </a:p>
          <a:p>
            <a:pPr>
              <a:spcAft>
                <a:spcPts val="600"/>
              </a:spcAft>
              <a:defRPr sz="1700">
                <a:solidFill>
                  <a:srgbClr val="1E293B"/>
                </a:solidFill>
              </a:defRPr>
            </a:pPr>
            <a:r>
              <a:t>2. Timetable Optimization: Allocation events recorded with timestamps.</a:t>
            </a:r>
          </a:p>
          <a:p>
            <a:pPr>
              <a:spcAft>
                <a:spcPts val="600"/>
              </a:spcAft>
              <a:defRPr sz="1700">
                <a:solidFill>
                  <a:srgbClr val="1E293B"/>
                </a:solidFill>
              </a:defRPr>
            </a:pPr>
            <a:r>
              <a:t>3. Energy Management: Alerts generated when the configured threshold is reached.</a:t>
            </a:r>
          </a:p>
          <a:p>
            <a:pPr>
              <a:spcAft>
                <a:spcPts val="600"/>
              </a:spcAft>
              <a:defRPr sz="1700">
                <a:solidFill>
                  <a:srgbClr val="1E293B"/>
                </a:solidFill>
              </a:defRPr>
            </a:pPr>
            <a:r>
              <a:t>4. Telemetry Logging: Event information stored in CSV format.</a:t>
            </a:r>
          </a:p>
          <a:p>
            <a:pPr>
              <a:spcAft>
                <a:spcPts val="600"/>
              </a:spcAft>
              <a:defRPr sz="1700">
                <a:solidFill>
                  <a:srgbClr val="1E293B"/>
                </a:solidFill>
              </a:defRPr>
            </a:pPr>
            <a:r>
              <a:t>5. Dashboard: Resource summaries and event history displayed.</a:t>
            </a:r>
          </a:p>
          <a:p>
            <a:pPr>
              <a:spcAft>
                <a:spcPts val="600"/>
              </a:spcAft>
              <a:defRPr sz="1700">
                <a:solidFill>
                  <a:srgbClr val="1E293B"/>
                </a:solidFill>
              </a:defRPr>
            </a:pPr>
            <a:r>
              <a:t>6. CSV Export: Download option added to the dashboard.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Conclusion &amp; Future Directions</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20</a:t>
            </a:r>
          </a:p>
        </p:txBody>
      </p:sp>
      <p:sp>
        <p:nvSpPr>
          <p:cNvPr id="5" name="TextBox 4"/>
          <p:cNvSpPr txBox="1"/>
          <p:nvPr/>
        </p:nvSpPr>
        <p:spPr>
          <a:xfrm>
            <a:off x="731520" y="1371600"/>
            <a:ext cx="10515600" cy="5029200"/>
          </a:xfrm>
          <a:prstGeom prst="rect">
            <a:avLst/>
          </a:prstGeom>
          <a:noFill/>
        </p:spPr>
        <p:txBody>
          <a:bodyPr wrap="square">
            <a:spAutoFit/>
          </a:bodyPr>
          <a:lstStyle/>
          <a:p>
            <a:pPr>
              <a:spcAft>
                <a:spcPts val="400"/>
              </a:spcAft>
              <a:defRPr b="1" sz="1900">
                <a:solidFill>
                  <a:srgbClr val="0F172A"/>
                </a:solidFill>
              </a:defRPr>
            </a:pPr>
            <a:r>
              <a:t>CONCLUSION</a:t>
            </a:r>
          </a:p>
          <a:p>
            <a:pPr>
              <a:spcAft>
                <a:spcPts val="600"/>
              </a:spcAft>
              <a:defRPr sz="1650">
                <a:solidFill>
                  <a:srgbClr val="1E293B"/>
                </a:solidFill>
              </a:defRPr>
            </a:pPr>
            <a:r>
              <a:t>A functional software prototype has been developed to support campus resource management and allocation review. The current version integrates browser-based 3D model visualization, zero-clash timetable solving, energy threshold alerts, utilization logging and a web dashboard.</a:t>
            </a:r>
          </a:p>
          <a:p>
            <a:pPr>
              <a:spcAft>
                <a:spcPts val="1200"/>
              </a:spcAft>
              <a:defRPr sz="1650">
                <a:solidFill>
                  <a:srgbClr val="1E293B"/>
                </a:solidFill>
              </a:defRPr>
            </a:pPr>
            <a:r>
              <a:t>The initial tests demonstrate that these modules can operate together. Further validation is necessary before considering the system ready for deployment in a real campus environment.</a:t>
            </a:r>
          </a:p>
          <a:p>
            <a:pPr>
              <a:spcAft>
                <a:spcPts val="400"/>
              </a:spcAft>
              <a:defRPr b="1" sz="1900">
                <a:solidFill>
                  <a:srgbClr val="0F172A"/>
                </a:solidFill>
              </a:defRPr>
            </a:pPr>
            <a:r>
              <a:t>FUTURE WORK</a:t>
            </a:r>
          </a:p>
          <a:p>
            <a:pPr>
              <a:spcAft>
                <a:spcPts val="300"/>
              </a:spcAft>
              <a:defRPr sz="1550">
                <a:solidFill>
                  <a:srgbClr val="1E293B"/>
                </a:solidFill>
              </a:defRPr>
            </a:pPr>
            <a:r>
              <a:t>1. Improve dashboard visualisations and live meter integration.</a:t>
            </a:r>
          </a:p>
          <a:p>
            <a:pPr>
              <a:spcAft>
                <a:spcPts val="300"/>
              </a:spcAft>
              <a:defRPr sz="1550">
                <a:solidFill>
                  <a:srgbClr val="1E293B"/>
                </a:solidFill>
              </a:defRPr>
            </a:pPr>
            <a:r>
              <a:t>2. Test performance under multi-batch schedules and peak load conditions.</a:t>
            </a:r>
          </a:p>
          <a:p>
            <a:pPr>
              <a:spcAft>
                <a:spcPts val="300"/>
              </a:spcAft>
              <a:defRPr sz="1550">
                <a:solidFill>
                  <a:srgbClr val="1E293B"/>
                </a:solidFill>
              </a:defRPr>
            </a:pPr>
            <a:r>
              <a:t>3. Evaluate demand prediction reliability and false alerts.</a:t>
            </a:r>
          </a:p>
          <a:p>
            <a:pPr>
              <a:spcAft>
                <a:spcPts val="300"/>
              </a:spcAft>
              <a:defRPr sz="1550">
                <a:solidFill>
                  <a:srgbClr val="1E293B"/>
                </a:solidFill>
              </a:defRPr>
            </a:pPr>
            <a:r>
              <a:t>4. Extend the system with additional approved facility modules.</a:t>
            </a:r>
          </a:p>
          <a:p>
            <a:pPr>
              <a:spcAft>
                <a:spcPts val="300"/>
              </a:spcAft>
              <a:defRPr sz="1550">
                <a:solidFill>
                  <a:srgbClr val="1E293B"/>
                </a:solidFill>
              </a:defRPr>
            </a:pPr>
            <a:r>
              <a:t>5. Complete documentation, testing and final evaluation.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References</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21</a:t>
            </a:r>
          </a:p>
        </p:txBody>
      </p:sp>
      <p:sp>
        <p:nvSpPr>
          <p:cNvPr id="5" name="TextBox 4"/>
          <p:cNvSpPr txBox="1"/>
          <p:nvPr/>
        </p:nvSpPr>
        <p:spPr>
          <a:xfrm>
            <a:off x="731520" y="1463040"/>
            <a:ext cx="10515600" cy="4937760"/>
          </a:xfrm>
          <a:prstGeom prst="rect">
            <a:avLst/>
          </a:prstGeom>
          <a:noFill/>
        </p:spPr>
        <p:txBody>
          <a:bodyPr wrap="square">
            <a:spAutoFit/>
          </a:bodyPr>
          <a:lstStyle/>
          <a:p>
            <a:pPr>
              <a:spcAft>
                <a:spcPts val="1000"/>
              </a:spcAft>
              <a:defRPr sz="1550">
                <a:solidFill>
                  <a:srgbClr val="1E293B"/>
                </a:solidFill>
              </a:defRPr>
            </a:pPr>
            <a:r>
              <a:t>• Roda-Sanchez, L., Cirillo, F., et al. (2024). Real-world smart campus digital twin using open-source IoT middleware (FIWARE, NGSI-LD). Computer Networks.</a:t>
            </a:r>
          </a:p>
          <a:p>
            <a:pPr>
              <a:spcAft>
                <a:spcPts val="1000"/>
              </a:spcAft>
              <a:defRPr sz="1550">
                <a:solidFill>
                  <a:srgbClr val="1E293B"/>
                </a:solidFill>
              </a:defRPr>
            </a:pPr>
            <a:r>
              <a:t>• Pexyean, T., Saraubon, K., et al. (2024). AI-driven IoT simulation model for campus energy management and load shifting using LSTM networks. IEEE Access.</a:t>
            </a:r>
          </a:p>
          <a:p>
            <a:pPr>
              <a:spcAft>
                <a:spcPts val="1000"/>
              </a:spcAft>
              <a:defRPr sz="1550">
                <a:solidFill>
                  <a:srgbClr val="1E293B"/>
                </a:solidFill>
              </a:defRPr>
            </a:pPr>
            <a:r>
              <a:t>• SIT Research Team. (2024). Cognitive digital twin for university campus microgrid optimization and BESS dispatch. Applied Energy.</a:t>
            </a:r>
          </a:p>
          <a:p>
            <a:pPr>
              <a:spcAft>
                <a:spcPts val="1000"/>
              </a:spcAft>
              <a:defRPr sz="1550">
                <a:solidFill>
                  <a:srgbClr val="1E293B"/>
                </a:solidFill>
              </a:defRPr>
            </a:pPr>
            <a:r>
              <a:t>• Chen, Y., Martinez, R., et al. (2024). Dynamic digital twin for university space utilization using BIM and IFC spatial data. Automation in Construction.</a:t>
            </a:r>
          </a:p>
          <a:p>
            <a:pPr>
              <a:spcAft>
                <a:spcPts val="1000"/>
              </a:spcAft>
              <a:defRPr sz="1550">
                <a:solidFill>
                  <a:srgbClr val="1E293B"/>
                </a:solidFill>
              </a:defRPr>
            </a:pPr>
            <a:r>
              <a:t>• Testasecca, T., Stamatopoulos, S., et al. (2024). Building Energy Modeling (BEM) digital twins for educational-facility thermal comfort. Energy and Buildings.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png"/>
          <p:cNvPicPr>
            <a:picLocks noChangeAspect="1"/>
          </p:cNvPicPr>
          <p:nvPr/>
        </p:nvPicPr>
        <p:blipFill>
          <a:blip r:embed="rId2"/>
          <a:stretch>
            <a:fillRect/>
          </a:stretch>
        </p:blipFill>
        <p:spPr>
          <a:xfrm>
            <a:off x="8412480" y="274320"/>
            <a:ext cx="3474720" cy="702337"/>
          </a:xfrm>
          <a:prstGeom prst="rect">
            <a:avLst/>
          </a:prstGeom>
        </p:spPr>
      </p:pic>
      <p:sp>
        <p:nvSpPr>
          <p:cNvPr id="3" name="TextBox 2"/>
          <p:cNvSpPr txBox="1"/>
          <p:nvPr/>
        </p:nvSpPr>
        <p:spPr>
          <a:xfrm>
            <a:off x="731520" y="365760"/>
            <a:ext cx="7315200" cy="914400"/>
          </a:xfrm>
          <a:prstGeom prst="rect">
            <a:avLst/>
          </a:prstGeom>
          <a:noFill/>
        </p:spPr>
        <p:txBody>
          <a:bodyPr wrap="square">
            <a:spAutoFit/>
          </a:bodyPr>
          <a:lstStyle/>
          <a:p>
            <a:pPr>
              <a:defRPr sz="2800" b="1">
                <a:solidFill>
                  <a:srgbClr val="0F172A"/>
                </a:solidFill>
                <a:latin typeface="Arial"/>
              </a:defRPr>
            </a:pPr>
            <a:r>
              <a:t>References</a:t>
            </a:r>
          </a:p>
        </p:txBody>
      </p:sp>
      <p:sp>
        <p:nvSpPr>
          <p:cNvPr id="4" name="TextBox 3"/>
          <p:cNvSpPr txBox="1"/>
          <p:nvPr/>
        </p:nvSpPr>
        <p:spPr>
          <a:xfrm>
            <a:off x="11155680" y="6217920"/>
            <a:ext cx="731520" cy="365760"/>
          </a:xfrm>
          <a:prstGeom prst="rect">
            <a:avLst/>
          </a:prstGeom>
          <a:noFill/>
        </p:spPr>
        <p:txBody>
          <a:bodyPr wrap="none">
            <a:spAutoFit/>
          </a:bodyPr>
          <a:lstStyle/>
          <a:p>
            <a:pPr algn="r">
              <a:defRPr sz="1200">
                <a:solidFill>
                  <a:srgbClr val="64748B"/>
                </a:solidFill>
              </a:defRPr>
            </a:pPr>
            <a:r>
              <a:t>22</a:t>
            </a:r>
          </a:p>
        </p:txBody>
      </p:sp>
      <p:sp>
        <p:nvSpPr>
          <p:cNvPr id="5" name="TextBox 4"/>
          <p:cNvSpPr txBox="1"/>
          <p:nvPr/>
        </p:nvSpPr>
        <p:spPr>
          <a:xfrm>
            <a:off x="731520" y="1463040"/>
            <a:ext cx="10515600" cy="4937760"/>
          </a:xfrm>
          <a:prstGeom prst="rect">
            <a:avLst/>
          </a:prstGeom>
          <a:noFill/>
        </p:spPr>
        <p:txBody>
          <a:bodyPr wrap="square">
            <a:spAutoFit/>
          </a:bodyPr>
          <a:lstStyle/>
          <a:p>
            <a:pPr>
              <a:spcAft>
                <a:spcPts val="1000"/>
              </a:spcAft>
              <a:defRPr sz="1550">
                <a:solidFill>
                  <a:srgbClr val="1E293B"/>
                </a:solidFill>
              </a:defRPr>
            </a:pPr>
            <a:r>
              <a:t>• Saraubon, K., Pexyean, T., et al. (2024). AIoT campus network architecture for digital-twin energy management and automated alerts. Sensors.</a:t>
            </a:r>
          </a:p>
          <a:p>
            <a:pPr>
              <a:spcAft>
                <a:spcPts val="1000"/>
              </a:spcAft>
              <a:defRPr sz="1550">
                <a:solidFill>
                  <a:srgbClr val="1E293B"/>
                </a:solidFill>
              </a:defRPr>
            </a:pPr>
            <a:r>
              <a:t>• TalTech Energy Group (Campulse). (2024). Live campus microgrid digital twin for real-time peak shaving and energy flexibility. Sustainable Cities and Society.</a:t>
            </a:r>
          </a:p>
          <a:p>
            <a:pPr>
              <a:spcAft>
                <a:spcPts val="1000"/>
              </a:spcAft>
              <a:defRPr sz="1550">
                <a:solidFill>
                  <a:srgbClr val="1E293B"/>
                </a:solidFill>
              </a:defRPr>
            </a:pPr>
            <a:r>
              <a:t>• Scilit / IEEE CSIT Team. (2024). Enterprise architecture for smart university campus management platforms using digital twins. IEEE Transactions on Smart Systems.</a:t>
            </a:r>
          </a:p>
          <a:p>
            <a:pPr>
              <a:spcAft>
                <a:spcPts val="1000"/>
              </a:spcAft>
              <a:defRPr sz="1550">
                <a:solidFill>
                  <a:srgbClr val="1E293B"/>
                </a:solidFill>
              </a:defRPr>
            </a:pPr>
            <a:r>
              <a:t>• Taylor &amp; Francis / Spatial Science. (2024). Multimodal 3D data-visualization methods for digital-twin campus construction and asset monitoring. International Journal of Digital Earth.</a:t>
            </a:r>
          </a:p>
          <a:p>
            <a:pPr>
              <a:spcAft>
                <a:spcPts val="1000"/>
              </a:spcAft>
              <a:defRPr sz="1550">
                <a:solidFill>
                  <a:srgbClr val="1E293B"/>
                </a:solidFill>
              </a:defRPr>
            </a:pPr>
            <a:r>
              <a:t>• Frontiers / IEEE PES Review. (2025–2026). Systematic review of digital twin architectures for smart-campus governance, clean energy and sustainability. Frontiers in Clean Energy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